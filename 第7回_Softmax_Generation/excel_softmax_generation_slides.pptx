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640080" y="868680"/>
            <a:ext cx="69494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24324B"/>
                </a:solidFill>
                <a:latin typeface="Yu Gothic"/>
              </a:rPr>
              <a:t>Excelで体験する 言語モデルのしくみ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65836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>
                <a:solidFill>
                  <a:srgbClr val="2F6690"/>
                </a:solidFill>
                <a:latin typeface="Yu Gothic"/>
              </a:rPr>
              <a:t>第7回 Softmaxと生成のばらつき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5806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475569"/>
                </a:solidFill>
                <a:latin typeface="Yu Gothic"/>
              </a:rPr>
              <a:t>次tokenの候補を確率に変え、選び方で生成が変わることをExcelで確認します。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182112"/>
            <a:ext cx="4937760" cy="1097280"/>
          </a:xfrm>
          <a:prstGeom prst="roundRect">
            <a:avLst/>
          </a:prstGeom>
          <a:solidFill>
            <a:srgbClr val="EEF8F1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今回の狙い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Yu Gothic"/>
              </a:rPr>
              <a:t>Softmax、temperature、greedy、sampling、top-kを、同じ候補表で見比べます。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423160"/>
            <a:ext cx="1417320" cy="713232"/>
          </a:xfrm>
          <a:prstGeom prst="roundRect">
            <a:avLst/>
          </a:prstGeom>
          <a:solidFill>
            <a:srgbClr val="EAF4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logits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423160"/>
            <a:ext cx="1417320" cy="713232"/>
          </a:xfrm>
          <a:prstGeom prst="roundRect">
            <a:avLst/>
          </a:prstGeom>
          <a:solidFill>
            <a:srgbClr val="EAF4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Softmax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29800" y="2423160"/>
            <a:ext cx="1417320" cy="713232"/>
          </a:xfrm>
          <a:prstGeom prst="roundRect">
            <a:avLst/>
          </a:prstGeom>
          <a:solidFill>
            <a:srgbClr val="EAF4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sample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3749039"/>
            <a:ext cx="3520440" cy="804672"/>
          </a:xfrm>
          <a:prstGeom prst="roundRect">
            <a:avLst/>
          </a:prstGeom>
          <a:solidFill>
            <a:srgbClr val="EEF8F1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next token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Yu Gothic"/>
              </a:rPr>
              <a:t>確率表から選ばれた次のtoken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TITLE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第7回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>
                <a:solidFill>
                  <a:srgbClr val="24324B"/>
                </a:solidFill>
                <a:latin typeface="Yu Gothic"/>
              </a:rPr>
              <a:t>全10回の中の位置づけ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第7回は、Transformer Blockの出力を次tokenの確率へ接続する回です。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0749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200" b="1">
                <a:solidFill>
                  <a:srgbClr val="2F6690"/>
                </a:solidFill>
                <a:latin typeface="Yu Gothic"/>
              </a:rPr>
              <a:t>第1回 n-gram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83080"/>
            <a:ext cx="50749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200" b="1">
                <a:solidFill>
                  <a:srgbClr val="2F6690"/>
                </a:solidFill>
                <a:latin typeface="Yu Gothic"/>
              </a:rPr>
              <a:t>第2回 Self-Attention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496312"/>
            <a:ext cx="50749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200" b="1">
                <a:solidFill>
                  <a:srgbClr val="2F6690"/>
                </a:solidFill>
                <a:latin typeface="Yu Gothic"/>
              </a:rPr>
              <a:t>第3回 Embedding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496312"/>
            <a:ext cx="50749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200" b="1">
                <a:solidFill>
                  <a:srgbClr val="2F6690"/>
                </a:solidFill>
                <a:latin typeface="Yu Gothic"/>
              </a:rPr>
              <a:t>第4回 Positional Encoding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209544"/>
            <a:ext cx="50749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200" b="1">
                <a:solidFill>
                  <a:srgbClr val="2F6690"/>
                </a:solidFill>
                <a:latin typeface="Yu Gothic"/>
              </a:rPr>
              <a:t>第5回 Multi-Head Attention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209544"/>
            <a:ext cx="50749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200" b="1">
                <a:solidFill>
                  <a:srgbClr val="2F6690"/>
                </a:solidFill>
                <a:latin typeface="Yu Gothic"/>
              </a:rPr>
              <a:t>第6回 Transformer Block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922776"/>
            <a:ext cx="5074920" cy="512064"/>
          </a:xfrm>
          <a:prstGeom prst="roundRect">
            <a:avLst/>
          </a:prstGeom>
          <a:solidFill>
            <a:srgbClr val="EEF8F1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200" b="1">
                <a:solidFill>
                  <a:srgbClr val="276749"/>
                </a:solidFill>
                <a:latin typeface="Yu Gothic"/>
              </a:rPr>
              <a:t>第7回 Softmaxと生成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475569"/>
                </a:solidFill>
                <a:latin typeface="Yu Gothic"/>
              </a:rPr>
              <a:t>現在回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22776"/>
            <a:ext cx="50749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200" b="1">
                <a:solidFill>
                  <a:srgbClr val="2F6690"/>
                </a:solidFill>
                <a:latin typeface="Yu Gothic"/>
              </a:rPr>
              <a:t>第8回 Lossと学習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636008"/>
            <a:ext cx="50749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200" b="1">
                <a:solidFill>
                  <a:srgbClr val="2F6690"/>
                </a:solidFill>
                <a:latin typeface="Yu Gothic"/>
              </a:rPr>
              <a:t>第9回 Backpropagation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636008"/>
            <a:ext cx="50749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200" b="1">
                <a:solidFill>
                  <a:srgbClr val="2F6690"/>
                </a:solidFill>
                <a:latin typeface="Yu Gothic"/>
              </a:rPr>
              <a:t>第10回 RAG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696712"/>
            <a:ext cx="9875520" cy="320040"/>
          </a:xfrm>
          <a:prstGeom prst="roundRect">
            <a:avLst/>
          </a:prstGeom>
          <a:solidFill>
            <a:srgbClr val="EEF8F1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000" b="1">
                <a:solidFill>
                  <a:srgbClr val="276749"/>
                </a:solidFill>
                <a:latin typeface="Yu Gothic"/>
              </a:rPr>
              <a:t>第7回の到達点</a:t>
            </a:r>
          </a:p>
          <a:p>
            <a:pPr>
              <a:spcBef>
                <a:spcPts val="300"/>
              </a:spcBef>
            </a:pPr>
            <a:r>
              <a:rPr sz="800">
                <a:solidFill>
                  <a:srgbClr val="475569"/>
                </a:solidFill>
                <a:latin typeface="Yu Gothic"/>
              </a:rPr>
              <a:t>確率から次tokenを選ぶ流れと、生成がばらつく理由を読む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92608"/>
            <a:ext cx="178308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SERIES ROADMAP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第7回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>
                <a:solidFill>
                  <a:srgbClr val="24324B"/>
                </a:solidFill>
                <a:latin typeface="Yu Gothic"/>
              </a:rPr>
              <a:t>今日の到達点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Softmax、temperature、greedy、sampling、top-kの違いを表で説明できる。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48006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Softmax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Yu Gothic"/>
              </a:rPr>
              <a:t>logitを合計1の確率へ変える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828800"/>
            <a:ext cx="48006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temperature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Yu Gothic"/>
              </a:rPr>
              <a:t>確率の尖り方を調整する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063240"/>
            <a:ext cx="48006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selection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Yu Gothic"/>
              </a:rPr>
              <a:t>greedyとsamplingを見分ける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3063240"/>
            <a:ext cx="48006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variation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Yu Gothic"/>
              </a:rPr>
              <a:t>seed違いで結果が変わる理由を読む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800600"/>
            <a:ext cx="10241280" cy="685800"/>
          </a:xfrm>
          <a:prstGeom prst="roundRect">
            <a:avLst/>
          </a:prstGeom>
          <a:solidFill>
            <a:srgbClr val="EEF8F1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最後に説明できること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Yu Gothic"/>
              </a:rPr>
              <a:t>確率表が同じでも、選択ルールが変わると生成結果が変わる。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GOAL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第7回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>
                <a:solidFill>
                  <a:srgbClr val="24324B"/>
                </a:solidFill>
                <a:latin typeface="Yu Gothic"/>
              </a:rPr>
              <a:t>Softmaxはスコアを確率に変える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logitの大小関係を保ちながら、合計1の確率表に変換します。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48840"/>
            <a:ext cx="169164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200" b="1">
                <a:solidFill>
                  <a:srgbClr val="2F6690"/>
                </a:solidFill>
                <a:latin typeface="Yu Gothic"/>
              </a:rPr>
              <a:t>logit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475569"/>
                </a:solidFill>
                <a:latin typeface="Yu Gothic"/>
              </a:rPr>
              <a:t>元スコア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2148840"/>
            <a:ext cx="169164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200" b="1">
                <a:solidFill>
                  <a:srgbClr val="2F6690"/>
                </a:solidFill>
                <a:latin typeface="Yu Gothic"/>
              </a:rPr>
              <a:t>exp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475569"/>
                </a:solidFill>
                <a:latin typeface="Yu Gothic"/>
              </a:rPr>
              <a:t>正の値へ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2148840"/>
            <a:ext cx="169164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200" b="1">
                <a:solidFill>
                  <a:srgbClr val="2F6690"/>
                </a:solidFill>
                <a:latin typeface="Yu Gothic"/>
              </a:rPr>
              <a:t>sum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475569"/>
                </a:solidFill>
                <a:latin typeface="Yu Gothic"/>
              </a:rPr>
              <a:t>合計を作る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2148840"/>
            <a:ext cx="169164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200" b="1">
                <a:solidFill>
                  <a:srgbClr val="2F6690"/>
                </a:solidFill>
                <a:latin typeface="Yu Gothic"/>
              </a:rPr>
              <a:t>divide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475569"/>
                </a:solidFill>
                <a:latin typeface="Yu Gothic"/>
              </a:rPr>
              <a:t>割合にする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55480" y="2148840"/>
            <a:ext cx="1691640" cy="868680"/>
          </a:xfrm>
          <a:prstGeom prst="roundRect">
            <a:avLst/>
          </a:prstGeom>
          <a:solidFill>
            <a:srgbClr val="EEF8F1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200" b="1">
                <a:solidFill>
                  <a:srgbClr val="276749"/>
                </a:solidFill>
                <a:latin typeface="Yu Gothic"/>
              </a:rPr>
              <a:t>probability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475569"/>
                </a:solidFill>
                <a:latin typeface="Yu Gothic"/>
              </a:rPr>
              <a:t>確率表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14400" y="3886200"/>
          <a:ext cx="996696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7040880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見る列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意味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logit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モデルが候補tokenに付けたスコア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probability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Softmax後の選ばれやすさ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CONCEPT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第7回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>
                <a:solidFill>
                  <a:srgbClr val="24324B"/>
                </a:solidFill>
                <a:latin typeface="Yu Gothic"/>
              </a:rPr>
              <a:t>Excelで作ったもの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小さな語彙6件で、logits、確率、選択結果を見ます。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46634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01_INPUT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Yu Gothic"/>
              </a:rPr>
              <a:t>候補token、logit、生成設定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874519"/>
            <a:ext cx="46634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02_LOGITS_SOFTMAX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Yu Gothic"/>
              </a:rPr>
              <a:t>temperature=1.0の確率表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172968"/>
            <a:ext cx="46634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03_TEMPERATURE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Yu Gothic"/>
              </a:rPr>
              <a:t>温度別の確率比較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3172968"/>
            <a:ext cx="46634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04/05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Yu Gothic"/>
              </a:rPr>
              <a:t>選択方式とsampling結果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754880"/>
            <a:ext cx="9966960" cy="804672"/>
          </a:xfrm>
          <a:prstGeom prst="roundRect">
            <a:avLst/>
          </a:prstGeom>
          <a:solidFill>
            <a:srgbClr val="FFF4CC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8A5A2B"/>
                </a:solidFill>
                <a:latin typeface="Yu Gothic"/>
              </a:rPr>
              <a:t>教材の範囲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Yu Gothic"/>
              </a:rPr>
              <a:t>巨大語彙や実モデルのlogit生成ではなく、確率化と選択の読み方に絞ります。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DEMO ASSET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第7回 | 5</a:t>
            </a:r>
          </a:p>
        </p:txBody>
      </p:sp>
      <p:sp>
        <p:nvSpPr>
          <p:cNvPr id="13" name="github_demo_asset_url"/>
          <p:cNvSpPr txBox="1"/>
          <p:nvPr/>
        </p:nvSpPr>
        <p:spPr>
          <a:xfrm>
            <a:off x="658368" y="5998464"/>
            <a:ext cx="10652760" cy="310896"/>
          </a:xfrm>
          <a:prstGeom prst="rect">
            <a:avLst/>
          </a:prstGeom>
          <a:noFill/>
        </p:spPr>
        <p:txBody>
          <a:bodyPr wrap="none" lIns="45720" rIns="45720" tIns="9144" bIns="9144">
            <a:spAutoFit/>
          </a:bodyPr>
          <a:lstStyle/>
          <a:p>
            <a:pPr algn="l"/>
            <a:r>
              <a:rPr sz="900">
                <a:solidFill>
                  <a:srgbClr val="4E5E6E"/>
                </a:solidFill>
                <a:latin typeface="Yu Gothic"/>
              </a:rPr>
              <a:t>デモ一式: https://github.com/KanameShiga-dev/excel-python-mini-llm-demo/tree/main/第7回_Softmax_Generation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>
                <a:solidFill>
                  <a:srgbClr val="24324B"/>
                </a:solidFill>
                <a:latin typeface="Yu Gothic"/>
              </a:rPr>
              <a:t>入力・設定シート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候補token、logit、temperature、top_k、seedを確認します。</a:t>
            </a:r>
          </a:p>
        </p:txBody>
      </p:sp>
      <p:pic>
        <p:nvPicPr>
          <p:cNvPr id="6" name="Picture 5" descr="01_INPUT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19072"/>
            <a:ext cx="6903720" cy="320529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01000" y="1828800"/>
            <a:ext cx="32918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見る表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Yu Gothic"/>
              </a:rPr>
              <a:t>候補token / logit / 生成設定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3035808"/>
            <a:ext cx="32918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変えるもの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Yu Gothic"/>
              </a:rPr>
              <a:t>temperature / top_k / seed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4242816"/>
            <a:ext cx="3291840" cy="960120"/>
          </a:xfrm>
          <a:prstGeom prst="roundRect">
            <a:avLst/>
          </a:prstGeom>
          <a:solidFill>
            <a:srgbClr val="EEF8F1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見える変化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Yu Gothic"/>
              </a:rPr>
              <a:t>確率の尖り方と選ばれるtoken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INPUT SHEET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第7回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>
                <a:solidFill>
                  <a:srgbClr val="24324B"/>
                </a:solidFill>
                <a:latin typeface="Yu Gothic"/>
              </a:rPr>
              <a:t>Excelで変更・確認する場所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入力、確率表、temperature比較、sampling結果を分けて見ます。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737360"/>
          <a:ext cx="1088136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114800"/>
                <a:gridCol w="429768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Yu Gothic"/>
                        </a:rPr>
                        <a:t>場所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Yu Gothic"/>
                        </a:rPr>
                        <a:t>変更・確認するもの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Yu Gothic"/>
                        </a:rPr>
                        <a:t>見える変化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475569"/>
                          </a:solidFill>
                          <a:latin typeface="Yu Gothic"/>
                        </a:rPr>
                        <a:t>01_INPUT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475569"/>
                          </a:solidFill>
                          <a:latin typeface="Yu Gothic"/>
                        </a:rPr>
                        <a:t>候補token、logit、設定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475569"/>
                          </a:solidFill>
                          <a:latin typeface="Yu Gothic"/>
                        </a:rPr>
                        <a:t>計算入口を確認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475569"/>
                          </a:solidFill>
                          <a:latin typeface="Yu Gothic"/>
                        </a:rPr>
                        <a:t>02_LOGITS_SOFTMAX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475569"/>
                          </a:solidFill>
                          <a:latin typeface="Yu Gothic"/>
                        </a:rPr>
                        <a:t>probability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475569"/>
                          </a:solidFill>
                          <a:latin typeface="Yu Gothic"/>
                        </a:rPr>
                        <a:t>確率表を見る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475569"/>
                          </a:solidFill>
                          <a:latin typeface="Yu Gothic"/>
                        </a:rPr>
                        <a:t>03_TEMPERATURE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475569"/>
                          </a:solidFill>
                          <a:latin typeface="Yu Gothic"/>
                        </a:rPr>
                        <a:t>temperature別の確率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475569"/>
                          </a:solidFill>
                          <a:latin typeface="Yu Gothic"/>
                        </a:rPr>
                        <a:t>尖り方の変化を見る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475569"/>
                          </a:solidFill>
                          <a:latin typeface="Yu Gothic"/>
                        </a:rPr>
                        <a:t>04_SELECTION_METHODS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475569"/>
                          </a:solidFill>
                          <a:latin typeface="Yu Gothic"/>
                        </a:rPr>
                        <a:t>greedy / top-k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475569"/>
                          </a:solidFill>
                          <a:latin typeface="Yu Gothic"/>
                        </a:rPr>
                        <a:t>選択ルールの違いを見る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475569"/>
                          </a:solidFill>
                          <a:latin typeface="Yu Gothic"/>
                        </a:rPr>
                        <a:t>05_SAMPLING_RUNS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475569"/>
                          </a:solidFill>
                          <a:latin typeface="Yu Gothic"/>
                        </a:rPr>
                        <a:t>seedとsampled_token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475569"/>
                          </a:solidFill>
                          <a:latin typeface="Yu Gothic"/>
                        </a:rPr>
                        <a:t>ばらつきを見る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475569"/>
                          </a:solidFill>
                          <a:latin typeface="Yu Gothic"/>
                        </a:rPr>
                        <a:t>コード末尾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475569"/>
                          </a:solidFill>
                          <a:latin typeface="Yu Gothic"/>
                        </a:rPr>
                        <a:t>result_df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475569"/>
                          </a:solidFill>
                          <a:latin typeface="Yu Gothic"/>
                        </a:rPr>
                        <a:t>返す表を切り替える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EXCEL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第7回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>
                <a:solidFill>
                  <a:srgbClr val="24324B"/>
                </a:solidFill>
                <a:latin typeface="Yu Gothic"/>
              </a:rPr>
              <a:t>生成は 確率化 と 選択 に分けて読む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logits -&gt; Softmax -&gt; selection -&gt; next token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377440"/>
            <a:ext cx="1600200" cy="777240"/>
          </a:xfrm>
          <a:prstGeom prst="roundRect">
            <a:avLst/>
          </a:prstGeom>
          <a:solidFill>
            <a:srgbClr val="EAF4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logits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2377440"/>
            <a:ext cx="1600200" cy="777240"/>
          </a:xfrm>
          <a:prstGeom prst="roundRect">
            <a:avLst/>
          </a:prstGeom>
          <a:solidFill>
            <a:srgbClr val="EAF4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Softmax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83480" y="2377440"/>
            <a:ext cx="1600200" cy="777240"/>
          </a:xfrm>
          <a:prstGeom prst="roundRect">
            <a:avLst/>
          </a:prstGeom>
          <a:solidFill>
            <a:srgbClr val="EAF4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probability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2377440"/>
            <a:ext cx="1600200" cy="777240"/>
          </a:xfrm>
          <a:prstGeom prst="roundRect">
            <a:avLst/>
          </a:prstGeom>
          <a:solidFill>
            <a:srgbClr val="EAF4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selection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81160" y="2377440"/>
            <a:ext cx="1600200" cy="777240"/>
          </a:xfrm>
          <a:prstGeom prst="roundRect">
            <a:avLst/>
          </a:prstGeom>
          <a:solidFill>
            <a:srgbClr val="EEF8F1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next token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160520"/>
            <a:ext cx="9966960" cy="777240"/>
          </a:xfrm>
          <a:prstGeom prst="roundRect">
            <a:avLst/>
          </a:prstGeom>
          <a:solidFill>
            <a:srgbClr val="EEF8F1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読み方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Yu Gothic"/>
              </a:rPr>
              <a:t>Softmaxは確率表を作る段階、selectionは確率表から1つを選ぶ段階です。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第7回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>
                <a:solidFill>
                  <a:srgbClr val="24324B"/>
                </a:solidFill>
                <a:latin typeface="Yu Gothic"/>
              </a:rPr>
              <a:t>logitは確率そのものではない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Softmax後のprobability列を見て、合計1の候補表として読む。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828800"/>
          <a:ext cx="99669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011680"/>
                <a:gridCol w="493776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candidate_token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logit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probabilityの読み方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です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2.2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最も高い候補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ました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1.5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2番目に高い候補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ね / よ など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0.9以下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確率はあるが低め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14400" y="4617720"/>
            <a:ext cx="9966960" cy="685800"/>
          </a:xfrm>
          <a:prstGeom prst="roundRect">
            <a:avLst/>
          </a:prstGeom>
          <a:solidFill>
            <a:srgbClr val="FFF4CC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8A5A2B"/>
                </a:solidFill>
                <a:latin typeface="Yu Gothic"/>
              </a:rPr>
              <a:t>注意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Yu Gothic"/>
              </a:rPr>
              <a:t>logitは負でもよく、Softmax後のprobabilityで候補の選ばれやすさを読みます。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第7回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>
                <a:solidFill>
                  <a:srgbClr val="24324B"/>
                </a:solidFill>
                <a:latin typeface="Yu Gothic"/>
              </a:rPr>
              <a:t>Python in Excel 実行手順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貼り付けてCtrl + Enter。result_dfで返す表を切り替えます。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4800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250" b="1">
                <a:solidFill>
                  <a:srgbClr val="2F6690"/>
                </a:solidFill>
                <a:latin typeface="Yu Gothic"/>
              </a:rPr>
              <a:t>1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Yu Gothic"/>
              </a:rPr>
              <a:t>10_RUN_PYTHONを開く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783080"/>
            <a:ext cx="4800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250" b="1">
                <a:solidFill>
                  <a:srgbClr val="2F6690"/>
                </a:solidFill>
                <a:latin typeface="Yu Gothic"/>
              </a:rPr>
              <a:t>2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Yu Gothic"/>
              </a:rPr>
              <a:t>Pythonセルを作る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743200"/>
            <a:ext cx="4800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250" b="1">
                <a:solidFill>
                  <a:srgbClr val="2F6690"/>
                </a:solidFill>
                <a:latin typeface="Yu Gothic"/>
              </a:rPr>
              <a:t>3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Yu Gothic"/>
              </a:rPr>
              <a:t>excel_softmax_generation_demo_code.pyを貼る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2743200"/>
            <a:ext cx="4800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250" b="1">
                <a:solidFill>
                  <a:srgbClr val="2F6690"/>
                </a:solidFill>
                <a:latin typeface="Yu Gothic"/>
              </a:rPr>
              <a:t>4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Yu Gothic"/>
              </a:rPr>
              <a:t>Ctrl + Enterで実行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703320"/>
            <a:ext cx="4800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250" b="1">
                <a:solidFill>
                  <a:srgbClr val="2F6690"/>
                </a:solidFill>
                <a:latin typeface="Yu Gothic"/>
              </a:rPr>
              <a:t>5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Yu Gothic"/>
              </a:rPr>
              <a:t>result_dfを切り替える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3703320"/>
            <a:ext cx="4800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250" b="1">
                <a:solidFill>
                  <a:srgbClr val="2F6690"/>
                </a:solidFill>
                <a:latin typeface="Yu Gothic"/>
              </a:rPr>
              <a:t>6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Yu Gothic"/>
              </a:rPr>
              <a:t>確率表とsampling結果を確認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RUNBOOK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第7回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>
                <a:solidFill>
                  <a:srgbClr val="24324B"/>
                </a:solidFill>
                <a:latin typeface="Yu Gothic"/>
              </a:rPr>
              <a:t>返す表・列・変数の見方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score_df / temperature_df / top_k_df / sample_df / summary_df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83080"/>
          <a:ext cx="1060704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023360"/>
                <a:gridCol w="3657600"/>
              </a:tblGrid>
              <a:tr h="563880"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FFFFFF"/>
                          </a:solidFill>
                          <a:latin typeface="Yu Gothic"/>
                        </a:rPr>
                        <a:t>返す表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FFFFFF"/>
                          </a:solidFill>
                          <a:latin typeface="Yu Gothic"/>
                        </a:rPr>
                        <a:t>主な中身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FFFFFF"/>
                          </a:solidFill>
                          <a:latin typeface="Yu Gothic"/>
                        </a:rPr>
                        <a:t>使いどころ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563880">
                <a:tc>
                  <a:txBody>
                    <a:bodyPr wrap="square"/>
                    <a:lstStyle/>
                    <a:p>
                      <a:pPr algn="ctr"/>
                      <a:r>
                        <a:rPr sz="980">
                          <a:solidFill>
                            <a:srgbClr val="475569"/>
                          </a:solidFill>
                          <a:latin typeface="Yu Gothic"/>
                        </a:rPr>
                        <a:t>score_df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>
                          <a:solidFill>
                            <a:srgbClr val="475569"/>
                          </a:solidFill>
                          <a:latin typeface="Yu Gothic"/>
                        </a:rPr>
                        <a:t>temperature=1.0の確率表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>
                          <a:solidFill>
                            <a:srgbClr val="475569"/>
                          </a:solidFill>
                          <a:latin typeface="Yu Gothic"/>
                        </a:rPr>
                        <a:t>基本のSoftmax結果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 wrap="square"/>
                    <a:lstStyle/>
                    <a:p>
                      <a:pPr algn="ctr"/>
                      <a:r>
                        <a:rPr sz="980">
                          <a:solidFill>
                            <a:srgbClr val="475569"/>
                          </a:solidFill>
                          <a:latin typeface="Yu Gothic"/>
                        </a:rPr>
                        <a:t>temperature_df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>
                          <a:solidFill>
                            <a:srgbClr val="475569"/>
                          </a:solidFill>
                          <a:latin typeface="Yu Gothic"/>
                        </a:rPr>
                        <a:t>temperature別の確率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>
                          <a:solidFill>
                            <a:srgbClr val="475569"/>
                          </a:solidFill>
                          <a:latin typeface="Yu Gothic"/>
                        </a:rPr>
                        <a:t>尖り方の比較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 wrap="square"/>
                    <a:lstStyle/>
                    <a:p>
                      <a:pPr algn="ctr"/>
                      <a:r>
                        <a:rPr sz="980">
                          <a:solidFill>
                            <a:srgbClr val="475569"/>
                          </a:solidFill>
                          <a:latin typeface="Yu Gothic"/>
                        </a:rPr>
                        <a:t>top_k_df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>
                          <a:solidFill>
                            <a:srgbClr val="475569"/>
                          </a:solidFill>
                          <a:latin typeface="Yu Gothic"/>
                        </a:rPr>
                        <a:t>上位候補だけ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>
                          <a:solidFill>
                            <a:srgbClr val="475569"/>
                          </a:solidFill>
                          <a:latin typeface="Yu Gothic"/>
                        </a:rPr>
                        <a:t>候補制限の確認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 wrap="square"/>
                    <a:lstStyle/>
                    <a:p>
                      <a:pPr algn="ctr"/>
                      <a:r>
                        <a:rPr sz="980">
                          <a:solidFill>
                            <a:srgbClr val="475569"/>
                          </a:solidFill>
                          <a:latin typeface="Yu Gothic"/>
                        </a:rPr>
                        <a:t>sample_df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>
                          <a:solidFill>
                            <a:srgbClr val="475569"/>
                          </a:solidFill>
                          <a:latin typeface="Yu Gothic"/>
                        </a:rPr>
                        <a:t>seedごとの選択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>
                          <a:solidFill>
                            <a:srgbClr val="475569"/>
                          </a:solidFill>
                          <a:latin typeface="Yu Gothic"/>
                        </a:rPr>
                        <a:t>ばらつきの確認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 wrap="square"/>
                    <a:lstStyle/>
                    <a:p>
                      <a:pPr algn="ctr"/>
                      <a:r>
                        <a:rPr sz="980">
                          <a:solidFill>
                            <a:srgbClr val="475569"/>
                          </a:solidFill>
                          <a:latin typeface="Yu Gothic"/>
                        </a:rPr>
                        <a:t>summary_df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>
                          <a:solidFill>
                            <a:srgbClr val="475569"/>
                          </a:solidFill>
                          <a:latin typeface="Yu Gothic"/>
                        </a:rPr>
                        <a:t>選択方式まとめ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>
                          <a:solidFill>
                            <a:srgbClr val="475569"/>
                          </a:solidFill>
                          <a:latin typeface="Yu Gothic"/>
                        </a:rPr>
                        <a:t>greedy/sampling/top-kの差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7240" y="5486400"/>
            <a:ext cx="10607040" cy="502920"/>
          </a:xfrm>
          <a:prstGeom prst="roundRect">
            <a:avLst/>
          </a:prstGeom>
          <a:solidFill>
            <a:srgbClr val="EEF8F1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切り替え例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Yu Gothic"/>
              </a:rPr>
              <a:t>result_df = sample_df にすると、seed違いの選択結果を表示できます。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DISPLAY MODES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第7回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>
                <a:solidFill>
                  <a:srgbClr val="24324B"/>
                </a:solidFill>
                <a:latin typeface="Yu Gothic"/>
              </a:rPr>
              <a:t>表の読み方 1: 確率表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rank、candidate_token、logit、scaled_logit、probabilityを順に読む。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783080"/>
          <a:ext cx="1046988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023360"/>
                <a:gridCol w="4434840"/>
              </a:tblGrid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FFFFFF"/>
                          </a:solidFill>
                          <a:latin typeface="Yu Gothic"/>
                        </a:rPr>
                        <a:t>列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FFFFFF"/>
                          </a:solidFill>
                          <a:latin typeface="Yu Gothic"/>
                        </a:rPr>
                        <a:t>見ること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FFFFFF"/>
                          </a:solidFill>
                          <a:latin typeface="Yu Gothic"/>
                        </a:rPr>
                        <a:t>読み方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ctr"/>
                      <a:r>
                        <a:rPr sz="1019">
                          <a:solidFill>
                            <a:srgbClr val="475569"/>
                          </a:solidFill>
                          <a:latin typeface="Yu Gothic"/>
                        </a:rPr>
                        <a:t>rank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>
                          <a:solidFill>
                            <a:srgbClr val="475569"/>
                          </a:solidFill>
                          <a:latin typeface="Yu Gothic"/>
                        </a:rPr>
                        <a:t>確率順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>
                          <a:solidFill>
                            <a:srgbClr val="475569"/>
                          </a:solidFill>
                          <a:latin typeface="Yu Gothic"/>
                        </a:rPr>
                        <a:t>1位が最も選ばれやすい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ctr"/>
                      <a:r>
                        <a:rPr sz="1019">
                          <a:solidFill>
                            <a:srgbClr val="475569"/>
                          </a:solidFill>
                          <a:latin typeface="Yu Gothic"/>
                        </a:rPr>
                        <a:t>logit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>
                          <a:solidFill>
                            <a:srgbClr val="475569"/>
                          </a:solidFill>
                          <a:latin typeface="Yu Gothic"/>
                        </a:rPr>
                        <a:t>元スコア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>
                          <a:solidFill>
                            <a:srgbClr val="475569"/>
                          </a:solidFill>
                          <a:latin typeface="Yu Gothic"/>
                        </a:rPr>
                        <a:t>確率ではない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ctr"/>
                      <a:r>
                        <a:rPr sz="1019">
                          <a:solidFill>
                            <a:srgbClr val="475569"/>
                          </a:solidFill>
                          <a:latin typeface="Yu Gothic"/>
                        </a:rPr>
                        <a:t>scaled_logit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>
                          <a:solidFill>
                            <a:srgbClr val="475569"/>
                          </a:solidFill>
                          <a:latin typeface="Yu Gothic"/>
                        </a:rPr>
                        <a:t>temperature適用後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>
                          <a:solidFill>
                            <a:srgbClr val="475569"/>
                          </a:solidFill>
                          <a:latin typeface="Yu Gothic"/>
                        </a:rPr>
                        <a:t>Softmaxに入る値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ctr"/>
                      <a:r>
                        <a:rPr sz="1019">
                          <a:solidFill>
                            <a:srgbClr val="475569"/>
                          </a:solidFill>
                          <a:latin typeface="Yu Gothic"/>
                        </a:rPr>
                        <a:t>probability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>
                          <a:solidFill>
                            <a:srgbClr val="475569"/>
                          </a:solidFill>
                          <a:latin typeface="Yu Gothic"/>
                        </a:rPr>
                        <a:t>選ばれやすさ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>
                          <a:solidFill>
                            <a:srgbClr val="475569"/>
                          </a:solidFill>
                          <a:latin typeface="Yu Gothic"/>
                        </a:rPr>
                        <a:t>合計1の確率として読む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68680" y="4434840"/>
            <a:ext cx="9966960" cy="777240"/>
          </a:xfrm>
          <a:prstGeom prst="roundRect">
            <a:avLst/>
          </a:prstGeom>
          <a:solidFill>
            <a:srgbClr val="EEF8F1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最初の確認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Yu Gothic"/>
              </a:rPr>
              <a:t>まずprobability列を見て、どの候補がどれくらい選ばれやすいかを読みます。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HOW TO READ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第7回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>
                <a:solidFill>
                  <a:srgbClr val="24324B"/>
                </a:solidFill>
                <a:latin typeface="Yu Gothic"/>
              </a:rPr>
              <a:t>表の読み方 2: ばらつき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sample_dfではseedごとに乱数と選ばれたtokenを確認します。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783080"/>
          <a:ext cx="1046988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023360"/>
                <a:gridCol w="4434840"/>
              </a:tblGrid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FFFFFF"/>
                          </a:solidFill>
                          <a:latin typeface="Yu Gothic"/>
                        </a:rPr>
                        <a:t>列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FFFFFF"/>
                          </a:solidFill>
                          <a:latin typeface="Yu Gothic"/>
                        </a:rPr>
                        <a:t>見ること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FFFFFF"/>
                          </a:solidFill>
                          <a:latin typeface="Yu Gothic"/>
                        </a:rPr>
                        <a:t>読み方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pPr algn="ctr"/>
                      <a:r>
                        <a:rPr sz="1019">
                          <a:solidFill>
                            <a:srgbClr val="475569"/>
                          </a:solidFill>
                          <a:latin typeface="Yu Gothic"/>
                        </a:rPr>
                        <a:t>seed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>
                          <a:solidFill>
                            <a:srgbClr val="475569"/>
                          </a:solidFill>
                          <a:latin typeface="Yu Gothic"/>
                        </a:rPr>
                        <a:t>乱数の元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>
                          <a:solidFill>
                            <a:srgbClr val="475569"/>
                          </a:solidFill>
                          <a:latin typeface="Yu Gothic"/>
                        </a:rPr>
                        <a:t>同じseedなら再現しやすい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pPr algn="ctr"/>
                      <a:r>
                        <a:rPr sz="1019">
                          <a:solidFill>
                            <a:srgbClr val="475569"/>
                          </a:solidFill>
                          <a:latin typeface="Yu Gothic"/>
                        </a:rPr>
                        <a:t>random_value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>
                          <a:solidFill>
                            <a:srgbClr val="475569"/>
                          </a:solidFill>
                          <a:latin typeface="Yu Gothic"/>
                        </a:rPr>
                        <a:t>0から1の乱数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>
                          <a:solidFill>
                            <a:srgbClr val="475569"/>
                          </a:solidFill>
                          <a:latin typeface="Yu Gothic"/>
                        </a:rPr>
                        <a:t>累積確率のどこに入るかを見る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pPr algn="ctr"/>
                      <a:r>
                        <a:rPr sz="1019">
                          <a:solidFill>
                            <a:srgbClr val="475569"/>
                          </a:solidFill>
                          <a:latin typeface="Yu Gothic"/>
                        </a:rPr>
                        <a:t>sampled_token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>
                          <a:solidFill>
                            <a:srgbClr val="475569"/>
                          </a:solidFill>
                          <a:latin typeface="Yu Gothic"/>
                        </a:rPr>
                        <a:t>選ばれた候補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>
                          <a:solidFill>
                            <a:srgbClr val="475569"/>
                          </a:solidFill>
                          <a:latin typeface="Yu Gothic"/>
                        </a:rPr>
                        <a:t>最大確率以外も選ばれうる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68680" y="4434840"/>
            <a:ext cx="9966960" cy="777240"/>
          </a:xfrm>
          <a:prstGeom prst="roundRect">
            <a:avLst/>
          </a:prstGeom>
          <a:solidFill>
            <a:srgbClr val="EEF8F1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ばらつきの理由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Yu Gothic"/>
              </a:rPr>
              <a:t>samplingは確率を使って乱数で選ぶため、同じ確率表でも結果が変わります。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HOW TO READ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第7回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>
                <a:solidFill>
                  <a:srgbClr val="24324B"/>
                </a:solidFill>
                <a:latin typeface="Yu Gothic"/>
              </a:rPr>
              <a:t>前回・次回との接続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第6回の表現から確率を作り、第8回では正解との差をLossとして見る。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30632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第6回 Transformer Block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Yu Gothic"/>
              </a:rPr>
              <a:t>次token予測に使う表現を作る。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1828800"/>
            <a:ext cx="3063240" cy="1143000"/>
          </a:xfrm>
          <a:prstGeom prst="roundRect">
            <a:avLst/>
          </a:prstGeom>
          <a:solidFill>
            <a:srgbClr val="EEF8F1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第7回 Softmaxと生成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Yu Gothic"/>
              </a:rPr>
              <a:t>語彙ごとの確率と選択を見る。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1828800"/>
            <a:ext cx="2651760" cy="1143000"/>
          </a:xfrm>
          <a:prstGeom prst="roundRect">
            <a:avLst/>
          </a:prstGeom>
          <a:solidFill>
            <a:srgbClr val="EAF4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第8回 Lossと学習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Yu Gothic"/>
              </a:rPr>
              <a:t>正解との差を数値化する。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251960"/>
            <a:ext cx="9966960" cy="868680"/>
          </a:xfrm>
          <a:prstGeom prst="roundRect">
            <a:avLst/>
          </a:prstGeom>
          <a:solidFill>
            <a:srgbClr val="EEF8F1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つながり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Yu Gothic"/>
              </a:rPr>
              <a:t>選んだ次tokenが正しかったか、どれくらい外れたかを次回のLossで扱います。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CONNECTION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第7回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>
                <a:solidFill>
                  <a:srgbClr val="24324B"/>
                </a:solidFill>
                <a:latin typeface="Yu Gothic"/>
              </a:rPr>
              <a:t>実LLMとの差分と未扱い範囲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語彙、logit生成、文脈更新、各種サンプリング実装は教材用に簡略化。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783080"/>
          <a:ext cx="10424159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7955279"/>
              </a:tblGrid>
              <a:tr h="495300">
                <a:tc>
                  <a:txBody>
                    <a:bodyPr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Yu Gothic"/>
                        </a:rPr>
                        <a:t>項目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Yu Gothic"/>
                        </a:rPr>
                        <a:t>この回での扱い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pPr algn="ctr"/>
                      <a:r>
                        <a:rPr sz="1080">
                          <a:solidFill>
                            <a:srgbClr val="475569"/>
                          </a:solidFill>
                          <a:latin typeface="Yu Gothic"/>
                        </a:rPr>
                        <a:t>語彙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>
                          <a:solidFill>
                            <a:srgbClr val="475569"/>
                          </a:solidFill>
                          <a:latin typeface="Yu Gothic"/>
                        </a:rPr>
                        <a:t>6候補だけ。実LLMは巨大な語彙を扱う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pPr algn="ctr"/>
                      <a:r>
                        <a:rPr sz="1080">
                          <a:solidFill>
                            <a:srgbClr val="475569"/>
                          </a:solidFill>
                          <a:latin typeface="Yu Gothic"/>
                        </a:rPr>
                        <a:t>logit生成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>
                          <a:solidFill>
                            <a:srgbClr val="475569"/>
                          </a:solidFill>
                          <a:latin typeface="Yu Gothic"/>
                        </a:rPr>
                        <a:t>固定値。実LLMではモデル本体が文脈から計算する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pPr algn="ctr"/>
                      <a:r>
                        <a:rPr sz="1080">
                          <a:solidFill>
                            <a:srgbClr val="475569"/>
                          </a:solidFill>
                          <a:latin typeface="Yu Gothic"/>
                        </a:rPr>
                        <a:t>sampling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>
                          <a:solidFill>
                            <a:srgbClr val="475569"/>
                          </a:solidFill>
                          <a:latin typeface="Yu Gothic"/>
                        </a:rPr>
                        <a:t>greedy、top-k、基本samplingだけ。top-pなどは扱わない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pPr algn="ctr"/>
                      <a:r>
                        <a:rPr sz="1080">
                          <a:solidFill>
                            <a:srgbClr val="475569"/>
                          </a:solidFill>
                          <a:latin typeface="Yu Gothic"/>
                        </a:rPr>
                        <a:t>文脈更新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>
                          <a:solidFill>
                            <a:srgbClr val="475569"/>
                          </a:solidFill>
                          <a:latin typeface="Yu Gothic"/>
                        </a:rPr>
                        <a:t>次tokenを足して再予測する反復処理は簡略化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pPr algn="ctr"/>
                      <a:r>
                        <a:rPr sz="1080">
                          <a:solidFill>
                            <a:srgbClr val="475569"/>
                          </a:solidFill>
                          <a:latin typeface="Yu Gothic"/>
                        </a:rPr>
                        <a:t>安全性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>
                          <a:solidFill>
                            <a:srgbClr val="475569"/>
                          </a:solidFill>
                          <a:latin typeface="Yu Gothic"/>
                        </a:rPr>
                        <a:t>実運用の安全制御や停止条件は扱わない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" y="5212080"/>
            <a:ext cx="10424160" cy="548640"/>
          </a:xfrm>
          <a:prstGeom prst="roundRect">
            <a:avLst/>
          </a:prstGeom>
          <a:solidFill>
            <a:srgbClr val="FFF4CC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8A5A2B"/>
                </a:solidFill>
                <a:latin typeface="Yu Gothic"/>
              </a:rPr>
              <a:t>安全注記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Yu Gothic"/>
              </a:rPr>
              <a:t>コード自体は外部APIにアクセスしませんが、Python in Excelの実行環境はMicrosoft Cloud上です。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LIMITATION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第7回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>
                <a:solidFill>
                  <a:srgbClr val="24324B"/>
                </a:solidFill>
                <a:latin typeface="Yu Gothic"/>
              </a:rPr>
              <a:t>まとめと次回導線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Softmaxは確率表、samplingは生成のばらつき、次回は予測のズレを扱います。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2971800" cy="1051560"/>
          </a:xfrm>
          <a:prstGeom prst="roundRect">
            <a:avLst/>
          </a:prstGeom>
          <a:solidFill>
            <a:srgbClr val="EEF8F1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分かったこと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Yu Gothic"/>
              </a:rPr>
              <a:t>Softmaxはlogitを確率表に変換します。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828800"/>
            <a:ext cx="2971800" cy="1051560"/>
          </a:xfrm>
          <a:prstGeom prst="roundRect">
            <a:avLst/>
          </a:prstGeom>
          <a:solidFill>
            <a:srgbClr val="EEF8F1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Excelで見る場所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Yu Gothic"/>
              </a:rPr>
              <a:t>score_df、temperature_df、sample_dfで比較します。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828800"/>
            <a:ext cx="2971800" cy="1051560"/>
          </a:xfrm>
          <a:prstGeom prst="roundRect">
            <a:avLst/>
          </a:prstGeom>
          <a:solidFill>
            <a:srgbClr val="FFF4CC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8A5A2B"/>
                </a:solidFill>
                <a:latin typeface="Yu Gothic"/>
              </a:rPr>
              <a:t>限界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Yu Gothic"/>
              </a:rPr>
              <a:t>小語彙と固定logitの教材用デモです。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4251960"/>
            <a:ext cx="978408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73152" bIns="54864" wrap="square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次回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475569"/>
                </a:solidFill>
                <a:latin typeface="Yu Gothic"/>
              </a:rPr>
              <a:t>第8回 Lossと学習では、選んだ確率と正解との差を数値にします。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WRAP-UP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第7回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>
                <a:solidFill>
                  <a:srgbClr val="24324B"/>
                </a:solidFill>
                <a:latin typeface="Yu Gothic"/>
              </a:rPr>
              <a:t>第7回 用語集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この回で使う表・列・変数・概念を整理します。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19072"/>
          <a:ext cx="10607040" cy="431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7863840"/>
              </a:tblGrid>
              <a:tr h="47955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Yu Gothic"/>
                        </a:rPr>
                        <a:t>用語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Yu Gothic"/>
                        </a:rPr>
                        <a:t>この教材での意味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479552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Yu Gothic"/>
                        </a:rPr>
                        <a:t>logit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475569"/>
                          </a:solidFill>
                          <a:latin typeface="Yu Gothic"/>
                        </a:rPr>
                        <a:t>Softmaxに入る語彙ごとのスコア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9552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Yu Gothic"/>
                        </a:rPr>
                        <a:t>Softmax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475569"/>
                          </a:solidFill>
                          <a:latin typeface="Yu Gothic"/>
                        </a:rPr>
                        <a:t>スコアを合計1の確率に変える関数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9552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Yu Gothic"/>
                        </a:rPr>
                        <a:t>probability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475569"/>
                          </a:solidFill>
                          <a:latin typeface="Yu Gothic"/>
                        </a:rPr>
                        <a:t>候補tokenの選ばれやすさ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9552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Yu Gothic"/>
                        </a:rPr>
                        <a:t>temperature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475569"/>
                          </a:solidFill>
                          <a:latin typeface="Yu Gothic"/>
                        </a:rPr>
                        <a:t>確率分布の尖り方を調整する値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9552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Yu Gothic"/>
                        </a:rPr>
                        <a:t>greedy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475569"/>
                          </a:solidFill>
                          <a:latin typeface="Yu Gothic"/>
                        </a:rPr>
                        <a:t>最大確率のtokenを選ぶ方法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9552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Yu Gothic"/>
                        </a:rPr>
                        <a:t>sampling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475569"/>
                          </a:solidFill>
                          <a:latin typeface="Yu Gothic"/>
                        </a:rPr>
                        <a:t>確率に沿って乱数で選ぶ方法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9552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Yu Gothic"/>
                        </a:rPr>
                        <a:t>top_k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475569"/>
                          </a:solidFill>
                          <a:latin typeface="Yu Gothic"/>
                        </a:rPr>
                        <a:t>上位k件だけを残す候補制限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9552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Yu Gothic"/>
                        </a:rPr>
                        <a:t>seed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475569"/>
                          </a:solidFill>
                          <a:latin typeface="Yu Gothic"/>
                        </a:rPr>
                        <a:t>乱数結果を再現しやすくする値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292608"/>
            <a:ext cx="1664208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GLOSSARY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6473952"/>
            <a:ext cx="4983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第7回 |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Excel Education Series</dc:creator>
  <cp:keywords/>
  <dc:description/>
  <cp:lastModifiedBy>Excel Education Series</cp:lastModifiedBy>
  <cp:revision>1</cp:revision>
  <dcterms:created xsi:type="dcterms:W3CDTF">2013-01-27T09:14:16Z</dcterms:created>
  <dcterms:modified xsi:type="dcterms:W3CDTF">2013-01-27T09:15:58Z</dcterms:modified>
  <cp:category/>
  <cp:contentStatus/>
</cp:coreProperties>
</file>