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70" r:id="rId21"/>
    <p:sldId id="271" r:id="rId22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slide" Target="slides/slide14.xml"/><Relationship Id="rId19" Type="http://schemas.openxmlformats.org/officeDocument/2006/relationships/slide" Target="slides/slide15.xml"/><Relationship Id="rId20" Type="http://schemas.openxmlformats.org/officeDocument/2006/relationships/slide" Target="slides/slide16.xml"/><Relationship Id="rId21" Type="http://schemas.openxmlformats.org/officeDocument/2006/relationships/slide" Target="slides/slide6.xml"/><Relationship Id="rId22" Type="http://schemas.openxmlformats.org/officeDocument/2006/relationships/slide" Target="slides/slide7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995160" y="6473952"/>
            <a:ext cx="48006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>
                <a:solidFill>
                  <a:srgbClr val="64748B"/>
                </a:solidFill>
                <a:latin typeface="Yu Gothic"/>
              </a:rPr>
              <a:t>Excelで体験する言語モデルのしくみ | 第5回 | 1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292608"/>
            <a:ext cx="1508760" cy="310896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2F6690"/>
                </a:solidFill>
                <a:latin typeface="Yu Gothic"/>
              </a:rPr>
              <a:t>TITLE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6949440" cy="594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500" b="1">
                <a:solidFill>
                  <a:srgbClr val="24324B"/>
                </a:solidFill>
                <a:latin typeface="Yu Gothic"/>
              </a:rPr>
              <a:t>Excelで体験する 言語モデルのしくみ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36192"/>
            <a:ext cx="594360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300" b="1">
                <a:solidFill>
                  <a:srgbClr val="2F6690"/>
                </a:solidFill>
                <a:latin typeface="Yu Gothic"/>
              </a:rPr>
              <a:t>第5回 Multi-Head Attention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148840"/>
            <a:ext cx="58064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500" b="0">
                <a:solidFill>
                  <a:srgbClr val="475569"/>
                </a:solidFill>
                <a:latin typeface="Yu Gothic"/>
              </a:rPr>
              <a:t>Q/K/Vからscore、softmax、output、concatまでを順番に計算します。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3182112"/>
            <a:ext cx="4937760" cy="1097280"/>
          </a:xfrm>
          <a:prstGeom prst="roundRect">
            <a:avLst/>
          </a:prstGeom>
          <a:solidFill>
            <a:srgbClr val="EEF8F1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76749"/>
                </a:solidFill>
                <a:latin typeface="Yu Gothic"/>
              </a:rPr>
              <a:t>今回の狙い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複数のHeadが同じ入力を別々の重みで見て、最後に横につながる流れを確認します。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46520" y="2331720"/>
            <a:ext cx="1325880" cy="749808"/>
          </a:xfrm>
          <a:prstGeom prst="roundRect">
            <a:avLst/>
          </a:prstGeom>
          <a:solidFill>
            <a:srgbClr val="EAF4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Head 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92440" y="2331720"/>
            <a:ext cx="1325880" cy="749808"/>
          </a:xfrm>
          <a:prstGeom prst="roundRect">
            <a:avLst/>
          </a:prstGeom>
          <a:solidFill>
            <a:srgbClr val="EAF4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Head 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738360" y="2331720"/>
            <a:ext cx="1325880" cy="749808"/>
          </a:xfrm>
          <a:prstGeom prst="roundRect">
            <a:avLst/>
          </a:prstGeom>
          <a:solidFill>
            <a:srgbClr val="EAF4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concat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772400" y="2706624"/>
            <a:ext cx="320040" cy="0"/>
          </a:xfrm>
          <a:prstGeom prst="line">
            <a:avLst/>
          </a:prstGeom>
          <a:ln w="17780">
            <a:solidFill>
              <a:srgbClr val="AEBE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9418320" y="2706624"/>
            <a:ext cx="320040" cy="0"/>
          </a:xfrm>
          <a:prstGeom prst="line">
            <a:avLst/>
          </a:prstGeom>
          <a:ln w="17780">
            <a:solidFill>
              <a:srgbClr val="AEBE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360920" y="3703320"/>
            <a:ext cx="3429000" cy="749808"/>
          </a:xfrm>
          <a:prstGeom prst="roundRect">
            <a:avLst/>
          </a:prstGeom>
          <a:solidFill>
            <a:srgbClr val="FFFF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同じ手順を並列に実行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Q/K/V → score → softmax → output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995160" y="6473952"/>
            <a:ext cx="48006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>
                <a:solidFill>
                  <a:srgbClr val="64748B"/>
                </a:solidFill>
                <a:latin typeface="Yu Gothic"/>
              </a:rPr>
              <a:t>Excelで体験する言語モデルのしくみ | 第5回 | 2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292608"/>
            <a:ext cx="1508760" cy="310896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2F6690"/>
                </a:solidFill>
                <a:latin typeface="Yu Gothic"/>
              </a:rPr>
              <a:t>SERIES 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800" b="1">
                <a:solidFill>
                  <a:srgbClr val="24324B"/>
                </a:solidFill>
                <a:latin typeface="Yu Gothic"/>
              </a:rPr>
              <a:t>全10回の中の位置づけ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53312"/>
            <a:ext cx="105156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0">
                <a:solidFill>
                  <a:srgbClr val="475569"/>
                </a:solidFill>
                <a:latin typeface="Yu Gothic"/>
              </a:rPr>
              <a:t>第5回は、複数の見方を同時に走らせるMulti-Head Attentionです。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783080"/>
            <a:ext cx="5074920" cy="512064"/>
          </a:xfrm>
          <a:prstGeom prst="roundRect">
            <a:avLst/>
          </a:prstGeom>
          <a:solidFill>
            <a:srgbClr val="FFFF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第1回 n-gram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直前の並びから次を考える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783080"/>
            <a:ext cx="5074920" cy="512064"/>
          </a:xfrm>
          <a:prstGeom prst="roundRect">
            <a:avLst/>
          </a:prstGeom>
          <a:solidFill>
            <a:srgbClr val="FFFF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第2回 Self-Attention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文全体のどこを見るかを重みで見る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2496312"/>
            <a:ext cx="5074920" cy="512064"/>
          </a:xfrm>
          <a:prstGeom prst="roundRect">
            <a:avLst/>
          </a:prstGeom>
          <a:solidFill>
            <a:srgbClr val="FFFF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第3回 Embedding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tokenを数値ベクトルにする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2496312"/>
            <a:ext cx="5074920" cy="512064"/>
          </a:xfrm>
          <a:prstGeom prst="roundRect">
            <a:avLst/>
          </a:prstGeom>
          <a:solidFill>
            <a:srgbClr val="FFFF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第4回 Positional Encoding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tokenの順番を数値で足す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3209544"/>
            <a:ext cx="5074920" cy="512064"/>
          </a:xfrm>
          <a:prstGeom prst="roundRect">
            <a:avLst/>
          </a:prstGeom>
          <a:solidFill>
            <a:srgbClr val="EEF8F1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76749"/>
                </a:solidFill>
                <a:latin typeface="Yu Gothic"/>
              </a:rPr>
              <a:t>第5回 Multi-Head Attention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複数の見方を同時に走らせる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3209544"/>
            <a:ext cx="5074920" cy="512064"/>
          </a:xfrm>
          <a:prstGeom prst="roundRect">
            <a:avLst/>
          </a:prstGeom>
          <a:solidFill>
            <a:srgbClr val="FFFF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第6回 Transformer Block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AttentionとFFNを積み重ねる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3922776"/>
            <a:ext cx="5074920" cy="512064"/>
          </a:xfrm>
          <a:prstGeom prst="roundRect">
            <a:avLst/>
          </a:prstGeom>
          <a:solidFill>
            <a:srgbClr val="FFFF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第7回 Softmaxと生成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確率から次tokenを選ぶ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3922776"/>
            <a:ext cx="5074920" cy="512064"/>
          </a:xfrm>
          <a:prstGeom prst="roundRect">
            <a:avLst/>
          </a:prstGeom>
          <a:solidFill>
            <a:srgbClr val="FFFF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第8回 Lossと学習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予測のズレを数値にする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4636008"/>
            <a:ext cx="5074920" cy="512064"/>
          </a:xfrm>
          <a:prstGeom prst="roundRect">
            <a:avLst/>
          </a:prstGeom>
          <a:solidFill>
            <a:srgbClr val="FFFF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第9回 Backpropagation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ズレを元に重みを更新する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4636008"/>
            <a:ext cx="5074920" cy="512064"/>
          </a:xfrm>
          <a:prstGeom prst="roundRect">
            <a:avLst/>
          </a:prstGeom>
          <a:solidFill>
            <a:srgbClr val="FFFF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第10回 RAG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外部資料を参照して答える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5696712"/>
            <a:ext cx="98755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1">
                <a:solidFill>
                  <a:srgbClr val="276749"/>
                </a:solidFill>
                <a:latin typeface="Yu Gothic"/>
              </a:rPr>
              <a:t>第5回の到達点: Q/K/V、score、softmax、output、concatを計算手順として追う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995160" y="6473952"/>
            <a:ext cx="48006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>
                <a:solidFill>
                  <a:srgbClr val="64748B"/>
                </a:solidFill>
                <a:latin typeface="Yu Gothic"/>
              </a:rPr>
              <a:t>Excelで体験する言語モデルのしくみ | 第5回 | 3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292608"/>
            <a:ext cx="1508760" cy="310896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2F6690"/>
                </a:solidFill>
                <a:latin typeface="Yu Gothic"/>
              </a:rPr>
              <a:t>GOAL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800" b="1">
                <a:solidFill>
                  <a:srgbClr val="24324B"/>
                </a:solidFill>
                <a:latin typeface="Yu Gothic"/>
              </a:rPr>
              <a:t>今日の到達点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53312"/>
            <a:ext cx="105156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0">
                <a:solidFill>
                  <a:srgbClr val="475569"/>
                </a:solidFill>
                <a:latin typeface="Yu Gothic"/>
              </a:rPr>
              <a:t>Multi-Head Attentionの計算を、Excel上の表で順番に追います。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828800"/>
            <a:ext cx="4800600" cy="1005840"/>
          </a:xfrm>
          <a:prstGeom prst="roundRect">
            <a:avLst/>
          </a:prstGeom>
          <a:solidFill>
            <a:srgbClr val="FFFF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1. Q/K/V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入力Xから見る側、見られる側、取り出す値を作る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72200" y="1828800"/>
            <a:ext cx="4800600" cy="1005840"/>
          </a:xfrm>
          <a:prstGeom prst="roundRect">
            <a:avLst/>
          </a:prstGeom>
          <a:solidFill>
            <a:srgbClr val="FFFF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2. score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QとKの内積をsqrt(d_k)で割る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3246120"/>
            <a:ext cx="4800600" cy="1005840"/>
          </a:xfrm>
          <a:prstGeom prst="roundRect">
            <a:avLst/>
          </a:prstGeom>
          <a:solidFill>
            <a:srgbClr val="FFFF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3. softmax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scoreを行ごとのattention weightに変える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3246120"/>
            <a:ext cx="4800600" cy="1005840"/>
          </a:xfrm>
          <a:prstGeom prst="roundRect">
            <a:avLst/>
          </a:prstGeom>
          <a:solidFill>
            <a:srgbClr val="FFFF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4. concat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Head 1とHead 2のoutputを横につなげる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074920"/>
            <a:ext cx="10241280" cy="685800"/>
          </a:xfrm>
          <a:prstGeom prst="roundRect">
            <a:avLst/>
          </a:prstGeom>
          <a:solidFill>
            <a:srgbClr val="EEF8F1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76749"/>
                </a:solidFill>
                <a:latin typeface="Yu Gothic"/>
              </a:rPr>
              <a:t>最後に見る表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focus_trace_df。query token「食べる」について、Q/K/Vからconcatまでを1本の表で追います。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995160" y="6473952"/>
            <a:ext cx="48006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>
                <a:solidFill>
                  <a:srgbClr val="64748B"/>
                </a:solidFill>
                <a:latin typeface="Yu Gothic"/>
              </a:rPr>
              <a:t>Excelで体験する言語モデルのしくみ | 第5回 | 4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292608"/>
            <a:ext cx="1508760" cy="310896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2F6690"/>
                </a:solidFill>
                <a:latin typeface="Yu Gothic"/>
              </a:rPr>
              <a:t>CONCEPT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800" b="1">
                <a:solidFill>
                  <a:srgbClr val="24324B"/>
                </a:solidFill>
                <a:latin typeface="Yu Gothic"/>
              </a:rPr>
              <a:t>Multi-Headは複数の見方を並べる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53312"/>
            <a:ext cx="105156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0">
                <a:solidFill>
                  <a:srgbClr val="475569"/>
                </a:solidFill>
                <a:latin typeface="Yu Gothic"/>
              </a:rPr>
              <a:t>同じ入力Xを、Headごとに違うWq/Wk/Wvで変換します。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68680" y="1828800"/>
            <a:ext cx="2971800" cy="1005840"/>
          </a:xfrm>
          <a:prstGeom prst="roundRect">
            <a:avLst/>
          </a:prstGeom>
          <a:solidFill>
            <a:srgbClr val="EAF4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入力 X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5 token x 4次元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840480" y="2331720"/>
            <a:ext cx="731520" cy="0"/>
          </a:xfrm>
          <a:prstGeom prst="line">
            <a:avLst/>
          </a:prstGeom>
          <a:ln w="17780">
            <a:solidFill>
              <a:srgbClr val="AEBE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572000" y="2057400"/>
            <a:ext cx="2651760" cy="914400"/>
          </a:xfrm>
          <a:prstGeom prst="roundRect">
            <a:avLst/>
          </a:prstGeom>
          <a:solidFill>
            <a:srgbClr val="FFFF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Head 1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Wq/Wk/Wv 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0" y="2926080"/>
            <a:ext cx="2651760" cy="914400"/>
          </a:xfrm>
          <a:prstGeom prst="roundRect">
            <a:avLst/>
          </a:prstGeom>
          <a:solidFill>
            <a:srgbClr val="FFFF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Head 2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Wq/Wk/Wv 2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269480" y="2560320"/>
            <a:ext cx="731520" cy="365760"/>
          </a:xfrm>
          <a:prstGeom prst="line">
            <a:avLst/>
          </a:prstGeom>
          <a:ln w="17780">
            <a:solidFill>
              <a:srgbClr val="AEBE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7269480" y="2971800"/>
            <a:ext cx="731520" cy="411480"/>
          </a:xfrm>
          <a:prstGeom prst="line">
            <a:avLst/>
          </a:prstGeom>
          <a:ln w="17780">
            <a:solidFill>
              <a:srgbClr val="AEBE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8001000" y="2651760"/>
            <a:ext cx="2788920" cy="1051560"/>
          </a:xfrm>
          <a:prstGeom prst="roundRect">
            <a:avLst/>
          </a:prstGeom>
          <a:solidFill>
            <a:srgbClr val="EEF8F1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76749"/>
                </a:solidFill>
                <a:latin typeface="Yu Gothic"/>
              </a:rPr>
              <a:t>concat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Headごとのoutputを横に結合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4400" y="4800600"/>
            <a:ext cx="9966960" cy="685800"/>
          </a:xfrm>
          <a:prstGeom prst="roundRect">
            <a:avLst/>
          </a:prstGeom>
          <a:solidFill>
            <a:srgbClr val="FFF4CC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8A5A2B"/>
                </a:solidFill>
                <a:latin typeface="Yu Gothic"/>
              </a:rPr>
              <a:t>重要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concatは足し算ではありません。Head 1 outputとHead 2 outputを横に並べる操作です。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995160" y="6473952"/>
            <a:ext cx="48006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>
                <a:solidFill>
                  <a:srgbClr val="64748B"/>
                </a:solidFill>
                <a:latin typeface="Yu Gothic"/>
              </a:rPr>
              <a:t>Excelで体験する言語モデルのしくみ | 第5回 | 5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292608"/>
            <a:ext cx="1508760" cy="310896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2F6690"/>
                </a:solidFill>
                <a:latin typeface="Yu Gothic"/>
              </a:rPr>
              <a:t>DEMO ASSET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800" b="1">
                <a:solidFill>
                  <a:srgbClr val="24324B"/>
                </a:solidFill>
                <a:latin typeface="Yu Gothic"/>
              </a:rPr>
              <a:t>Excelで作ったもの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53312"/>
            <a:ext cx="105156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0">
                <a:solidFill>
                  <a:srgbClr val="475569"/>
                </a:solidFill>
                <a:latin typeface="Yu Gothic"/>
              </a:rPr>
              <a:t>Python in Excelで動く、Multi-Head Attention計算デモです。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874519"/>
            <a:ext cx="466344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01_INPUT_X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tokenと入力ベクトルXを見る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35040" y="1874519"/>
            <a:ext cx="466344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Head別シート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Q/K/V、score、softmax、outputを見る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3172968"/>
            <a:ext cx="466344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12_CONCAT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Head 1/2のoutputを横に結合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35040" y="3172968"/>
            <a:ext cx="466344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13_FOCUS_TRACE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食べるをqueryにして計算を追う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4754880"/>
            <a:ext cx="9966960" cy="804672"/>
          </a:xfrm>
          <a:prstGeom prst="roundRect">
            <a:avLst/>
          </a:prstGeom>
          <a:solidFill>
            <a:srgbClr val="FFF4CC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8A5A2B"/>
                </a:solidFill>
                <a:latin typeface="Yu Gothic"/>
              </a:rPr>
              <a:t>教材の範囲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Wq/Wk/Wvは教材用の固定値です。Attention重みは手で貼らず、Pythonで計算します。</a:t>
            </a:r>
          </a:p>
        </p:txBody>
      </p:sp>
      <p:sp>
        <p:nvSpPr>
          <p:cNvPr id="11" name="github_demo_asset_url"/>
          <p:cNvSpPr txBox="1"/>
          <p:nvPr/>
        </p:nvSpPr>
        <p:spPr>
          <a:xfrm>
            <a:off x="658368" y="5998464"/>
            <a:ext cx="10652760" cy="310896"/>
          </a:xfrm>
          <a:prstGeom prst="rect">
            <a:avLst/>
          </a:prstGeom>
          <a:noFill/>
        </p:spPr>
        <p:txBody>
          <a:bodyPr wrap="none" lIns="45720" rIns="45720" tIns="9144" bIns="9144">
            <a:spAutoFit/>
          </a:bodyPr>
          <a:lstStyle/>
          <a:p>
            <a:pPr algn="l"/>
            <a:r>
              <a:rPr sz="900">
                <a:solidFill>
                  <a:srgbClr val="4E5E6E"/>
                </a:solidFill>
                <a:latin typeface="Yu Gothic"/>
              </a:rPr>
              <a:t>デモ一式: https://github.com/KanameShiga-dev/excel-python-mini-llm-demo/tree/main/第5回_Multi-Head_Attention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292608"/>
            <a:ext cx="1508760" cy="310896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2F6690"/>
                </a:solidFill>
                <a:latin typeface="Yu Gothic"/>
              </a:rPr>
              <a:t>INPUT SHEET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86384"/>
            <a:ext cx="108813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800" b="1">
                <a:solidFill>
                  <a:srgbClr val="24324B"/>
                </a:solidFill>
                <a:latin typeface="Yu Gothic"/>
              </a:rPr>
              <a:t>01_INPUT_X の画面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353312"/>
            <a:ext cx="105156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0">
                <a:solidFill>
                  <a:srgbClr val="475569"/>
                </a:solidFill>
                <a:latin typeface="Yu Gothic"/>
              </a:rPr>
              <a:t>ExcelをUIとして触る入口を、先に画面で確認します。</a:t>
            </a:r>
          </a:p>
        </p:txBody>
      </p:sp>
      <p:pic>
        <p:nvPicPr>
          <p:cNvPr id="5" name="Picture 4" descr="input_sheet_screensh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1856231"/>
            <a:ext cx="10287000" cy="34290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22960" y="5650992"/>
            <a:ext cx="10607040" cy="530352"/>
          </a:xfrm>
          <a:prstGeom prst="roundRect">
            <a:avLst/>
          </a:prstGeom>
          <a:solidFill>
            <a:srgbClr val="EEF8F1"/>
          </a:solidFill>
          <a:ln>
            <a:solidFill>
              <a:srgbClr val="C4E0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200" b="1">
                <a:solidFill>
                  <a:srgbClr val="276749"/>
                </a:solidFill>
                <a:latin typeface="Yu Gothic"/>
              </a:rPr>
              <a:t>入力Xを起点に、Head別の重み・Q/K/V・score・softmax・concatへ進みます。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95160" y="6473952"/>
            <a:ext cx="48006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>
                <a:solidFill>
                  <a:srgbClr val="64748B"/>
                </a:solidFill>
                <a:latin typeface="Yu Gothic"/>
              </a:rPr>
              <a:t>Excelで体験する言語モデルのしくみ | 第5回 | 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292608"/>
            <a:ext cx="1508760" cy="310896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2F6690"/>
                </a:solidFill>
                <a:latin typeface="Yu Gothic"/>
              </a:rPr>
              <a:t>EXCEL UI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86384"/>
            <a:ext cx="108813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800" b="1">
                <a:solidFill>
                  <a:srgbClr val="24324B"/>
                </a:solidFill>
                <a:latin typeface="Yu Gothic"/>
              </a:rPr>
              <a:t>Excel UIで何を確認するか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353312"/>
            <a:ext cx="105156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0">
                <a:solidFill>
                  <a:srgbClr val="475569"/>
                </a:solidFill>
                <a:latin typeface="Yu Gothic"/>
              </a:rPr>
              <a:t>Head別の表とfocus_trace_dfを切り替え、Q/K/Vからconcatまでの計算を追います。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22960" y="1755648"/>
          <a:ext cx="10607040" cy="3611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5120640"/>
              </a:tblGrid>
              <a:tr h="515982"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Yu Gothic"/>
                        </a:rPr>
                        <a:t>場所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Yu Gothic"/>
                        </a:rPr>
                        <a:t>変更・確認するもの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Yu Gothic"/>
                        </a:rPr>
                        <a:t>見える変化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</a:tr>
              <a:tr h="515982">
                <a:tc>
                  <a:txBody>
                    <a:bodyPr/>
                    <a:lstStyle/>
                    <a:p>
                      <a:pPr algn="ctr"/>
                      <a:r>
                        <a:rPr sz="980" b="1">
                          <a:solidFill>
                            <a:srgbClr val="475569"/>
                          </a:solidFill>
                          <a:latin typeface="Yu Gothic"/>
                        </a:rPr>
                        <a:t>01_INPUT_X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80" b="0">
                          <a:solidFill>
                            <a:srgbClr val="475569"/>
                          </a:solidFill>
                          <a:latin typeface="Yu Gothic"/>
                        </a:rPr>
                        <a:t>入力X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19" b="0">
                          <a:solidFill>
                            <a:srgbClr val="475569"/>
                          </a:solidFill>
                          <a:latin typeface="Yu Gothic"/>
                        </a:rPr>
                        <a:t>第4回までの入力ベクトルを見る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15982">
                <a:tc>
                  <a:txBody>
                    <a:bodyPr/>
                    <a:lstStyle/>
                    <a:p>
                      <a:pPr algn="ctr"/>
                      <a:r>
                        <a:rPr sz="980" b="1">
                          <a:solidFill>
                            <a:srgbClr val="475569"/>
                          </a:solidFill>
                          <a:latin typeface="Yu Gothic"/>
                        </a:rPr>
                        <a:t>02/07_WEIGHTS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80" b="0">
                          <a:solidFill>
                            <a:srgbClr val="475569"/>
                          </a:solidFill>
                          <a:latin typeface="Yu Gothic"/>
                        </a:rPr>
                        <a:t>Head別Wq/Wk/Wv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19" b="0">
                          <a:solidFill>
                            <a:srgbClr val="475569"/>
                          </a:solidFill>
                          <a:latin typeface="Yu Gothic"/>
                        </a:rPr>
                        <a:t>Headごとの重みの違いを見る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15982">
                <a:tc>
                  <a:txBody>
                    <a:bodyPr/>
                    <a:lstStyle/>
                    <a:p>
                      <a:pPr algn="ctr"/>
                      <a:r>
                        <a:rPr sz="980" b="1">
                          <a:solidFill>
                            <a:srgbClr val="475569"/>
                          </a:solidFill>
                          <a:latin typeface="Yu Gothic"/>
                        </a:rPr>
                        <a:t>03/08_QKV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80" b="0">
                          <a:solidFill>
                            <a:srgbClr val="475569"/>
                          </a:solidFill>
                          <a:latin typeface="Yu Gothic"/>
                        </a:rPr>
                        <a:t>Head別Q/K/V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19" b="0">
                          <a:solidFill>
                            <a:srgbClr val="475569"/>
                          </a:solidFill>
                          <a:latin typeface="Yu Gothic"/>
                        </a:rPr>
                        <a:t>同じXから違うQ/K/Vができると見る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15982">
                <a:tc>
                  <a:txBody>
                    <a:bodyPr/>
                    <a:lstStyle/>
                    <a:p>
                      <a:pPr algn="ctr"/>
                      <a:r>
                        <a:rPr sz="980" b="1">
                          <a:solidFill>
                            <a:srgbClr val="475569"/>
                          </a:solidFill>
                          <a:latin typeface="Yu Gothic"/>
                        </a:rPr>
                        <a:t>04/09_SCORE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80" b="0">
                          <a:solidFill>
                            <a:srgbClr val="475569"/>
                          </a:solidFill>
                          <a:latin typeface="Yu Gothic"/>
                        </a:rPr>
                        <a:t>score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19" b="0">
                          <a:solidFill>
                            <a:srgbClr val="475569"/>
                          </a:solidFill>
                          <a:latin typeface="Yu Gothic"/>
                        </a:rPr>
                        <a:t>queryとkeyの組み合わせごとの点数を見る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15982">
                <a:tc>
                  <a:txBody>
                    <a:bodyPr/>
                    <a:lstStyle/>
                    <a:p>
                      <a:pPr algn="ctr"/>
                      <a:r>
                        <a:rPr sz="980" b="1">
                          <a:solidFill>
                            <a:srgbClr val="475569"/>
                          </a:solidFill>
                          <a:latin typeface="Yu Gothic"/>
                        </a:rPr>
                        <a:t>05/10_SOFTMAX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80" b="0">
                          <a:solidFill>
                            <a:srgbClr val="475569"/>
                          </a:solidFill>
                          <a:latin typeface="Yu Gothic"/>
                        </a:rPr>
                        <a:t>attention_weight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19" b="0">
                          <a:solidFill>
                            <a:srgbClr val="475569"/>
                          </a:solidFill>
                          <a:latin typeface="Yu Gothic"/>
                        </a:rPr>
                        <a:t>どのkeyを見たかを読む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15988">
                <a:tc>
                  <a:txBody>
                    <a:bodyPr/>
                    <a:lstStyle/>
                    <a:p>
                      <a:pPr algn="ctr"/>
                      <a:r>
                        <a:rPr sz="980" b="1">
                          <a:solidFill>
                            <a:srgbClr val="475569"/>
                          </a:solidFill>
                          <a:latin typeface="Yu Gothic"/>
                        </a:rPr>
                        <a:t>13_FOCUS_TRACE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80" b="0">
                          <a:solidFill>
                            <a:srgbClr val="475569"/>
                          </a:solidFill>
                          <a:latin typeface="Yu Gothic"/>
                        </a:rPr>
                        <a:t>食べるの計算追跡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19" b="0">
                          <a:solidFill>
                            <a:srgbClr val="475569"/>
                          </a:solidFill>
                          <a:latin typeface="Yu Gothic"/>
                        </a:rPr>
                        <a:t>1つのqueryで全手順を追う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822960" y="5650992"/>
            <a:ext cx="10607040" cy="530352"/>
          </a:xfrm>
          <a:prstGeom prst="roundRect">
            <a:avLst/>
          </a:prstGeom>
          <a:solidFill>
            <a:srgbClr val="EEF8F1"/>
          </a:solidFill>
          <a:ln>
            <a:solidFill>
              <a:srgbClr val="C4E0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200" b="1">
                <a:solidFill>
                  <a:srgbClr val="276749"/>
                </a:solidFill>
                <a:latin typeface="Yu Gothic"/>
              </a:rPr>
              <a:t>第5回のExcel UIは、Head別シートとpython_result_df切替で、計算段階ごとの差を見せる構成です。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95160" y="6473952"/>
            <a:ext cx="48006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>
                <a:solidFill>
                  <a:srgbClr val="64748B"/>
                </a:solidFill>
                <a:latin typeface="Yu Gothic"/>
              </a:rPr>
              <a:t>Excelで体験する言語モデルのしくみ | 第5回 | 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995160" y="6473952"/>
            <a:ext cx="48006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>
                <a:solidFill>
                  <a:srgbClr val="64748B"/>
                </a:solidFill>
                <a:latin typeface="Yu Gothic"/>
              </a:rPr>
              <a:t>Excelで体験する言語モデルのしくみ | 第5回 | 8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292608"/>
            <a:ext cx="1508760" cy="310896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2F6690"/>
                </a:solidFill>
                <a:latin typeface="Yu Gothic"/>
              </a:rPr>
              <a:t>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800" b="1">
                <a:solidFill>
                  <a:srgbClr val="24324B"/>
                </a:solidFill>
                <a:latin typeface="Yu Gothic"/>
              </a:rPr>
              <a:t>処理の流れ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53312"/>
            <a:ext cx="105156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0">
                <a:solidFill>
                  <a:srgbClr val="475569"/>
                </a:solidFill>
                <a:latin typeface="Yu Gothic"/>
              </a:rPr>
              <a:t>Headごとに同じ計算を行い、最後にconcatします。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2331720"/>
            <a:ext cx="1417320" cy="868680"/>
          </a:xfrm>
          <a:prstGeom prst="roundRect">
            <a:avLst/>
          </a:prstGeom>
          <a:solidFill>
            <a:srgbClr val="EAF4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X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入力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002536" y="2761488"/>
            <a:ext cx="329184" cy="0"/>
          </a:xfrm>
          <a:prstGeom prst="line">
            <a:avLst/>
          </a:prstGeom>
          <a:ln w="17780">
            <a:solidFill>
              <a:srgbClr val="AEBE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441448" y="2331720"/>
            <a:ext cx="1417320" cy="868680"/>
          </a:xfrm>
          <a:prstGeom prst="roundRect">
            <a:avLst/>
          </a:prstGeom>
          <a:solidFill>
            <a:srgbClr val="EAF4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Q/K/V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3役へ変換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877056" y="2761488"/>
            <a:ext cx="329184" cy="0"/>
          </a:xfrm>
          <a:prstGeom prst="line">
            <a:avLst/>
          </a:prstGeom>
          <a:ln w="17780">
            <a:solidFill>
              <a:srgbClr val="AEBE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4315968" y="2331720"/>
            <a:ext cx="1417320" cy="868680"/>
          </a:xfrm>
          <a:prstGeom prst="roundRect">
            <a:avLst/>
          </a:prstGeom>
          <a:solidFill>
            <a:srgbClr val="EAF4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score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QK^T/sqrt(dk)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751576" y="2761488"/>
            <a:ext cx="329183" cy="0"/>
          </a:xfrm>
          <a:prstGeom prst="line">
            <a:avLst/>
          </a:prstGeom>
          <a:ln w="17780">
            <a:solidFill>
              <a:srgbClr val="AEBE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6190488" y="2331720"/>
            <a:ext cx="1417320" cy="868680"/>
          </a:xfrm>
          <a:prstGeom prst="roundRect">
            <a:avLst/>
          </a:prstGeom>
          <a:solidFill>
            <a:srgbClr val="EAF4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softmax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重み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626096" y="2761488"/>
            <a:ext cx="329183" cy="0"/>
          </a:xfrm>
          <a:prstGeom prst="line">
            <a:avLst/>
          </a:prstGeom>
          <a:ln w="17780">
            <a:solidFill>
              <a:srgbClr val="AEBE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8065007" y="2331720"/>
            <a:ext cx="1417320" cy="868680"/>
          </a:xfrm>
          <a:prstGeom prst="roundRect">
            <a:avLst/>
          </a:prstGeom>
          <a:solidFill>
            <a:srgbClr val="EAF4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output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weight@V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9500615" y="2761488"/>
            <a:ext cx="329184" cy="0"/>
          </a:xfrm>
          <a:prstGeom prst="line">
            <a:avLst/>
          </a:prstGeom>
          <a:ln w="17780">
            <a:solidFill>
              <a:srgbClr val="AEBE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9939528" y="2331720"/>
            <a:ext cx="1417320" cy="868680"/>
          </a:xfrm>
          <a:prstGeom prst="roundRect">
            <a:avLst/>
          </a:prstGeom>
          <a:solidFill>
            <a:srgbClr val="EAF4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concat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横に結合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14400" y="4251960"/>
            <a:ext cx="9966960" cy="822960"/>
          </a:xfrm>
          <a:prstGeom prst="roundRect">
            <a:avLst/>
          </a:prstGeom>
          <a:solidFill>
            <a:srgbClr val="EEF8F1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76749"/>
                </a:solidFill>
                <a:latin typeface="Yu Gothic"/>
              </a:rPr>
              <a:t>今回のポイント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Head 1とHead 2は同じ手順ですが、Wq/Wk/Wvが違うため出力も違います。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995160" y="6473952"/>
            <a:ext cx="48006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>
                <a:solidFill>
                  <a:srgbClr val="64748B"/>
                </a:solidFill>
                <a:latin typeface="Yu Gothic"/>
              </a:rPr>
              <a:t>Excelで体験する言語モデルのしくみ | 第5回 | 9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292608"/>
            <a:ext cx="1508760" cy="310896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2F6690"/>
                </a:solidFill>
                <a:latin typeface="Yu Gothic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800" b="1">
                <a:solidFill>
                  <a:srgbClr val="24324B"/>
                </a:solidFill>
                <a:latin typeface="Yu Gothic"/>
              </a:rPr>
              <a:t>入力データと表の見方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53312"/>
            <a:ext cx="105156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0">
                <a:solidFill>
                  <a:srgbClr val="475569"/>
                </a:solidFill>
                <a:latin typeface="Yu Gothic"/>
              </a:rPr>
              <a:t>第4回までに作った入力ベクトルXを、Attention計算に渡します。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847088"/>
            <a:ext cx="4754880" cy="960120"/>
          </a:xfrm>
          <a:prstGeom prst="roundRect">
            <a:avLst/>
          </a:prstGeom>
          <a:solidFill>
            <a:srgbClr val="FFFF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入力token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私 / は / りんご / を / 食べる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806440" y="1847088"/>
            <a:ext cx="4800600" cy="960120"/>
          </a:xfrm>
          <a:prstGeom prst="roundRect">
            <a:avLst/>
          </a:prstGeom>
          <a:solidFill>
            <a:srgbClr val="FFFF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入力X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5 token x 4次元。x0〜x3として表示します。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914400" y="3429000"/>
          <a:ext cx="9966960" cy="1234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7040880"/>
              </a:tblGrid>
              <a:tr h="30861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Yu Gothic"/>
                        </a:rPr>
                        <a:t>表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Yu Gothic"/>
                        </a:rPr>
                        <a:t>見ること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</a:tr>
              <a:tr h="30861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475569"/>
                          </a:solidFill>
                          <a:latin typeface="Yu Gothic"/>
                        </a:rPr>
                        <a:t>input_x_df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475569"/>
                          </a:solidFill>
                          <a:latin typeface="Yu Gothic"/>
                        </a:rPr>
                        <a:t>position / token / x0〜x3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0861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475569"/>
                          </a:solidFill>
                          <a:latin typeface="Yu Gothic"/>
                        </a:rPr>
                        <a:t>weights_head*_df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475569"/>
                          </a:solidFill>
                          <a:latin typeface="Yu Gothic"/>
                        </a:rPr>
                        <a:t>Wq/Wk/Wvの固定値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0861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475569"/>
                          </a:solidFill>
                          <a:latin typeface="Yu Gothic"/>
                        </a:rPr>
                        <a:t>focus_trace_df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475569"/>
                          </a:solidFill>
                          <a:latin typeface="Yu Gothic"/>
                        </a:rPr>
                        <a:t>食べるをqueryにした計算の流れ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914400" y="5257800"/>
            <a:ext cx="9966960" cy="594360"/>
          </a:xfrm>
          <a:prstGeom prst="roundRect">
            <a:avLst/>
          </a:prstGeom>
          <a:solidFill>
            <a:srgbClr val="FFF4CC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8A5A2B"/>
                </a:solidFill>
                <a:latin typeface="Yu Gothic"/>
              </a:rPr>
              <a:t>注意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ここでは出力projection Woは扱わず、concatまでに絞ります。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995160" y="6473952"/>
            <a:ext cx="48006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>
                <a:solidFill>
                  <a:srgbClr val="64748B"/>
                </a:solidFill>
                <a:latin typeface="Yu Gothic"/>
              </a:rPr>
              <a:t>Excelで体験する言語モデルのしくみ | 第5回 | 10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292608"/>
            <a:ext cx="1508760" cy="310896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2F6690"/>
                </a:solidFill>
                <a:latin typeface="Yu Gothic"/>
              </a:rPr>
              <a:t>RUNBOOK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800" b="1">
                <a:solidFill>
                  <a:srgbClr val="24324B"/>
                </a:solidFill>
                <a:latin typeface="Yu Gothic"/>
              </a:rPr>
              <a:t>デモ操作手順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53312"/>
            <a:ext cx="105156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0">
                <a:solidFill>
                  <a:srgbClr val="475569"/>
                </a:solidFill>
                <a:latin typeface="Yu Gothic"/>
              </a:rPr>
              <a:t>既定では、focus_trace_dfを返して計算の流れを追います。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691640"/>
            <a:ext cx="4800600" cy="502920"/>
          </a:xfrm>
          <a:prstGeom prst="roundRect">
            <a:avLst/>
          </a:prstGeom>
          <a:solidFill>
            <a:srgbClr val="FFFF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1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14_RUN_PYTHONシートを開く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35040" y="1691640"/>
            <a:ext cx="4800600" cy="502920"/>
          </a:xfrm>
          <a:prstGeom prst="roundRect">
            <a:avLst/>
          </a:prstGeom>
          <a:solidFill>
            <a:srgbClr val="FFFF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2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Pythonセルを作る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2514600"/>
            <a:ext cx="4800600" cy="502920"/>
          </a:xfrm>
          <a:prstGeom prst="roundRect">
            <a:avLst/>
          </a:prstGeom>
          <a:solidFill>
            <a:srgbClr val="FFFF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3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.pyコードを貼り付ける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35040" y="2514600"/>
            <a:ext cx="4800600" cy="502920"/>
          </a:xfrm>
          <a:prstGeom prst="roundRect">
            <a:avLst/>
          </a:prstGeom>
          <a:solidFill>
            <a:srgbClr val="FFFF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4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Ctrl + Enterで実行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3337560"/>
            <a:ext cx="4800600" cy="502920"/>
          </a:xfrm>
          <a:prstGeom prst="roundRect">
            <a:avLst/>
          </a:prstGeom>
          <a:solidFill>
            <a:srgbClr val="FFFF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5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focus_trace_dfを見る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035040" y="3337560"/>
            <a:ext cx="4800600" cy="502920"/>
          </a:xfrm>
          <a:prstGeom prst="roundRect">
            <a:avLst/>
          </a:prstGeom>
          <a:solidFill>
            <a:srgbClr val="FFFF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6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sectionをQ→K→V→score→softmax→output→concatの順に追う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4160520"/>
            <a:ext cx="4800600" cy="502920"/>
          </a:xfrm>
          <a:prstGeom prst="roundRect">
            <a:avLst/>
          </a:prstGeom>
          <a:solidFill>
            <a:srgbClr val="FFFF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7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必要ならpython_result_dfをconcat_dfに変える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35040" y="4160520"/>
            <a:ext cx="4800600" cy="502920"/>
          </a:xfrm>
          <a:prstGeom prst="roundRect">
            <a:avLst/>
          </a:prstGeom>
          <a:solidFill>
            <a:srgbClr val="FFFF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8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Head別の表に切り替えて再実行する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5440680"/>
            <a:ext cx="9966960" cy="566928"/>
          </a:xfrm>
          <a:prstGeom prst="roundRect">
            <a:avLst/>
          </a:prstGeom>
          <a:solidFill>
            <a:srgbClr val="FFF4CC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8A5A2B"/>
                </a:solidFill>
                <a:latin typeface="Yu Gothic"/>
              </a:rPr>
              <a:t>重要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最後の `python_result_df = ...` を変えると、表示するDataFrameを切り替えられます。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995160" y="6473952"/>
            <a:ext cx="48006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>
                <a:solidFill>
                  <a:srgbClr val="64748B"/>
                </a:solidFill>
                <a:latin typeface="Yu Gothic"/>
              </a:rPr>
              <a:t>Excelで体験する言語モデルのしくみ | 第5回 | 11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292608"/>
            <a:ext cx="1508760" cy="310896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2F6690"/>
                </a:solidFill>
                <a:latin typeface="Yu Gothic"/>
              </a:rPr>
              <a:t>DISPLAY MODES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800" b="1">
                <a:solidFill>
                  <a:srgbClr val="24324B"/>
                </a:solidFill>
                <a:latin typeface="Yu Gothic"/>
              </a:rPr>
              <a:t>表示表・列・変数の見方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53312"/>
            <a:ext cx="105156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0">
                <a:solidFill>
                  <a:srgbClr val="475569"/>
                </a:solidFill>
                <a:latin typeface="Yu Gothic"/>
              </a:rPr>
              <a:t>第5回は、コード末尾のpython_result_dfを切り替えて確認します。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77240" y="1755648"/>
          <a:ext cx="10607040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71800"/>
                <a:gridCol w="7635240"/>
              </a:tblGrid>
              <a:tr h="496388">
                <a:tc>
                  <a:txBody>
                    <a:bodyPr/>
                    <a:lstStyle/>
                    <a:p>
                      <a:pPr algn="ctr"/>
                      <a:r>
                        <a:rPr sz="1010" b="1">
                          <a:solidFill>
                            <a:srgbClr val="FFFFFF"/>
                          </a:solidFill>
                          <a:latin typeface="Yu Gothic"/>
                        </a:rPr>
                        <a:t>表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10" b="1">
                          <a:solidFill>
                            <a:srgbClr val="FFFFFF"/>
                          </a:solidFill>
                          <a:latin typeface="Yu Gothic"/>
                        </a:rPr>
                        <a:t>見る列・変数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</a:tr>
              <a:tr h="496388">
                <a:tc>
                  <a:txBody>
                    <a:bodyPr/>
                    <a:lstStyle/>
                    <a:p>
                      <a:pPr algn="ctr"/>
                      <a:r>
                        <a:rPr sz="1010">
                          <a:solidFill>
                            <a:srgbClr val="475569"/>
                          </a:solidFill>
                          <a:latin typeface="Yu Gothic"/>
                        </a:rPr>
                        <a:t>focus_trace_df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10">
                          <a:solidFill>
                            <a:srgbClr val="475569"/>
                          </a:solidFill>
                          <a:latin typeface="Yu Gothic"/>
                        </a:rPr>
                        <a:t>section / head / query / key / value / formula。既定表示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96388">
                <a:tc>
                  <a:txBody>
                    <a:bodyPr/>
                    <a:lstStyle/>
                    <a:p>
                      <a:pPr algn="ctr"/>
                      <a:r>
                        <a:rPr sz="1010">
                          <a:solidFill>
                            <a:srgbClr val="475569"/>
                          </a:solidFill>
                          <a:latin typeface="Yu Gothic"/>
                        </a:rPr>
                        <a:t>concat_df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10">
                          <a:solidFill>
                            <a:srgbClr val="475569"/>
                          </a:solidFill>
                          <a:latin typeface="Yu Gothic"/>
                        </a:rPr>
                        <a:t>position / token / head1_0〜head2_1 / concat_vector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96388">
                <a:tc>
                  <a:txBody>
                    <a:bodyPr/>
                    <a:lstStyle/>
                    <a:p>
                      <a:pPr algn="ctr"/>
                      <a:r>
                        <a:rPr sz="1010">
                          <a:solidFill>
                            <a:srgbClr val="475569"/>
                          </a:solidFill>
                          <a:latin typeface="Yu Gothic"/>
                        </a:rPr>
                        <a:t>qkv_head1_df / qkv_head2_df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10">
                          <a:solidFill>
                            <a:srgbClr val="475569"/>
                          </a:solidFill>
                          <a:latin typeface="Yu Gothic"/>
                        </a:rPr>
                        <a:t>kind / position / token / dim_0 / dim_1 / formula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96388">
                <a:tc>
                  <a:txBody>
                    <a:bodyPr/>
                    <a:lstStyle/>
                    <a:p>
                      <a:pPr algn="ctr"/>
                      <a:r>
                        <a:rPr sz="1010">
                          <a:solidFill>
                            <a:srgbClr val="475569"/>
                          </a:solidFill>
                          <a:latin typeface="Yu Gothic"/>
                        </a:rPr>
                        <a:t>score_head*_df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10">
                          <a:solidFill>
                            <a:srgbClr val="475569"/>
                          </a:solidFill>
                          <a:latin typeface="Yu Gothic"/>
                        </a:rPr>
                        <a:t>query_token / key_token / dot / score / formula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96388">
                <a:tc>
                  <a:txBody>
                    <a:bodyPr/>
                    <a:lstStyle/>
                    <a:p>
                      <a:pPr algn="ctr"/>
                      <a:r>
                        <a:rPr sz="1010">
                          <a:solidFill>
                            <a:srgbClr val="475569"/>
                          </a:solidFill>
                          <a:latin typeface="Yu Gothic"/>
                        </a:rPr>
                        <a:t>softmax_head*_df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10">
                          <a:solidFill>
                            <a:srgbClr val="475569"/>
                          </a:solidFill>
                          <a:latin typeface="Yu Gothic"/>
                        </a:rPr>
                        <a:t>score / exp_score / attention_weight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96392">
                <a:tc>
                  <a:txBody>
                    <a:bodyPr/>
                    <a:lstStyle/>
                    <a:p>
                      <a:pPr algn="ctr"/>
                      <a:r>
                        <a:rPr sz="1010">
                          <a:solidFill>
                            <a:srgbClr val="475569"/>
                          </a:solidFill>
                          <a:latin typeface="Yu Gothic"/>
                        </a:rPr>
                        <a:t>output_head*_df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10">
                          <a:solidFill>
                            <a:srgbClr val="475569"/>
                          </a:solidFill>
                          <a:latin typeface="Yu Gothic"/>
                        </a:rPr>
                        <a:t>position / token / out_0 / out_1 / formula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777240" y="5532120"/>
            <a:ext cx="10607040" cy="502920"/>
          </a:xfrm>
          <a:prstGeom prst="roundRect">
            <a:avLst/>
          </a:prstGeom>
          <a:solidFill>
            <a:srgbClr val="EEF8F1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76749"/>
                </a:solidFill>
                <a:latin typeface="Yu Gothic"/>
              </a:rPr>
              <a:t>最初に見る表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focus_trace_df。query token「食べる」の計算を、Head 1とHead 2で追います。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995160" y="6473952"/>
            <a:ext cx="48006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>
                <a:solidFill>
                  <a:srgbClr val="64748B"/>
                </a:solidFill>
                <a:latin typeface="Yu Gothic"/>
              </a:rPr>
              <a:t>Excelで体験する言語モデルのしくみ | 第5回 | 12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292608"/>
            <a:ext cx="1508760" cy="310896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2F6690"/>
                </a:solidFill>
                <a:latin typeface="Yu Gothic"/>
              </a:rPr>
              <a:t>HOW TO READ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800" b="1">
                <a:solidFill>
                  <a:srgbClr val="24324B"/>
                </a:solidFill>
                <a:latin typeface="Yu Gothic"/>
              </a:rPr>
              <a:t>表の読み方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53312"/>
            <a:ext cx="105156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0">
                <a:solidFill>
                  <a:srgbClr val="475569"/>
                </a:solidFill>
                <a:latin typeface="Yu Gothic"/>
              </a:rPr>
              <a:t>focus_trace_dfは、1つのquery tokenをsection順に追う表です。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822960" y="1783080"/>
          <a:ext cx="1046988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4069080"/>
                <a:gridCol w="4389120"/>
              </a:tblGrid>
              <a:tr h="402336">
                <a:tc>
                  <a:txBody>
                    <a:bodyPr/>
                    <a:lstStyle/>
                    <a:p>
                      <a:pPr algn="ctr"/>
                      <a:r>
                        <a:rPr sz="1019" b="1">
                          <a:solidFill>
                            <a:srgbClr val="FFFFFF"/>
                          </a:solidFill>
                          <a:latin typeface="Yu Gothic"/>
                        </a:rPr>
                        <a:t>section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19" b="1">
                          <a:solidFill>
                            <a:srgbClr val="FFFFFF"/>
                          </a:solidFill>
                          <a:latin typeface="Yu Gothic"/>
                        </a:rPr>
                        <a:t>見ること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19" b="1">
                          <a:solidFill>
                            <a:srgbClr val="FFFFFF"/>
                          </a:solidFill>
                          <a:latin typeface="Yu Gothic"/>
                        </a:rPr>
                        <a:t>例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/>
                      <a:r>
                        <a:rPr sz="1019">
                          <a:solidFill>
                            <a:srgbClr val="475569"/>
                          </a:solidFill>
                          <a:latin typeface="Yu Gothic"/>
                        </a:rPr>
                        <a:t>Q/K/V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19">
                          <a:solidFill>
                            <a:srgbClr val="475569"/>
                          </a:solidFill>
                          <a:latin typeface="Yu Gothic"/>
                        </a:rPr>
                        <a:t>入力Xから作ったベクトル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19">
                          <a:solidFill>
                            <a:srgbClr val="475569"/>
                          </a:solidFill>
                          <a:latin typeface="Yu Gothic"/>
                        </a:rPr>
                        <a:t>Q[4]=X[4]@Wq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/>
                      <a:r>
                        <a:rPr sz="1019">
                          <a:solidFill>
                            <a:srgbClr val="475569"/>
                          </a:solidFill>
                          <a:latin typeface="Yu Gothic"/>
                        </a:rPr>
                        <a:t>score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19">
                          <a:solidFill>
                            <a:srgbClr val="475569"/>
                          </a:solidFill>
                          <a:latin typeface="Yu Gothic"/>
                        </a:rPr>
                        <a:t>queryとkeyの組み合わせ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19">
                          <a:solidFill>
                            <a:srgbClr val="475569"/>
                          </a:solidFill>
                          <a:latin typeface="Yu Gothic"/>
                        </a:rPr>
                        <a:t>Q[4]・K[j]/sqrt(2)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/>
                      <a:r>
                        <a:rPr sz="1019">
                          <a:solidFill>
                            <a:srgbClr val="475569"/>
                          </a:solidFill>
                          <a:latin typeface="Yu Gothic"/>
                        </a:rPr>
                        <a:t>softmax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19">
                          <a:solidFill>
                            <a:srgbClr val="475569"/>
                          </a:solidFill>
                          <a:latin typeface="Yu Gothic"/>
                        </a:rPr>
                        <a:t>keyごとのattention_weight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19">
                          <a:solidFill>
                            <a:srgbClr val="475569"/>
                          </a:solidFill>
                          <a:latin typeface="Yu Gothic"/>
                        </a:rPr>
                        <a:t>exp(score)/sum(row)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/>
                      <a:r>
                        <a:rPr sz="1019">
                          <a:solidFill>
                            <a:srgbClr val="475569"/>
                          </a:solidFill>
                          <a:latin typeface="Yu Gothic"/>
                        </a:rPr>
                        <a:t>output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19">
                          <a:solidFill>
                            <a:srgbClr val="475569"/>
                          </a:solidFill>
                          <a:latin typeface="Yu Gothic"/>
                        </a:rPr>
                        <a:t>weight row@V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19">
                          <a:solidFill>
                            <a:srgbClr val="475569"/>
                          </a:solidFill>
                          <a:latin typeface="Yu Gothic"/>
                        </a:rPr>
                        <a:t>Headごとの出力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868680" y="4343400"/>
            <a:ext cx="4800600" cy="914400"/>
          </a:xfrm>
          <a:prstGeom prst="roundRect">
            <a:avLst/>
          </a:prstGeom>
          <a:solidFill>
            <a:srgbClr val="FFFF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読み方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sectionを上から追うと、Q/K/Vからoutputまでの計算順が分かります。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89320" y="4343400"/>
            <a:ext cx="4800600" cy="914400"/>
          </a:xfrm>
          <a:prstGeom prst="roundRect">
            <a:avLst/>
          </a:prstGeom>
          <a:solidFill>
            <a:srgbClr val="EEF8F1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76749"/>
                </a:solidFill>
                <a:latin typeface="Yu Gothic"/>
              </a:rPr>
              <a:t>観察ポイント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同じquery「食べる」でも、Headごとにvalueやweightが変わります。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995160" y="6473952"/>
            <a:ext cx="48006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>
                <a:solidFill>
                  <a:srgbClr val="64748B"/>
                </a:solidFill>
                <a:latin typeface="Yu Gothic"/>
              </a:rPr>
              <a:t>Excelで体験する言語モデルのしくみ | 第5回 | 13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292608"/>
            <a:ext cx="1508760" cy="310896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2F6690"/>
                </a:solidFill>
                <a:latin typeface="Yu Gothic"/>
              </a:rPr>
              <a:t>HOW TO READ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800" b="1">
                <a:solidFill>
                  <a:srgbClr val="24324B"/>
                </a:solidFill>
                <a:latin typeface="Yu Gothic"/>
              </a:rPr>
              <a:t>表の読み方 2: 具体例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53312"/>
            <a:ext cx="105156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0">
                <a:solidFill>
                  <a:srgbClr val="475569"/>
                </a:solidFill>
                <a:latin typeface="Yu Gothic"/>
              </a:rPr>
              <a:t>softmaxとconcatを見ると、Headごとの差と結合の意味が分かります。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77240" y="1828800"/>
          <a:ext cx="10698479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4389120"/>
                <a:gridCol w="3749039"/>
              </a:tblGrid>
              <a:tr h="480060"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Yu Gothic"/>
                        </a:rPr>
                        <a:t>見る表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Yu Gothic"/>
                        </a:rPr>
                        <a:t>見るところ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Yu Gothic"/>
                        </a:rPr>
                        <a:t>分かること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475569"/>
                          </a:solidFill>
                          <a:latin typeface="Yu Gothic"/>
                        </a:rPr>
                        <a:t>softmax_head*_df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475569"/>
                          </a:solidFill>
                          <a:latin typeface="Yu Gothic"/>
                        </a:rPr>
                        <a:t>query_token / key_token / attention_weight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475569"/>
                          </a:solidFill>
                          <a:latin typeface="Yu Gothic"/>
                        </a:rPr>
                        <a:t>どのkeyをどれくらい見たか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475569"/>
                          </a:solidFill>
                          <a:latin typeface="Yu Gothic"/>
                        </a:rPr>
                        <a:t>output_head*_df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475569"/>
                          </a:solidFill>
                          <a:latin typeface="Yu Gothic"/>
                        </a:rPr>
                        <a:t>out_0 / out_1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475569"/>
                          </a:solidFill>
                          <a:latin typeface="Yu Gothic"/>
                        </a:rPr>
                        <a:t>Headごとの出力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475569"/>
                          </a:solidFill>
                          <a:latin typeface="Yu Gothic"/>
                        </a:rPr>
                        <a:t>concat_df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475569"/>
                          </a:solidFill>
                          <a:latin typeface="Yu Gothic"/>
                        </a:rPr>
                        <a:t>concat_vector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475569"/>
                          </a:solidFill>
                          <a:latin typeface="Yu Gothic"/>
                        </a:rPr>
                        <a:t>Head出力を横につなげた結果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914400" y="4389120"/>
            <a:ext cx="9966960" cy="822960"/>
          </a:xfrm>
          <a:prstGeom prst="roundRect">
            <a:avLst/>
          </a:prstGeom>
          <a:solidFill>
            <a:srgbClr val="EEF8F1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76749"/>
                </a:solidFill>
                <a:latin typeface="Yu Gothic"/>
              </a:rPr>
              <a:t>おすすめの確認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concat_dfで、Head 1 outputとHead 2 outputが足し算ではなく横結合されていることを確認します。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995160" y="6473952"/>
            <a:ext cx="48006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>
                <a:solidFill>
                  <a:srgbClr val="64748B"/>
                </a:solidFill>
                <a:latin typeface="Yu Gothic"/>
              </a:rPr>
              <a:t>Excelで体験する言語モデルのしくみ | 第5回 | 14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292608"/>
            <a:ext cx="1508760" cy="310896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2F6690"/>
                </a:solidFill>
                <a:latin typeface="Yu Gothic"/>
              </a:rPr>
              <a:t>CONNECTION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800" b="1">
                <a:solidFill>
                  <a:srgbClr val="24324B"/>
                </a:solidFill>
                <a:latin typeface="Yu Gothic"/>
              </a:rPr>
              <a:t>前回・次回との接続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53312"/>
            <a:ext cx="105156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0">
                <a:solidFill>
                  <a:srgbClr val="475569"/>
                </a:solidFill>
                <a:latin typeface="Yu Gothic"/>
              </a:rPr>
              <a:t>第4回で作った入力ベクトルを、今回はQ/K/Vに変換します。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828800"/>
            <a:ext cx="3063240" cy="1143000"/>
          </a:xfrm>
          <a:prstGeom prst="roundRect">
            <a:avLst/>
          </a:prstGeom>
          <a:solidFill>
            <a:srgbClr val="FFFF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第4回 Positional Encoding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意味と順番を足した入力Xを作った。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977639" y="2423160"/>
            <a:ext cx="640081" cy="0"/>
          </a:xfrm>
          <a:prstGeom prst="line">
            <a:avLst/>
          </a:prstGeom>
          <a:ln w="17780">
            <a:solidFill>
              <a:srgbClr val="AEBE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617720" y="1828800"/>
            <a:ext cx="3063240" cy="1143000"/>
          </a:xfrm>
          <a:prstGeom prst="roundRect">
            <a:avLst/>
          </a:prstGeom>
          <a:solidFill>
            <a:srgbClr val="EEF8F1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76749"/>
                </a:solidFill>
                <a:latin typeface="Yu Gothic"/>
              </a:rPr>
              <a:t>第5回 Multi-Head Attention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Q/K/V、score、softmax、concatを追う。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0" y="2423160"/>
            <a:ext cx="640080" cy="0"/>
          </a:xfrm>
          <a:prstGeom prst="line">
            <a:avLst/>
          </a:prstGeom>
          <a:ln w="17780">
            <a:solidFill>
              <a:srgbClr val="AEBE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8412480" y="1828800"/>
            <a:ext cx="2651760" cy="1143000"/>
          </a:xfrm>
          <a:prstGeom prst="roundRect">
            <a:avLst/>
          </a:prstGeom>
          <a:solidFill>
            <a:srgbClr val="EAF4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第6回 Transformer Block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AttentionとFFNを積み重ねる。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14400" y="4251960"/>
            <a:ext cx="9966960" cy="868680"/>
          </a:xfrm>
          <a:prstGeom prst="roundRect">
            <a:avLst/>
          </a:prstGeom>
          <a:solidFill>
            <a:srgbClr val="EEF8F1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76749"/>
                </a:solidFill>
                <a:latin typeface="Yu Gothic"/>
              </a:rPr>
              <a:t>つながり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次回は、今回のAttention出力をResidual、LayerNorm、FFNとつなげてBlockとして見ます。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995160" y="6473952"/>
            <a:ext cx="48006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>
                <a:solidFill>
                  <a:srgbClr val="64748B"/>
                </a:solidFill>
                <a:latin typeface="Yu Gothic"/>
              </a:rPr>
              <a:t>Excelで体験する言語モデルのしくみ | 第5回 | 15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292608"/>
            <a:ext cx="1508760" cy="310896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2F6690"/>
                </a:solidFill>
                <a:latin typeface="Yu Gothic"/>
              </a:rPr>
              <a:t>LIMITATION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800" b="1">
                <a:solidFill>
                  <a:srgbClr val="24324B"/>
                </a:solidFill>
                <a:latin typeface="Yu Gothic"/>
              </a:rPr>
              <a:t>実LLMとの差分と未扱い範囲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53312"/>
            <a:ext cx="105156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0">
                <a:solidFill>
                  <a:srgbClr val="475569"/>
                </a:solidFill>
                <a:latin typeface="Yu Gothic"/>
              </a:rPr>
              <a:t>今回は計算手順を優先し、範囲を広げすぎません。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822960" y="1783080"/>
          <a:ext cx="10424159" cy="2971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8880"/>
                <a:gridCol w="7955279"/>
              </a:tblGrid>
              <a:tr h="4953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Yu Gothic"/>
                        </a:rPr>
                        <a:t>項目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Yu Gothic"/>
                        </a:rPr>
                        <a:t>この回での扱い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475569"/>
                          </a:solidFill>
                          <a:latin typeface="Yu Gothic"/>
                        </a:rPr>
                        <a:t>重み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475569"/>
                          </a:solidFill>
                          <a:latin typeface="Yu Gothic"/>
                        </a:rPr>
                        <a:t>学習済みではなく教材用Wq/Wk/Wvを使う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475569"/>
                          </a:solidFill>
                          <a:latin typeface="Yu Gothic"/>
                        </a:rPr>
                        <a:t>Head数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475569"/>
                          </a:solidFill>
                          <a:latin typeface="Yu Gothic"/>
                        </a:rPr>
                        <a:t>2 Headだけ。実LLMより小さい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475569"/>
                          </a:solidFill>
                          <a:latin typeface="Yu Gothic"/>
                        </a:rPr>
                        <a:t>出力projection Wo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475569"/>
                          </a:solidFill>
                          <a:latin typeface="Yu Gothic"/>
                        </a:rPr>
                        <a:t>未扱い。concatまでに絞る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475569"/>
                          </a:solidFill>
                          <a:latin typeface="Yu Gothic"/>
                        </a:rPr>
                        <a:t>mask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475569"/>
                          </a:solidFill>
                          <a:latin typeface="Yu Gothic"/>
                        </a:rPr>
                        <a:t>未扱い。生成時の未来tokenマスクは扱わない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475569"/>
                          </a:solidFill>
                          <a:latin typeface="Yu Gothic"/>
                        </a:rPr>
                        <a:t>Block部品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475569"/>
                          </a:solidFill>
                          <a:latin typeface="Yu Gothic"/>
                        </a:rPr>
                        <a:t>Residual、LayerNorm、FFNは第6回で扱う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822960" y="5212080"/>
            <a:ext cx="10424160" cy="548640"/>
          </a:xfrm>
          <a:prstGeom prst="roundRect">
            <a:avLst/>
          </a:prstGeom>
          <a:solidFill>
            <a:srgbClr val="FFF4CC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8A5A2B"/>
                </a:solidFill>
                <a:latin typeface="Yu Gothic"/>
              </a:rPr>
              <a:t>安全注記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コード自体は外部APIにアクセスしませんが、Python in Excelの実行環境はMicrosoft Cloud上です。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995160" y="6473952"/>
            <a:ext cx="48006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>
                <a:solidFill>
                  <a:srgbClr val="64748B"/>
                </a:solidFill>
                <a:latin typeface="Yu Gothic"/>
              </a:rPr>
              <a:t>Excelで体験する言語モデルのしくみ | 第5回 | 16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292608"/>
            <a:ext cx="1508760" cy="310896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2F6690"/>
                </a:solidFill>
                <a:latin typeface="Yu Gothic"/>
              </a:rPr>
              <a:t>WRAP-UP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800" b="1">
                <a:solidFill>
                  <a:srgbClr val="24324B"/>
                </a:solidFill>
                <a:latin typeface="Yu Gothic"/>
              </a:rPr>
              <a:t>まとめと次回導線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53312"/>
            <a:ext cx="105156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0">
                <a:solidFill>
                  <a:srgbClr val="475569"/>
                </a:solidFill>
                <a:latin typeface="Yu Gothic"/>
              </a:rPr>
              <a:t>第5回では、Multi-Head Attentionを計算手順として追いました。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68680" y="1828800"/>
            <a:ext cx="2971800" cy="1051560"/>
          </a:xfrm>
          <a:prstGeom prst="roundRect">
            <a:avLst/>
          </a:prstGeom>
          <a:solidFill>
            <a:srgbClr val="EEF8F1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76749"/>
                </a:solidFill>
                <a:latin typeface="Yu Gothic"/>
              </a:rPr>
              <a:t>分かったこと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XからQ/K/Vを作り、score、softmax、outputへ進みます。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43400" y="1828800"/>
            <a:ext cx="2971800" cy="1051560"/>
          </a:xfrm>
          <a:prstGeom prst="roundRect">
            <a:avLst/>
          </a:prstGeom>
          <a:solidFill>
            <a:srgbClr val="EEF8F1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76749"/>
                </a:solidFill>
                <a:latin typeface="Yu Gothic"/>
              </a:rPr>
              <a:t>Excelで見る場所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focus_trace_dfとconcat_dfで、計算の流れと結合を確認します。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818120" y="1828800"/>
            <a:ext cx="2971800" cy="1051560"/>
          </a:xfrm>
          <a:prstGeom prst="roundRect">
            <a:avLst/>
          </a:prstGeom>
          <a:solidFill>
            <a:srgbClr val="FFF4CC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8A5A2B"/>
                </a:solidFill>
                <a:latin typeface="Yu Gothic"/>
              </a:rPr>
              <a:t>限界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出力projection WoやTransformer Block全体は未扱いです。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51560" y="4251960"/>
            <a:ext cx="9784080" cy="868680"/>
          </a:xfrm>
          <a:prstGeom prst="roundRect">
            <a:avLst/>
          </a:prstGeom>
          <a:solidFill>
            <a:srgbClr val="EAF4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91440" bIns="73152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次回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第6回 Transformer Blockでは、AttentionとFFNをResidualやLayerNormと組み合わせます。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292608"/>
            <a:ext cx="1508760" cy="310896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2F6690"/>
                </a:solidFill>
                <a:latin typeface="Yu Gothic"/>
              </a:rPr>
              <a:t>GLOSSARY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86384"/>
            <a:ext cx="108813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800" b="1">
                <a:solidFill>
                  <a:srgbClr val="24324B"/>
                </a:solidFill>
                <a:latin typeface="Yu Gothic"/>
              </a:rPr>
              <a:t>第5回 Multi-Head Attention 用語集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353312"/>
            <a:ext cx="105156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0">
                <a:solidFill>
                  <a:srgbClr val="475569"/>
                </a:solidFill>
                <a:latin typeface="Yu Gothic"/>
              </a:rPr>
              <a:t>Q/K/Vからconcatまでの計算を読むための用語を整理します。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22960" y="1755648"/>
          <a:ext cx="10607040" cy="3611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7863840"/>
              </a:tblGrid>
              <a:tr h="515982"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Yu Gothic"/>
                        </a:rPr>
                        <a:t>用語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Yu Gothic"/>
                        </a:rPr>
                        <a:t>説明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</a:tr>
              <a:tr h="515982">
                <a:tc>
                  <a:txBody>
                    <a:bodyPr/>
                    <a:lstStyle/>
                    <a:p>
                      <a:pPr algn="ctr"/>
                      <a:r>
                        <a:rPr sz="980" b="1">
                          <a:solidFill>
                            <a:srgbClr val="475569"/>
                          </a:solidFill>
                          <a:latin typeface="Yu Gothic"/>
                        </a:rPr>
                        <a:t>Head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40" b="0">
                          <a:solidFill>
                            <a:srgbClr val="475569"/>
                          </a:solidFill>
                          <a:latin typeface="Yu Gothic"/>
                        </a:rPr>
                        <a:t>同じ入力Xを、別のWq/Wk/Wvで見る計算単位です。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15982">
                <a:tc>
                  <a:txBody>
                    <a:bodyPr/>
                    <a:lstStyle/>
                    <a:p>
                      <a:pPr algn="ctr"/>
                      <a:r>
                        <a:rPr sz="980" b="1">
                          <a:solidFill>
                            <a:srgbClr val="475569"/>
                          </a:solidFill>
                          <a:latin typeface="Yu Gothic"/>
                        </a:rPr>
                        <a:t>Wq / Wk / Wv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40" b="0">
                          <a:solidFill>
                            <a:srgbClr val="475569"/>
                          </a:solidFill>
                          <a:latin typeface="Yu Gothic"/>
                        </a:rPr>
                        <a:t>入力XからQ、K、Vを作るための重み行列です。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15982">
                <a:tc>
                  <a:txBody>
                    <a:bodyPr/>
                    <a:lstStyle/>
                    <a:p>
                      <a:pPr algn="ctr"/>
                      <a:r>
                        <a:rPr sz="980" b="1">
                          <a:solidFill>
                            <a:srgbClr val="475569"/>
                          </a:solidFill>
                          <a:latin typeface="Yu Gothic"/>
                        </a:rPr>
                        <a:t>score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40" b="0">
                          <a:solidFill>
                            <a:srgbClr val="475569"/>
                          </a:solidFill>
                          <a:latin typeface="Yu Gothic"/>
                        </a:rPr>
                        <a:t>QとKの内積をsqrt(d_k)で割った値です。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15982">
                <a:tc>
                  <a:txBody>
                    <a:bodyPr/>
                    <a:lstStyle/>
                    <a:p>
                      <a:pPr algn="ctr"/>
                      <a:r>
                        <a:rPr sz="980" b="1">
                          <a:solidFill>
                            <a:srgbClr val="475569"/>
                          </a:solidFill>
                          <a:latin typeface="Yu Gothic"/>
                        </a:rPr>
                        <a:t>softmax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40" b="0">
                          <a:solidFill>
                            <a:srgbClr val="475569"/>
                          </a:solidFill>
                          <a:latin typeface="Yu Gothic"/>
                        </a:rPr>
                        <a:t>scoreを行ごとのattention_weightに変える処理です。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15982">
                <a:tc>
                  <a:txBody>
                    <a:bodyPr/>
                    <a:lstStyle/>
                    <a:p>
                      <a:pPr algn="ctr"/>
                      <a:r>
                        <a:rPr sz="980" b="1">
                          <a:solidFill>
                            <a:srgbClr val="475569"/>
                          </a:solidFill>
                          <a:latin typeface="Yu Gothic"/>
                        </a:rPr>
                        <a:t>output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40" b="0">
                          <a:solidFill>
                            <a:srgbClr val="475569"/>
                          </a:solidFill>
                          <a:latin typeface="Yu Gothic"/>
                        </a:rPr>
                        <a:t>attention_weight @ Vで作るHeadごとの出力です。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15988">
                <a:tc>
                  <a:txBody>
                    <a:bodyPr/>
                    <a:lstStyle/>
                    <a:p>
                      <a:pPr algn="ctr"/>
                      <a:r>
                        <a:rPr sz="980" b="1">
                          <a:solidFill>
                            <a:srgbClr val="475569"/>
                          </a:solidFill>
                          <a:latin typeface="Yu Gothic"/>
                        </a:rPr>
                        <a:t>concat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40" b="0">
                          <a:solidFill>
                            <a:srgbClr val="475569"/>
                          </a:solidFill>
                          <a:latin typeface="Yu Gothic"/>
                        </a:rPr>
                        <a:t>Headごとのoutputを横に並べる操作です。足し算ではありません。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822960" y="5650992"/>
            <a:ext cx="10607040" cy="530352"/>
          </a:xfrm>
          <a:prstGeom prst="roundRect">
            <a:avLst/>
          </a:prstGeom>
          <a:solidFill>
            <a:srgbClr val="EEF8F1"/>
          </a:solidFill>
          <a:ln>
            <a:solidFill>
              <a:srgbClr val="C4E0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/>
          <a:lstStyle/>
          <a:p>
            <a:pPr algn="ctr"/>
            <a:r>
              <a:rPr sz="1200" b="1">
                <a:solidFill>
                  <a:srgbClr val="276749"/>
                </a:solidFill>
                <a:latin typeface="Yu Gothic"/>
              </a:rPr>
              <a:t>第5回では、出力projection Woは扱わず、concatまでを確認します。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95160" y="6473952"/>
            <a:ext cx="48006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>
                <a:solidFill>
                  <a:srgbClr val="64748B"/>
                </a:solidFill>
                <a:latin typeface="Yu Gothic"/>
              </a:rPr>
              <a:t>Excelで体験する言語モデルのしくみ | 第5回 | 17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