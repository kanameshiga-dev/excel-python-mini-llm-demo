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TITLE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r"/>
            <a:r>
              <a:rPr sz="850" b="0">
                <a:solidFill>
                  <a:srgbClr val="526279"/>
                </a:solidFill>
                <a:latin typeface="Yu Gothic"/>
              </a:rPr>
              <a:t>Excelで体験する言語モデルのしくみ | 第10回 |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6949440" cy="59436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500" b="1">
                <a:solidFill>
                  <a:srgbClr val="24324B"/>
                </a:solidFill>
                <a:latin typeface="Yu Gothic"/>
              </a:rPr>
              <a:t>Excelで体験する 言語モデルのしくみ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36192"/>
            <a:ext cx="6217920" cy="47548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300" b="1">
                <a:solidFill>
                  <a:srgbClr val="2F6690"/>
                </a:solidFill>
                <a:latin typeface="Yu Gothic"/>
              </a:rPr>
              <a:t>第10回 RAG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48840"/>
            <a:ext cx="5806440" cy="73152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Yu Gothic"/>
              </a:rPr>
              <a:t>内部計算だけでなく、外部情報を検索して回答に渡します。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182112"/>
            <a:ext cx="4937760" cy="1097280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今回の狙い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重みを更新せず、外部情報を参照して回答を補う考え方を整理します。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377440"/>
            <a:ext cx="1417320" cy="713232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Query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28431" y="2377440"/>
            <a:ext cx="1417320" cy="713232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retrieve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710928" y="2377440"/>
            <a:ext cx="1417320" cy="713232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top context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0" y="3730752"/>
            <a:ext cx="3520440" cy="804672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answer draft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次の確認表へ渡す値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9659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SERIES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r"/>
            <a:r>
              <a:rPr sz="850" b="0">
                <a:solidFill>
                  <a:srgbClr val="526279"/>
                </a:solidFill>
                <a:latin typeface="Yu Gothic"/>
              </a:rPr>
              <a:t>Excelで体験する言語モデルのしくみ | 第10回 |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300" b="1">
                <a:solidFill>
                  <a:srgbClr val="1F2A44"/>
                </a:solidFill>
                <a:latin typeface="Yu Gothic"/>
              </a:rPr>
              <a:t>全10回の中の位置づけ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400" b="0">
                <a:solidFill>
                  <a:srgbClr val="526279"/>
                </a:solidFill>
                <a:latin typeface="Yu Gothic"/>
              </a:rPr>
              <a:t>Query、retrieval score、top context、answer draftの流れをExcelで確認します。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83080"/>
            <a:ext cx="5074920" cy="512064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第1回 n-gram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直前の並びから次を考える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783080"/>
            <a:ext cx="5074920" cy="512064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第2回 Self-Attention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文全体のどこを見るかを重みで見る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496312"/>
            <a:ext cx="5074920" cy="512064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第3回 Embedding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tokenを数値ベクトルにする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496312"/>
            <a:ext cx="5074920" cy="512064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第4回 Positional Encoding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tokenの順番を数値で足す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209544"/>
            <a:ext cx="5074920" cy="512064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第5回 Multi-Head Attention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複数の見方を同時に走らせる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209544"/>
            <a:ext cx="5074920" cy="512064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第6回 Transformer Block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AttentionとFFNをつなぐ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922776"/>
            <a:ext cx="5074920" cy="512064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第7回 Softmaxと生成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確率から次tokenを選ぶ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922776"/>
            <a:ext cx="5074920" cy="512064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第8回 Lossと学習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予測のズレを数値にする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636008"/>
            <a:ext cx="5074920" cy="512064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第9回 Backpropagation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ズレを重みに戻す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4636008"/>
            <a:ext cx="5074920" cy="512064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第10回 RAG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外部情報を参照して答える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5559552"/>
            <a:ext cx="9875520" cy="594360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第10回の到達点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重みを更新せず、外部情報を参照して回答を補う考え方を整理します。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GOAL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r"/>
            <a:r>
              <a:rPr sz="850" b="0">
                <a:solidFill>
                  <a:srgbClr val="526279"/>
                </a:solidFill>
                <a:latin typeface="Yu Gothic"/>
              </a:rPr>
              <a:t>Excelで体験する言語モデルのしくみ | 第10回 |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300" b="1">
                <a:solidFill>
                  <a:srgbClr val="1F2A44"/>
                </a:solidFill>
                <a:latin typeface="Yu Gothic"/>
              </a:rPr>
              <a:t>今日のゴール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400" b="0">
                <a:solidFill>
                  <a:srgbClr val="526279"/>
                </a:solidFill>
                <a:latin typeface="Yu Gothic"/>
              </a:rPr>
              <a:t>Query、retrieval score、top context、answer draftの流れをExcelで確認します。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4663440" cy="114300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できるようになること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重みを更新せず、外部情報を参照して回答を補う考え方を整理します。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011680"/>
            <a:ext cx="4663440" cy="1143000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Excelで見るもの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入力、設定、返るDataFrameを対応づけます。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800600"/>
            <a:ext cx="9966960" cy="685800"/>
          </a:xfrm>
          <a:prstGeom prst="roundRect">
            <a:avLst/>
          </a:prstGeom>
          <a:solidFill>
            <a:srgbClr val="FFF6CC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8E5B1C"/>
                </a:solidFill>
                <a:latin typeface="Yu Gothic"/>
              </a:rPr>
              <a:t>Excelで確認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入力値を変え、返る表の変化として確認します。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r"/>
            <a:r>
              <a:rPr sz="850" b="0">
                <a:solidFill>
                  <a:srgbClr val="526279"/>
                </a:solidFill>
                <a:latin typeface="Yu Gothic"/>
              </a:rPr>
              <a:t>Excelで体験する言語モデルのしくみ | 第10回 |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300" b="1">
                <a:solidFill>
                  <a:srgbClr val="1F2A44"/>
                </a:solidFill>
                <a:latin typeface="Yu Gothic"/>
              </a:rPr>
              <a:t>RAG の考え方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400" b="0">
                <a:solidFill>
                  <a:srgbClr val="526279"/>
                </a:solidFill>
                <a:latin typeface="Yu Gothic"/>
              </a:rPr>
              <a:t>内部計算だけでなく、外部情報を検索して回答に渡します。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4663440" cy="114300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見ること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Query、retrieval score、top context、answer draftの流れをExcelで確認します。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011680"/>
            <a:ext cx="4663440" cy="1143000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ポイント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重みを更新せず、外部情報を参照して回答を補う考え方を整理します。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800600"/>
            <a:ext cx="9966960" cy="685800"/>
          </a:xfrm>
          <a:prstGeom prst="roundRect">
            <a:avLst/>
          </a:prstGeom>
          <a:solidFill>
            <a:srgbClr val="FFF6CC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8E5B1C"/>
                </a:solidFill>
                <a:latin typeface="Yu Gothic"/>
              </a:rPr>
              <a:t>Excelで確認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入力値を変え、返る表の変化として確認します。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DEMO ASSET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r"/>
            <a:r>
              <a:rPr sz="850" b="0">
                <a:solidFill>
                  <a:srgbClr val="526279"/>
                </a:solidFill>
                <a:latin typeface="Yu Gothic"/>
              </a:rPr>
              <a:t>Excelで体験する言語モデルのしくみ | 第10回 |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300" b="1">
                <a:solidFill>
                  <a:srgbClr val="1F2A44"/>
                </a:solidFill>
                <a:latin typeface="Yu Gothic"/>
              </a:rPr>
              <a:t>Excelで作ったもの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400" b="0">
                <a:solidFill>
                  <a:srgbClr val="526279"/>
                </a:solidFill>
                <a:latin typeface="Yu Gothic"/>
              </a:rPr>
              <a:t>デモ一式はGitHubの各回フォルダから取得できます。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920240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01_QUERY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質問と検索条件を入力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920240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02_DOCUMENTS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検索対象の文書表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090672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03_SCORES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retrieval scoreを確認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3090672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04_ANSWER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contextから回答案を見る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5349240"/>
            <a:ext cx="9966960" cy="502920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確認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ExcelをUIとして使い、入力・設定と返る表の対応を確認します。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5998464"/>
            <a:ext cx="10652760" cy="310896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900" b="0">
                <a:solidFill>
                  <a:srgbClr val="526279"/>
                </a:solidFill>
                <a:latin typeface="Yu Gothic"/>
              </a:rPr>
              <a:t>デモ一式: https://github.com/KanameShiga-dev/excel-python-mini-llm-demo/tree/main/第10回_RAG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40080" y="566928"/>
            <a:ext cx="10789920" cy="53035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150" b="1">
                <a:solidFill>
                  <a:srgbClr val="24324B"/>
                </a:solidFill>
                <a:latin typeface="Yu Gothic"/>
              </a:rPr>
              <a:t>入力シートで質問と検索条件を確認します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15568"/>
            <a:ext cx="10607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Yu Gothic"/>
              </a:rPr>
              <a:t>question、top_k、score_thresholdが根拠選択を変えます。</a:t>
            </a:r>
          </a:p>
        </p:txBody>
      </p:sp>
      <p:pic>
        <p:nvPicPr>
          <p:cNvPr id="6" name="Picture 5" descr="01_INPUT_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664208"/>
            <a:ext cx="6903720" cy="3205299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001000" y="1828800"/>
            <a:ext cx="329184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65592" y="1938528"/>
            <a:ext cx="2962656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100" b="1">
                <a:solidFill>
                  <a:srgbClr val="2F6690"/>
                </a:solidFill>
                <a:latin typeface="Yu Gothic"/>
              </a:rPr>
              <a:t>変えるもの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65592" y="2240280"/>
            <a:ext cx="2962656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050" b="0">
                <a:solidFill>
                  <a:srgbClr val="24324B"/>
                </a:solidFill>
                <a:latin typeface="Yu Gothic"/>
              </a:rPr>
              <a:t>question / top_k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3035808"/>
            <a:ext cx="329184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65592" y="3145536"/>
            <a:ext cx="2962656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100" b="1">
                <a:solidFill>
                  <a:srgbClr val="2F6690"/>
                </a:solidFill>
                <a:latin typeface="Yu Gothic"/>
              </a:rPr>
              <a:t>見るもの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65592" y="3447288"/>
            <a:ext cx="2962656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050" b="0">
                <a:solidFill>
                  <a:srgbClr val="24324B"/>
                </a:solidFill>
                <a:latin typeface="Yu Gothic"/>
              </a:rPr>
              <a:t>score / context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01000" y="4242816"/>
            <a:ext cx="3291840" cy="960120"/>
          </a:xfrm>
          <a:prstGeom prst="roundRect">
            <a:avLst/>
          </a:prstGeom>
          <a:solidFill>
            <a:srgbClr val="EEF8F1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65592" y="4352544"/>
            <a:ext cx="2962656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100" b="1">
                <a:solidFill>
                  <a:srgbClr val="276749"/>
                </a:solidFill>
                <a:latin typeface="Yu Gothic"/>
              </a:rPr>
              <a:t>確認すること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65592" y="4654296"/>
            <a:ext cx="2962656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050" b="0">
                <a:solidFill>
                  <a:srgbClr val="24324B"/>
                </a:solidFill>
                <a:latin typeface="Yu Gothic"/>
              </a:rPr>
              <a:t>根拠と回答の対応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INPUT SHEET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第10回 |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40080" y="566928"/>
            <a:ext cx="10789920" cy="53035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150" b="1">
                <a:solidFill>
                  <a:srgbClr val="24324B"/>
                </a:solidFill>
                <a:latin typeface="Yu Gothic"/>
              </a:rPr>
              <a:t>Excel UIは検索条件と表示表の対応を見る入口です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15568"/>
            <a:ext cx="10607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Yu Gothic"/>
              </a:rPr>
              <a:t>入力、文書表、スコア表、根拠表、回答案を別々に読みます。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737360"/>
          <a:ext cx="1088136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4114800"/>
                <a:gridCol w="4297680"/>
              </a:tblGrid>
              <a:tr h="594360"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</a:rPr>
                        <a:t>場所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</a:rPr>
                        <a:t>変更・確認するもの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</a:rPr>
                        <a:t>見える変化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4324B"/>
                          </a:solidFill>
                        </a:rPr>
                        <a:t>01_INPUT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4324B"/>
                          </a:solidFill>
                        </a:rPr>
                        <a:t>question、top_k、threshold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4324B"/>
                          </a:solidFill>
                        </a:rPr>
                        <a:t>根拠候補が変わる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4324B"/>
                          </a:solidFill>
                        </a:rPr>
                        <a:t>02_DOCUMENTS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4324B"/>
                          </a:solidFill>
                        </a:rPr>
                        <a:t>検索対象の資料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4324B"/>
                          </a:solidFill>
                        </a:rPr>
                        <a:t>どの文書が使えるか分かる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4324B"/>
                          </a:solidFill>
                        </a:rPr>
                        <a:t>04_RETRIEVAL_SCORE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4324B"/>
                          </a:solidFill>
                        </a:rPr>
                        <a:t>matched_terms、score、rank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4324B"/>
                          </a:solidFill>
                        </a:rPr>
                        <a:t>選ばれた理由が見える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4324B"/>
                          </a:solidFill>
                        </a:rPr>
                        <a:t>05_TOP_CONTEXT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4324B"/>
                          </a:solidFill>
                        </a:rPr>
                        <a:t>上位根拠文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4324B"/>
                          </a:solidFill>
                        </a:rPr>
                        <a:t>回答に渡す文が分かる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4324B"/>
                          </a:solidFill>
                        </a:rPr>
                        <a:t>06_ANSWER_DRAFT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4324B"/>
                          </a:solidFill>
                        </a:rPr>
                        <a:t>回答案と注意文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4324B"/>
                          </a:solidFill>
                        </a:rPr>
                        <a:t>根拠つき回答の形を見る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4324B"/>
                          </a:solidFill>
                        </a:rPr>
                        <a:t>コード末尾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4324B"/>
                          </a:solidFill>
                        </a:rPr>
                        <a:t>result_df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4324B"/>
                          </a:solidFill>
                        </a:rPr>
                        <a:t>返す表を切り替える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EXCEL UI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第10回 |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r"/>
            <a:r>
              <a:rPr sz="850" b="0">
                <a:solidFill>
                  <a:srgbClr val="526279"/>
                </a:solidFill>
                <a:latin typeface="Yu Gothic"/>
              </a:rPr>
              <a:t>Excelで体験する言語モデルのしくみ | 第10回 |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300" b="1">
                <a:solidFill>
                  <a:srgbClr val="1F2A44"/>
                </a:solidFill>
                <a:latin typeface="Yu Gothic"/>
              </a:rPr>
              <a:t>処理の流れを左から右へ読む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400" b="0">
                <a:solidFill>
                  <a:srgbClr val="526279"/>
                </a:solidFill>
                <a:latin typeface="Yu Gothic"/>
              </a:rPr>
              <a:t>内部計算だけでなく、外部情報を検索して回答に渡します。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31720"/>
            <a:ext cx="1691640" cy="82296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Query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46120" y="2331720"/>
            <a:ext cx="1691640" cy="82296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retrieve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331720"/>
            <a:ext cx="1691640" cy="82296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top context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58200" y="2331720"/>
            <a:ext cx="1691640" cy="82296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answer draft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4434840"/>
            <a:ext cx="9966960" cy="822960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見るポイント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重みを更新せず、外部情報を参照して回答を補う考え方を整理します。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r"/>
            <a:r>
              <a:rPr sz="850" b="0">
                <a:solidFill>
                  <a:srgbClr val="526279"/>
                </a:solidFill>
                <a:latin typeface="Yu Gothic"/>
              </a:rPr>
              <a:t>Excelで体験する言語モデルのしくみ | 第10回 |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300" b="1">
                <a:solidFill>
                  <a:srgbClr val="1F2A44"/>
                </a:solidFill>
                <a:latin typeface="Yu Gothic"/>
              </a:rPr>
              <a:t>データとして見るもの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400" b="0">
                <a:solidFill>
                  <a:srgbClr val="526279"/>
                </a:solidFill>
                <a:latin typeface="Yu Gothic"/>
              </a:rPr>
              <a:t>表の行と列を、計算段階と対応づけます。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920240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document_id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文書の識別子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920240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text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検索対象の本文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090672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score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質問との近さ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3090672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context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回答に渡す外部情報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5349240"/>
            <a:ext cx="9966960" cy="502920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確認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ExcelをUIとして使い、入力・設定と返る表の対応を確認します。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RUNBOOK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r"/>
            <a:r>
              <a:rPr sz="850" b="0">
                <a:solidFill>
                  <a:srgbClr val="526279"/>
                </a:solidFill>
                <a:latin typeface="Yu Gothic"/>
              </a:rPr>
              <a:t>Excelで体験する言語モデルのしくみ | 第10回 |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300" b="1">
                <a:solidFill>
                  <a:srgbClr val="1F2A44"/>
                </a:solidFill>
                <a:latin typeface="Yu Gothic"/>
              </a:rPr>
              <a:t>Python in Excel 実行手順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400" b="0">
                <a:solidFill>
                  <a:srgbClr val="526279"/>
                </a:solidFill>
                <a:latin typeface="Yu Gothic"/>
              </a:rPr>
              <a:t>RUNBOOKは実行手順だけに絞ります。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4663440" cy="114300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操作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外部 .py をPython in Excelへ貼り付け、Ctrl + Enterで実行します。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011680"/>
            <a:ext cx="4663440" cy="1143000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確認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実行後、返るDataFrameを切り替えて見ます。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800600"/>
            <a:ext cx="9966960" cy="685800"/>
          </a:xfrm>
          <a:prstGeom prst="roundRect">
            <a:avLst/>
          </a:prstGeom>
          <a:solidFill>
            <a:srgbClr val="FFF6CC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8E5B1C"/>
                </a:solidFill>
                <a:latin typeface="Yu Gothic"/>
              </a:rPr>
              <a:t>Excelで確認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入力値を変え、返る表の変化として確認します。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DISPLAY MODES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r"/>
            <a:r>
              <a:rPr sz="850" b="0">
                <a:solidFill>
                  <a:srgbClr val="526279"/>
                </a:solidFill>
                <a:latin typeface="Yu Gothic"/>
              </a:rPr>
              <a:t>Excelで体験する言語モデルのしくみ | 第10回 |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300" b="1">
                <a:solidFill>
                  <a:srgbClr val="1F2A44"/>
                </a:solidFill>
                <a:latin typeface="Yu Gothic"/>
              </a:rPr>
              <a:t>返る表・列・変数の確認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400" b="0">
                <a:solidFill>
                  <a:srgbClr val="526279"/>
                </a:solidFill>
                <a:latin typeface="Yu Gothic"/>
              </a:rPr>
              <a:t>DISPLAY MODESでDataFrameを切り替えます。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920240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documents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外部文書の表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920240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retrieval_scores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検索スコア表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090672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top_context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上位文書の抜粋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3090672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answer_draft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回答案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5349240"/>
            <a:ext cx="9966960" cy="502920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確認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ExcelをUIとして使い、入力・設定と返る表の対応を確認します。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HOW TO READ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r"/>
            <a:r>
              <a:rPr sz="850" b="0">
                <a:solidFill>
                  <a:srgbClr val="526279"/>
                </a:solidFill>
                <a:latin typeface="Yu Gothic"/>
              </a:rPr>
              <a:t>Excelで体験する言語モデルのしくみ | 第10回 |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300" b="1">
                <a:solidFill>
                  <a:srgbClr val="1F2A44"/>
                </a:solidFill>
                <a:latin typeface="Yu Gothic"/>
              </a:rPr>
              <a:t>表の読み方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400" b="0">
                <a:solidFill>
                  <a:srgbClr val="526279"/>
                </a:solidFill>
                <a:latin typeface="Yu Gothic"/>
              </a:rPr>
              <a:t>最初に見る表と列を確認します。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4663440" cy="114300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見る表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documents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011680"/>
            <a:ext cx="4663440" cy="1143000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読み方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外部文書の表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800600"/>
            <a:ext cx="9966960" cy="685800"/>
          </a:xfrm>
          <a:prstGeom prst="roundRect">
            <a:avLst/>
          </a:prstGeom>
          <a:solidFill>
            <a:srgbClr val="FFF6CC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8E5B1C"/>
                </a:solidFill>
                <a:latin typeface="Yu Gothic"/>
              </a:rPr>
              <a:t>Excelで確認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入力値を変え、返る表の変化として確認します。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HOW TO READ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r"/>
            <a:r>
              <a:rPr sz="850" b="0">
                <a:solidFill>
                  <a:srgbClr val="526279"/>
                </a:solidFill>
                <a:latin typeface="Yu Gothic"/>
              </a:rPr>
              <a:t>Excelで体験する言語モデルのしくみ | 第10回 |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300" b="1">
                <a:solidFill>
                  <a:srgbClr val="1F2A44"/>
                </a:solidFill>
                <a:latin typeface="Yu Gothic"/>
              </a:rPr>
              <a:t>表の読み方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400" b="0">
                <a:solidFill>
                  <a:srgbClr val="526279"/>
                </a:solidFill>
                <a:latin typeface="Yu Gothic"/>
              </a:rPr>
              <a:t>次に、変化した値を確認します。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4663440" cy="114300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見る表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answer_draft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011680"/>
            <a:ext cx="4663440" cy="1143000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読み方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回答案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800600"/>
            <a:ext cx="9966960" cy="685800"/>
          </a:xfrm>
          <a:prstGeom prst="roundRect">
            <a:avLst/>
          </a:prstGeom>
          <a:solidFill>
            <a:srgbClr val="FFF6CC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8E5B1C"/>
                </a:solidFill>
                <a:latin typeface="Yu Gothic"/>
              </a:rPr>
              <a:t>Excelで確認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入力値を変え、返る表の変化として確認します。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CONNECTION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r"/>
            <a:r>
              <a:rPr sz="850" b="0">
                <a:solidFill>
                  <a:srgbClr val="526279"/>
                </a:solidFill>
                <a:latin typeface="Yu Gothic"/>
              </a:rPr>
              <a:t>Excelで体験する言語モデルのしくみ | 第10回 |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300" b="1">
                <a:solidFill>
                  <a:srgbClr val="1F2A44"/>
                </a:solidFill>
                <a:latin typeface="Yu Gothic"/>
              </a:rPr>
              <a:t>前後の回とのつながり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400" b="0">
                <a:solidFill>
                  <a:srgbClr val="526279"/>
                </a:solidFill>
                <a:latin typeface="Yu Gothic"/>
              </a:rPr>
              <a:t>第9回までは重みを更新して学ぶ流れを見ました。RAGでは、重みを直接変えずに外部情報を検索して回答へ渡します。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4663440" cy="114300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前の回から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前回までの表の読み方を受け取ります。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011680"/>
            <a:ext cx="4663440" cy="1143000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次に進むこと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第9回までは重みを更新して学ぶ流れを見ました。RAGでは、重みを直接変えずに外部情報を検索して回答へ渡します。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800600"/>
            <a:ext cx="9966960" cy="685800"/>
          </a:xfrm>
          <a:prstGeom prst="roundRect">
            <a:avLst/>
          </a:prstGeom>
          <a:solidFill>
            <a:srgbClr val="FFF6CC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8E5B1C"/>
                </a:solidFill>
                <a:latin typeface="Yu Gothic"/>
              </a:rPr>
              <a:t>Excelで確認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入力値を変え、返る表の変化として確認します。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LIMITATION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r"/>
            <a:r>
              <a:rPr sz="850" b="0">
                <a:solidFill>
                  <a:srgbClr val="526279"/>
                </a:solidFill>
                <a:latin typeface="Yu Gothic"/>
              </a:rPr>
              <a:t>Excelで体験する言語モデルのしくみ | 第10回 |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300" b="1">
                <a:solidFill>
                  <a:srgbClr val="1F2A44"/>
                </a:solidFill>
                <a:latin typeface="Yu Gothic"/>
              </a:rPr>
              <a:t>今回の限界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400" b="0">
                <a:solidFill>
                  <a:srgbClr val="526279"/>
                </a:solidFill>
                <a:latin typeface="Yu Gothic"/>
              </a:rPr>
              <a:t>この教材のRAGは小さな検索表による説明版です。実際のembedding検索、ベクトルDB、chunking、reranker、LLM API連携は扱いません。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4663440" cy="114300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教材の範囲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この教材のRAGは小さな検索表による説明版です。実際のembedding検索、ベクトルDB、chunking、reranker、LLM API連携は扱いません。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011680"/>
            <a:ext cx="4663440" cy="1143000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注意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説明用の小さなデモとして扱います。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800600"/>
            <a:ext cx="9966960" cy="685800"/>
          </a:xfrm>
          <a:prstGeom prst="roundRect">
            <a:avLst/>
          </a:prstGeom>
          <a:solidFill>
            <a:srgbClr val="FFF6CC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8E5B1C"/>
                </a:solidFill>
                <a:latin typeface="Yu Gothic"/>
              </a:rPr>
              <a:t>Excelで確認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入力値を変え、返る表の変化として確認します。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WRAP-UP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r"/>
            <a:r>
              <a:rPr sz="850" b="0">
                <a:solidFill>
                  <a:srgbClr val="526279"/>
                </a:solidFill>
                <a:latin typeface="Yu Gothic"/>
              </a:rPr>
              <a:t>Excelで体験する言語モデルのしくみ | 第10回 |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300" b="1">
                <a:solidFill>
                  <a:srgbClr val="1F2A44"/>
                </a:solidFill>
                <a:latin typeface="Yu Gothic"/>
              </a:rPr>
              <a:t>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400" b="0">
                <a:solidFill>
                  <a:srgbClr val="526279"/>
                </a:solidFill>
                <a:latin typeface="Yu Gothic"/>
              </a:rPr>
              <a:t>全10回を通して、次token予測、Attention、学習、外部情報参照までを小さな表で分解して確認しました。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4663440" cy="114300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今回の要点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全10回を通して、次token予測、Attention、学習、外部情報参照までを小さな表で分解して確認しました。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011680"/>
            <a:ext cx="4663440" cy="1143000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次の確認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動画・字幕・GitHubの公開情報と合わせて確認します。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800600"/>
            <a:ext cx="9966960" cy="685800"/>
          </a:xfrm>
          <a:prstGeom prst="roundRect">
            <a:avLst/>
          </a:prstGeom>
          <a:solidFill>
            <a:srgbClr val="FFF6CC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8E5B1C"/>
                </a:solidFill>
                <a:latin typeface="Yu Gothic"/>
              </a:rPr>
              <a:t>Excelで確認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入力値を変え、返る表の変化として確認します。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GLOSSARY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r"/>
            <a:r>
              <a:rPr sz="850" b="0">
                <a:solidFill>
                  <a:srgbClr val="526279"/>
                </a:solidFill>
                <a:latin typeface="Yu Gothic"/>
              </a:rPr>
              <a:t>Excelで体験する言語モデルのしくみ | 第10回 |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300" b="1">
                <a:solidFill>
                  <a:srgbClr val="1F2A44"/>
                </a:solidFill>
                <a:latin typeface="Yu Gothic"/>
              </a:rPr>
              <a:t>今回の用語集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400" b="0">
                <a:solidFill>
                  <a:srgbClr val="526279"/>
                </a:solidFill>
                <a:latin typeface="Yu Gothic"/>
              </a:rPr>
              <a:t>この回で使う表・列・概念を整理します。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920240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RAG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920240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090672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document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3090672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retrieval score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261104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context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4261104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answer draft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5349240"/>
            <a:ext cx="9966960" cy="502920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確認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ExcelをUIとして使い、入力・設定と返る表の対応を確認します。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