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70" r:id="rId21"/>
    <p:sldId id="271" r:id="rId22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95160" y="6473952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第1回 | 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50876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69494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24324B"/>
                </a:solidFill>
                <a:latin typeface="Yu Gothic"/>
              </a:rPr>
              <a:t>Excelで体験する 言語モデルのしくみ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36192"/>
            <a:ext cx="47548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>
                <a:solidFill>
                  <a:srgbClr val="2F6690"/>
                </a:solidFill>
                <a:latin typeface="Yu Gothic"/>
              </a:rPr>
              <a:t>第1回 n-gram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48840"/>
            <a:ext cx="5806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>
                <a:solidFill>
                  <a:srgbClr val="475569"/>
                </a:solidFill>
                <a:latin typeface="Yu Gothic"/>
              </a:rPr>
              <a:t>直前のtoken列から、次に来やすいtokenを選ぶ仕組みをExcelで体験します。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182112"/>
            <a:ext cx="4937760" cy="1097280"/>
          </a:xfrm>
          <a:prstGeom prst="roundRect">
            <a:avLst/>
          </a:prstGeom>
          <a:solidFill>
            <a:srgbClr val="EEF8F1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76749"/>
                </a:solidFill>
                <a:latin typeface="Yu Gothic"/>
              </a:rPr>
              <a:t>今回の狙い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「直前を見る」方式を理解し、第2回 Self-Attention の「文全体を見る」と比較できる状態にします。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2377440"/>
            <a:ext cx="1234440" cy="777240"/>
          </a:xfrm>
          <a:prstGeom prst="roundRect">
            <a:avLst/>
          </a:prstGeom>
          <a:solidFill>
            <a:srgbClr val="EAF4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context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/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2377440"/>
            <a:ext cx="1234440" cy="777240"/>
          </a:xfrm>
          <a:prstGeom prst="roundRect">
            <a:avLst/>
          </a:prstGeom>
          <a:solidFill>
            <a:srgbClr val="EAF4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候補を数える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84080" y="2377440"/>
            <a:ext cx="1234440" cy="777240"/>
          </a:xfrm>
          <a:prstGeom prst="roundRect">
            <a:avLst/>
          </a:prstGeom>
          <a:solidFill>
            <a:srgbClr val="EAF4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selected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/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092440" y="2761488"/>
            <a:ext cx="137160" cy="0"/>
          </a:xfrm>
          <a:prstGeom prst="line">
            <a:avLst/>
          </a:prstGeom>
          <a:ln w="17780">
            <a:solidFill>
              <a:srgbClr val="AEBE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464040" y="2761488"/>
            <a:ext cx="320040" cy="0"/>
          </a:xfrm>
          <a:prstGeom prst="line">
            <a:avLst/>
          </a:prstGeom>
          <a:ln w="17780">
            <a:solidFill>
              <a:srgbClr val="AEBE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720840" y="3611880"/>
            <a:ext cx="42976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n-gramは、文全体ではなく直前n個のtokenを手がかりにします。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95160" y="6473952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第1回 | 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50876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SERIES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全10回の中の位置づけ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75569"/>
                </a:solidFill>
                <a:latin typeface="Yu Gothic"/>
              </a:rPr>
              <a:t>第1回は、後続回と比較するための基準になる「直前を見る」モデルです。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5074920" cy="512064"/>
          </a:xfrm>
          <a:prstGeom prst="roundRect">
            <a:avLst/>
          </a:prstGeom>
          <a:solidFill>
            <a:srgbClr val="EEF8F1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76749"/>
                </a:solidFill>
                <a:latin typeface="Yu Gothic"/>
              </a:rPr>
              <a:t>第1回 n-gram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直前の並びから次を考える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83080"/>
            <a:ext cx="507492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第2回 Self-Attention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文全体のどこを見るかを重みで見る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496312"/>
            <a:ext cx="507492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第3回 Embedding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tokenを数値ベクトルにする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496312"/>
            <a:ext cx="507492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第4回 Positional Encoding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tokenの順番を数値で足す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209544"/>
            <a:ext cx="507492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第5回 Multi-Head Attention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複数の見方を同時に走らせる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209544"/>
            <a:ext cx="507492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第6回 Transformer Block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AttentionとFFNを積み重ねる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922776"/>
            <a:ext cx="507492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第7回 Softmaxと生成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確率から次tokenを選ぶ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22776"/>
            <a:ext cx="507492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第8回 Lossと学習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予測のズレを数値にする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636008"/>
            <a:ext cx="507492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第9回 Backpropagation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ズレを元に重みを更新する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636008"/>
            <a:ext cx="507492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第10回 RAG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外部資料を参照して答える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696712"/>
            <a:ext cx="9875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>
                <a:solidFill>
                  <a:srgbClr val="276749"/>
                </a:solidFill>
                <a:latin typeface="Yu Gothic"/>
              </a:rPr>
              <a:t>第1回の到達点: n-gramの「直前を見る」を理解し、第2回の比較軸を作る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95160" y="6473952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第1回 | 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50876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今日の到達点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75569"/>
                </a:solidFill>
                <a:latin typeface="Yu Gothic"/>
              </a:rPr>
              <a:t>難しいAIとしてではなく、Excelで観察できる小さな部品として理解します。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48006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1. 言語モデルの入口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次に来やすいtokenを予測する、という見方を持つ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828800"/>
            <a:ext cx="48006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2. n-gramの考え方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直前n個のtokenをcontextとして使うと理解する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246120"/>
            <a:ext cx="48006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3. Excelデモの読み方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生成文だけでなく、ログ表の各列を見る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246120"/>
            <a:ext cx="48006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4. 限界の理解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意味理解ではなく、出現パターンの教材用デモだと区別する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074920"/>
            <a:ext cx="10241280" cy="685800"/>
          </a:xfrm>
          <a:prstGeom prst="roundRect">
            <a:avLst/>
          </a:prstGeom>
          <a:solidFill>
            <a:srgbClr val="EEF8F1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76749"/>
                </a:solidFill>
                <a:latin typeface="Yu Gothic"/>
              </a:rPr>
              <a:t>最後に見る表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A31から展開されるログ表。特に context / top_candidates / selected / generated_so_far を確認します。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95160" y="6473952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第1回 | 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50876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n-gramは「直前を見る」モデル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75569"/>
                </a:solidFill>
                <a:latin typeface="Yu Gothic"/>
              </a:rPr>
              <a:t>第1回では、文脈を直前n個のtokenに限定して観察します。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74519"/>
            <a:ext cx="3108960" cy="914400"/>
          </a:xfrm>
          <a:prstGeom prst="roundRect">
            <a:avLst/>
          </a:prstGeom>
          <a:solidFill>
            <a:srgbClr val="EAF4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context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直前n個のtoken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77639" y="2331720"/>
            <a:ext cx="640081" cy="0"/>
          </a:xfrm>
          <a:prstGeom prst="line">
            <a:avLst/>
          </a:prstGeom>
          <a:ln w="17780">
            <a:solidFill>
              <a:srgbClr val="AEBE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617720" y="1874519"/>
            <a:ext cx="3108960" cy="914400"/>
          </a:xfrm>
          <a:prstGeom prst="roundRect">
            <a:avLst/>
          </a:prstGeom>
          <a:solidFill>
            <a:srgbClr val="EAF4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count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次候補の出現回数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818120" y="2331720"/>
            <a:ext cx="640080" cy="0"/>
          </a:xfrm>
          <a:prstGeom prst="line">
            <a:avLst/>
          </a:prstGeom>
          <a:ln w="17780">
            <a:solidFill>
              <a:srgbClr val="AEBE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458200" y="1874519"/>
            <a:ext cx="2560320" cy="914400"/>
          </a:xfrm>
          <a:prstGeom prst="roundRect">
            <a:avLst/>
          </a:prstGeom>
          <a:solidFill>
            <a:srgbClr val="EAF4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sample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1つ選ぶ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960120" y="3429000"/>
          <a:ext cx="996696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5212080"/>
                <a:gridCol w="2377440"/>
              </a:tblGrid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Yu Gothic"/>
                        </a:rPr>
                        <a:t>context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Yu Gothic"/>
                        </a:rPr>
                        <a:t>top_candidates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Yu Gothic"/>
                        </a:rPr>
                        <a:t>selected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Yu Gothic"/>
                        </a:rPr>
                        <a:t>注文履歴 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75569"/>
                          </a:solidFill>
                          <a:latin typeface="Yu Gothic"/>
                        </a:rPr>
                        <a:t>正本:3回 / 顧客:1回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75569"/>
                          </a:solidFill>
                          <a:latin typeface="Yu Gothic"/>
                        </a:rPr>
                        <a:t>正本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960120" y="5074920"/>
            <a:ext cx="9966960" cy="658368"/>
          </a:xfrm>
          <a:prstGeom prst="roundRect">
            <a:avLst/>
          </a:prstGeom>
          <a:solidFill>
            <a:srgbClr val="FFF4CC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8A5A2B"/>
                </a:solidFill>
                <a:latin typeface="Yu Gothic"/>
              </a:rPr>
              <a:t>注意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意味を完全に理解しているのではなく、学習データに出てきた並びから次を選びます。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95160" y="6473952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第1回 | 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50876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DEMO ASSET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Excelで作ったもの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75569"/>
                </a:solidFill>
                <a:latin typeface="Yu Gothic"/>
              </a:rPr>
              <a:t>Python in Excelで動かす、第1回用の小さなn-gram言語モデルです。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46634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01_Demo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入力値と実行結果を見る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874519"/>
            <a:ext cx="46634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02_Corpus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training_text列を学習用文章として使う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172968"/>
            <a:ext cx="46634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外部 .py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PythonコードをコピーしてPythonセルへ貼る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3172968"/>
            <a:ext cx="46634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A31出力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生成ログ表をExcel値として展開する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754880"/>
            <a:ext cx="9966960" cy="804672"/>
          </a:xfrm>
          <a:prstGeom prst="roundRect">
            <a:avLst/>
          </a:prstGeom>
          <a:solidFill>
            <a:srgbClr val="FFF4CC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8A5A2B"/>
                </a:solidFill>
                <a:latin typeface="Yu Gothic"/>
              </a:rPr>
              <a:t>教材の範囲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ExcelだけでGPT級モデルを訓練するものではありません。仕組み説明用のミニモデルです。</a:t>
            </a:r>
          </a:p>
        </p:txBody>
      </p:sp>
      <p:sp>
        <p:nvSpPr>
          <p:cNvPr id="11" name="github_demo_asset_url"/>
          <p:cNvSpPr txBox="1"/>
          <p:nvPr/>
        </p:nvSpPr>
        <p:spPr>
          <a:xfrm>
            <a:off x="658368" y="5998464"/>
            <a:ext cx="10652760" cy="310896"/>
          </a:xfrm>
          <a:prstGeom prst="rect">
            <a:avLst/>
          </a:prstGeom>
          <a:noFill/>
        </p:spPr>
        <p:txBody>
          <a:bodyPr wrap="none" lIns="45720" rIns="45720" tIns="9144" bIns="9144">
            <a:spAutoFit/>
          </a:bodyPr>
          <a:lstStyle/>
          <a:p>
            <a:pPr algn="l"/>
            <a:r>
              <a:rPr sz="900">
                <a:solidFill>
                  <a:srgbClr val="4E5E6E"/>
                </a:solidFill>
                <a:latin typeface="Yu Gothic"/>
              </a:rPr>
              <a:t>デモ一式: https://github.com/KanameShiga-dev/excel-python-mini-llm-demo/tree/main/第1回_n-gram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INPUT 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01_Demo の画面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ExcelをUIとして触る入口を、先に画面で確認します。</a:t>
            </a:r>
          </a:p>
        </p:txBody>
      </p:sp>
      <p:pic>
        <p:nvPicPr>
          <p:cNvPr id="5" name="Picture 4" descr="input_sheet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856231"/>
            <a:ext cx="10287000" cy="3429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2960" y="5650992"/>
            <a:ext cx="10607040" cy="530352"/>
          </a:xfrm>
          <a:prstGeom prst="roundRect">
            <a:avLst/>
          </a:prstGeom>
          <a:solidFill>
            <a:srgbClr val="EEF8F1"/>
          </a:solidFill>
          <a:ln>
            <a:solidFill>
              <a:srgbClr val="C4E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200" b="1">
                <a:solidFill>
                  <a:srgbClr val="276749"/>
                </a:solidFill>
                <a:latin typeface="Yu Gothic"/>
              </a:rPr>
              <a:t>開始プロンプト、生成token数、temperature、seed、モデル次数をここで変えます。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95160" y="6473952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第1回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EXCEL 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Excel UIで何を変えるか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Pythonを実行するだけでなく、入力とコーパスを変えて生成の変化を観察します。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755648"/>
          <a:ext cx="10607040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5120640"/>
              </a:tblGrid>
              <a:tr h="515982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場所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変更・確認するもの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見える変化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475569"/>
                          </a:solidFill>
                          <a:latin typeface="Yu Gothic"/>
                        </a:rPr>
                        <a:t>01_Demo!B4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475569"/>
                          </a:solidFill>
                          <a:latin typeface="Yu Gothic"/>
                        </a:rPr>
                        <a:t>開始プロンプト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475569"/>
                          </a:solidFill>
                          <a:latin typeface="Yu Gothic"/>
                        </a:rPr>
                        <a:t>生成の出発点が変わる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475569"/>
                          </a:solidFill>
                          <a:latin typeface="Yu Gothic"/>
                        </a:rPr>
                        <a:t>01_Demo!B5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475569"/>
                          </a:solidFill>
                          <a:latin typeface="Yu Gothic"/>
                        </a:rPr>
                        <a:t>生成token数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475569"/>
                          </a:solidFill>
                          <a:latin typeface="Yu Gothic"/>
                        </a:rPr>
                        <a:t>出力の長さが変わる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475569"/>
                          </a:solidFill>
                          <a:latin typeface="Yu Gothic"/>
                        </a:rPr>
                        <a:t>01_Demo!B6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475569"/>
                          </a:solidFill>
                          <a:latin typeface="Yu Gothic"/>
                        </a:rPr>
                        <a:t>temperature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475569"/>
                          </a:solidFill>
                          <a:latin typeface="Yu Gothic"/>
                        </a:rPr>
                        <a:t>候補選択のばらつきが変わる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475569"/>
                          </a:solidFill>
                          <a:latin typeface="Yu Gothic"/>
                        </a:rPr>
                        <a:t>01_Demo!B7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475569"/>
                          </a:solidFill>
                          <a:latin typeface="Yu Gothic"/>
                        </a:rPr>
                        <a:t>seed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475569"/>
                          </a:solidFill>
                          <a:latin typeface="Yu Gothic"/>
                        </a:rPr>
                        <a:t>同じ条件での再現性が変わる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475569"/>
                          </a:solidFill>
                          <a:latin typeface="Yu Gothic"/>
                        </a:rPr>
                        <a:t>01_Demo!B8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475569"/>
                          </a:solidFill>
                          <a:latin typeface="Yu Gothic"/>
                        </a:rPr>
                        <a:t>モデル次数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475569"/>
                          </a:solidFill>
                          <a:latin typeface="Yu Gothic"/>
                        </a:rPr>
                        <a:t>直前に見るtoken数が変わる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5988"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475569"/>
                          </a:solidFill>
                          <a:latin typeface="Yu Gothic"/>
                        </a:rPr>
                        <a:t>02_Corpus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475569"/>
                          </a:solidFill>
                          <a:latin typeface="Yu Gothic"/>
                        </a:rPr>
                        <a:t>training_text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475569"/>
                          </a:solidFill>
                          <a:latin typeface="Yu Gothic"/>
                        </a:rPr>
                        <a:t>候補の出方そのものが変わる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22960" y="5650992"/>
            <a:ext cx="10607040" cy="530352"/>
          </a:xfrm>
          <a:prstGeom prst="roundRect">
            <a:avLst/>
          </a:prstGeom>
          <a:solidFill>
            <a:srgbClr val="EEF8F1"/>
          </a:solidFill>
          <a:ln>
            <a:solidFill>
              <a:srgbClr val="C4E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200" b="1">
                <a:solidFill>
                  <a:srgbClr val="276749"/>
                </a:solidFill>
                <a:latin typeface="Yu Gothic"/>
              </a:rPr>
              <a:t>ExcelをUIにして、設定変更 → 再実行 → generated_so_farやtop_candidatesの変化を見る教材です。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95160" y="6473952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第1回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95160" y="6473952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第1回 | 8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50876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処理の流れ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75569"/>
                </a:solidFill>
                <a:latin typeface="Yu Gothic"/>
              </a:rPr>
              <a:t>コーパスから候補を数え、temperatureとseedを使って次tokenを選びます。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331720"/>
            <a:ext cx="160020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Corpus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学習文章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340864" y="2761488"/>
            <a:ext cx="365760" cy="0"/>
          </a:xfrm>
          <a:prstGeom prst="line">
            <a:avLst/>
          </a:prstGeom>
          <a:ln w="17780">
            <a:solidFill>
              <a:srgbClr val="AEBE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953512" y="2331720"/>
            <a:ext cx="160020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tokenize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簡易token化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81144" y="2761488"/>
            <a:ext cx="365760" cy="0"/>
          </a:xfrm>
          <a:prstGeom prst="line">
            <a:avLst/>
          </a:prstGeom>
          <a:ln w="17780">
            <a:solidFill>
              <a:srgbClr val="AEBE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193792" y="2331720"/>
            <a:ext cx="160020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n-gram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候補を数える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21424" y="2761488"/>
            <a:ext cx="365760" cy="0"/>
          </a:xfrm>
          <a:prstGeom prst="line">
            <a:avLst/>
          </a:prstGeom>
          <a:ln w="17780">
            <a:solidFill>
              <a:srgbClr val="AEBE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434072" y="2331720"/>
            <a:ext cx="160020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sample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温度で選ぶ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061704" y="2761488"/>
            <a:ext cx="365760" cy="0"/>
          </a:xfrm>
          <a:prstGeom prst="line">
            <a:avLst/>
          </a:prstGeom>
          <a:ln w="17780">
            <a:solidFill>
              <a:srgbClr val="AEBE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674352" y="2331720"/>
            <a:ext cx="160020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output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ログ表へ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251960"/>
            <a:ext cx="9966960" cy="822960"/>
          </a:xfrm>
          <a:prstGeom prst="roundRect">
            <a:avLst/>
          </a:prstGeom>
          <a:solidFill>
            <a:srgbClr val="EEF8F1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76749"/>
                </a:solidFill>
                <a:latin typeface="Yu Gothic"/>
              </a:rPr>
              <a:t>今回のポイント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n-gramは見る範囲が固定的です。文全体を柔軟に見ているわけではありません。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95160" y="6473952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第1回 | 9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50876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入力データとtoken化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75569"/>
                </a:solidFill>
                <a:latin typeface="Yu Gothic"/>
              </a:rPr>
              <a:t>tokenは、単語や記号などの処理単位です。初出以降はtoken表記で統一します。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47088"/>
            <a:ext cx="47548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コーパス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02_Corpus の training_text 列。モデルが候補を数える元データです。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06440" y="1847088"/>
            <a:ext cx="48006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token（単語や記号の単位）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このデモでは、正規表現による簡易token化で日本語語句・英数字・記号を分けます。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3429000"/>
          <a:ext cx="996696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5852160"/>
              </a:tblGrid>
              <a:tr h="61722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Yu Gothic"/>
                        </a:rPr>
                        <a:t>入力例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Yu Gothic"/>
                        </a:rPr>
                        <a:t>簡易token化の例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475569"/>
                          </a:solidFill>
                          <a:latin typeface="Yu Gothic"/>
                        </a:rPr>
                        <a:t>注文履歴は正本DBに保存する。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75569"/>
                          </a:solidFill>
                          <a:latin typeface="Yu Gothic"/>
                        </a:rPr>
                        <a:t>注文履歴 / は / 正本 / DB / に / 保存 / する / 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914400" y="5257800"/>
            <a:ext cx="9966960" cy="594360"/>
          </a:xfrm>
          <a:prstGeom prst="roundRect">
            <a:avLst/>
          </a:prstGeom>
          <a:solidFill>
            <a:srgbClr val="FFF4CC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8A5A2B"/>
                </a:solidFill>
                <a:latin typeface="Yu Gothic"/>
              </a:rPr>
              <a:t>修正点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単純な空白分割ではなく、コードの tokenize() が使う正規表現で分割します。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95160" y="6473952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第1回 | 10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50876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RUNBOOK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デモ操作手順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75569"/>
                </a:solidFill>
                <a:latin typeface="Yu Gothic"/>
              </a:rPr>
              <a:t>手順はPython in Excelの手動実行を前提にしています。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48006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1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外部 .py を開いて全文コピー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691640"/>
            <a:ext cx="48006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2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01_Demo の A31 を選ぶ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14600"/>
            <a:ext cx="48006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3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数式 &gt; Pythonの挿入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2514600"/>
            <a:ext cx="48006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4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Pythonエディターに貼る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337560"/>
            <a:ext cx="48006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5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出力を「Excel値」に切り替える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3337560"/>
            <a:ext cx="48006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6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Ctrl + Enterで実行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160520"/>
            <a:ext cx="48006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7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A31から展開された表を見る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4160520"/>
            <a:ext cx="48006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8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B6〜B10や02_Corpusを変えて再実行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440680"/>
            <a:ext cx="9966960" cy="566928"/>
          </a:xfrm>
          <a:prstGeom prst="roundRect">
            <a:avLst/>
          </a:prstGeom>
          <a:solidFill>
            <a:srgbClr val="FFF4CC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8A5A2B"/>
                </a:solidFill>
                <a:latin typeface="Yu Gothic"/>
              </a:rPr>
              <a:t>重要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出力は「Excel値」。Pythonオブジェクトのままだと表に展開されません。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95160" y="6473952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第1回 | 11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50876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DISPLAY MODES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表示表・列・変数の見方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75569"/>
                </a:solidFill>
                <a:latin typeface="Yu Gothic"/>
              </a:rPr>
              <a:t>第1回は表示モード切替ではなく、A31に展開される1つのログ表を読みます。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755648"/>
          <a:ext cx="106070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7863840"/>
              </a:tblGrid>
              <a:tr h="4963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列名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見ること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generated_text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完成文。1行目だけに表示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step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生成の何手目か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context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その手で直前に見ていたtoken列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top_candidates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候補token、回数、確率の上位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selected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実際に選ばれたtoken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92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generated_so_far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その時点までの生成文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77240" y="5532120"/>
            <a:ext cx="10607040" cy="502920"/>
          </a:xfrm>
          <a:prstGeom prst="roundRect">
            <a:avLst/>
          </a:prstGeom>
          <a:solidFill>
            <a:srgbClr val="EEF8F1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76749"/>
                </a:solidFill>
                <a:latin typeface="Yu Gothic"/>
              </a:rPr>
              <a:t>最初に見る列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context → top_candidates → selected → generated_so_far の順に追うと、選ばれ方が分かります。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95160" y="6473952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第1回 | 12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50876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HOW TO READ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表の読み方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75569"/>
                </a:solidFill>
                <a:latin typeface="Yu Gothic"/>
              </a:rPr>
              <a:t>生成文だけでなく、1 stepごとの判断材料を追います。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783080"/>
          <a:ext cx="104698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286000"/>
                <a:gridCol w="5120640"/>
                <a:gridCol w="2148840"/>
              </a:tblGrid>
              <a:tr h="60960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step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context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top_candidates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selected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注文履歴 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正本:3回/75%, 顧客:1回/25%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正本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は 正本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DB:2回/67%, の:1回/33%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68680" y="4160520"/>
            <a:ext cx="48006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読み方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contextが今見ている直前の並びです。top_candidatesが候補一覧で、selectedが今回選ばれたtokenです。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4160520"/>
            <a:ext cx="4800600" cy="960120"/>
          </a:xfrm>
          <a:prstGeom prst="roundRect">
            <a:avLst/>
          </a:prstGeom>
          <a:solidFill>
            <a:srgbClr val="EEF8F1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76749"/>
                </a:solidFill>
                <a:latin typeface="Yu Gothic"/>
              </a:rPr>
              <a:t>観察ポイント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一番多い候補が必ず選ばれるとは限りません。temperatureがばらつきを作ります。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95160" y="6473952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第1回 | 13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50876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HOW TO READ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表の読み方 2: 具体例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75569"/>
                </a:solidFill>
                <a:latin typeface="Yu Gothic"/>
              </a:rPr>
              <a:t>同じ開始プロンプトでも、temperatureやseedで選ばれ方が変わります。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828800"/>
          <a:ext cx="106984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480560"/>
                <a:gridCol w="3931920"/>
              </a:tblGrid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設定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見え方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注意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低いtemperature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よく出る候補を選びやすい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安定するが単調になりやすい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高いtemperature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意外な候補を選びやすい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話題が飛びやすくなる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seed固定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同条件で近い結果を再現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乱数の入口を固定するだけ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914400" y="4389120"/>
            <a:ext cx="9966960" cy="822960"/>
          </a:xfrm>
          <a:prstGeom prst="roundRect">
            <a:avLst/>
          </a:prstGeom>
          <a:solidFill>
            <a:srgbClr val="EEF8F1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76749"/>
                </a:solidFill>
                <a:latin typeface="Yu Gothic"/>
              </a:rPr>
              <a:t>おすすめの確認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temperatureを0.6、0.9、1.2に変え、selectedとgenerated_so_farがどう変わるかを比べます。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95160" y="6473952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第1回 | 14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50876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前回・次回との接続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75569"/>
                </a:solidFill>
                <a:latin typeface="Yu Gothic"/>
              </a:rPr>
              <a:t>第1回はシリーズの入口です。次回は見る範囲の考え方が大きく変わります。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3063240" cy="1143000"/>
          </a:xfrm>
          <a:prstGeom prst="roundRect">
            <a:avLst/>
          </a:prstGeom>
          <a:solidFill>
            <a:srgbClr val="EEF8F1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76749"/>
                </a:solidFill>
                <a:latin typeface="Yu Gothic"/>
              </a:rPr>
              <a:t>第1回 n-gram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直前n個のtokenだけを見る。見る範囲は固定的。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77639" y="2423160"/>
            <a:ext cx="640081" cy="0"/>
          </a:xfrm>
          <a:prstGeom prst="line">
            <a:avLst/>
          </a:prstGeom>
          <a:ln w="17780">
            <a:solidFill>
              <a:srgbClr val="AEBE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617720" y="1828800"/>
            <a:ext cx="3063240" cy="1143000"/>
          </a:xfrm>
          <a:prstGeom prst="roundRect">
            <a:avLst/>
          </a:prstGeom>
          <a:solidFill>
            <a:srgbClr val="EAF4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第2回 Self-Attention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文全体のどこを見るかを重みとして観察する。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0" y="2423160"/>
            <a:ext cx="640080" cy="0"/>
          </a:xfrm>
          <a:prstGeom prst="line">
            <a:avLst/>
          </a:prstGeom>
          <a:ln w="17780">
            <a:solidFill>
              <a:srgbClr val="AEBE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412480" y="1828800"/>
            <a:ext cx="26517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比較軸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直前を見る vs 文全体を見る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251960"/>
            <a:ext cx="9966960" cy="868680"/>
          </a:xfrm>
          <a:prstGeom prst="roundRect">
            <a:avLst/>
          </a:prstGeom>
          <a:solidFill>
            <a:srgbClr val="EEF8F1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76749"/>
                </a:solidFill>
                <a:latin typeface="Yu Gothic"/>
              </a:rPr>
              <a:t>つながり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第1回で「直前を見る」制約を体験しておくと、第2回でSelf-Attentionの便利さが見えやすくなります。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95160" y="6473952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第1回 | 15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50876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LIMITATION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実LLMとの差分と未扱い範囲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75569"/>
                </a:solidFill>
                <a:latin typeface="Yu Gothic"/>
              </a:rPr>
              <a:t>教材として分かりやすくするため、実LLMよりかなり単純化しています。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783080"/>
          <a:ext cx="1042416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8321040"/>
              </a:tblGrid>
              <a:tr h="4953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項目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この回での扱い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データ量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短い教材用コーパスだけを使う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モデル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ニューラルネットワークではなくn-gram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文脈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直前n個のtokenだけを見る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意味理解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人間のように意味を理解しているわけではない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学習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重み更新やBackpropagationは扱わない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" y="5212080"/>
            <a:ext cx="10424160" cy="548640"/>
          </a:xfrm>
          <a:prstGeom prst="roundRect">
            <a:avLst/>
          </a:prstGeom>
          <a:solidFill>
            <a:srgbClr val="FFF4CC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8A5A2B"/>
                </a:solidFill>
                <a:latin typeface="Yu Gothic"/>
              </a:rPr>
              <a:t>安全注記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コード自体は外部APIにアクセスしませんが、Python in Excelの実行環境はMicrosoft Cloud上です。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95160" y="6473952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第1回 | 16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50876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まとめと次回導線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75569"/>
                </a:solidFill>
                <a:latin typeface="Yu Gothic"/>
              </a:rPr>
              <a:t>第1回では、言語モデルの入口として「次tokenを選ぶ」流れを観察しました。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2971800" cy="1051560"/>
          </a:xfrm>
          <a:prstGeom prst="roundRect">
            <a:avLst/>
          </a:prstGeom>
          <a:solidFill>
            <a:srgbClr val="EEF8F1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76749"/>
                </a:solidFill>
                <a:latin typeface="Yu Gothic"/>
              </a:rPr>
              <a:t>分かったこと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n-gramは直前のtoken列から次候補を数えます。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828800"/>
            <a:ext cx="2971800" cy="1051560"/>
          </a:xfrm>
          <a:prstGeom prst="roundRect">
            <a:avLst/>
          </a:prstGeom>
          <a:solidFill>
            <a:srgbClr val="EEF8F1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76749"/>
                </a:solidFill>
                <a:latin typeface="Yu Gothic"/>
              </a:rPr>
              <a:t>Excelで見る場所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A31のログ表で context / top_candidates / selected を追います。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828800"/>
            <a:ext cx="2971800" cy="1051560"/>
          </a:xfrm>
          <a:prstGeom prst="roundRect">
            <a:avLst/>
          </a:prstGeom>
          <a:solidFill>
            <a:srgbClr val="FFF4CC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8A5A2B"/>
                </a:solidFill>
                <a:latin typeface="Yu Gothic"/>
              </a:rPr>
              <a:t>限界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意味理解ではなく、出現パターンを使う教材用ミニモデルです。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4251960"/>
            <a:ext cx="978408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次回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第2回 Self-Attention では、直前だけでなく文全体のどこを見るかを重みとして観察します。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GLOSSARY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第1回 n-gram 用語集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生成ログを読むために必要な用語を整理します。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755648"/>
          <a:ext cx="10607040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7863840"/>
              </a:tblGrid>
              <a:tr h="515982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用語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説明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475569"/>
                          </a:solidFill>
                          <a:latin typeface="Yu Gothic"/>
                        </a:rPr>
                        <a:t>token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475569"/>
                          </a:solidFill>
                          <a:latin typeface="Yu Gothic"/>
                        </a:rPr>
                        <a:t>文章を分けた処理単位。第1回では正規表現による簡易token化を使います。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475569"/>
                          </a:solidFill>
                          <a:latin typeface="Yu Gothic"/>
                        </a:rPr>
                        <a:t>n-gram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475569"/>
                          </a:solidFill>
                          <a:latin typeface="Yu Gothic"/>
                        </a:rPr>
                        <a:t>直前n個のtokenをcontextとして、次に来るtokenを数える方法です。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475569"/>
                          </a:solidFill>
                          <a:latin typeface="Yu Gothic"/>
                        </a:rPr>
                        <a:t>context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475569"/>
                          </a:solidFill>
                          <a:latin typeface="Yu Gothic"/>
                        </a:rPr>
                        <a:t>そのstepで直前に見ていたtoken列。モデル次数が2なら直前2tokenです。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475569"/>
                          </a:solidFill>
                          <a:latin typeface="Yu Gothic"/>
                        </a:rPr>
                        <a:t>top_candidates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475569"/>
                          </a:solidFill>
                          <a:latin typeface="Yu Gothic"/>
                        </a:rPr>
                        <a:t>そのcontextで候補になったtoken、回数、確率の上位です。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475569"/>
                          </a:solidFill>
                          <a:latin typeface="Yu Gothic"/>
                        </a:rPr>
                        <a:t>selected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475569"/>
                          </a:solidFill>
                          <a:latin typeface="Yu Gothic"/>
                        </a:rPr>
                        <a:t>候補の中から実際に選ばれたtokenです。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5988"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475569"/>
                          </a:solidFill>
                          <a:latin typeface="Yu Gothic"/>
                        </a:rPr>
                        <a:t>temperature / seed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475569"/>
                          </a:solidFill>
                          <a:latin typeface="Yu Gothic"/>
                        </a:rPr>
                        <a:t>temperatureはばらつき、seedは乱数の再現性を調整します。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22960" y="5650992"/>
            <a:ext cx="10607040" cy="530352"/>
          </a:xfrm>
          <a:prstGeom prst="roundRect">
            <a:avLst/>
          </a:prstGeom>
          <a:solidFill>
            <a:srgbClr val="EEF8F1"/>
          </a:solidFill>
          <a:ln>
            <a:solidFill>
              <a:srgbClr val="C4E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200" b="1">
                <a:solidFill>
                  <a:srgbClr val="276749"/>
                </a:solidFill>
                <a:latin typeface="Yu Gothic"/>
              </a:rPr>
              <a:t>第1回では、意味理解ではなく、直前の並びから次候補を選ぶ流れを見ます。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95160" y="6473952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第1回 |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