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70" r:id="rId21"/>
    <p:sldId id="271" r:id="rId22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slide" Target="slides/slide14.xml"/><Relationship Id="rId19" Type="http://schemas.openxmlformats.org/officeDocument/2006/relationships/slide" Target="slides/slide15.xml"/><Relationship Id="rId20" Type="http://schemas.openxmlformats.org/officeDocument/2006/relationships/slide" Target="slides/slide16.xml"/><Relationship Id="rId21" Type="http://schemas.openxmlformats.org/officeDocument/2006/relationships/slide" Target="slides/slide6.xml"/><Relationship Id="rId22" Type="http://schemas.openxmlformats.org/officeDocument/2006/relationships/slide" Target="slides/slide7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995160" y="6473952"/>
            <a:ext cx="48006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>
                <a:solidFill>
                  <a:srgbClr val="64748B"/>
                </a:solidFill>
                <a:latin typeface="Yu Gothic"/>
              </a:rPr>
              <a:t>Excelで体験する言語モデルのしくみ | 第3回 | 1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292608"/>
            <a:ext cx="1508760" cy="310896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/>
          <a:lstStyle/>
          <a:p>
            <a:pPr algn="ctr"/>
            <a:r>
              <a:rPr sz="900" b="1">
                <a:solidFill>
                  <a:srgbClr val="2F6690"/>
                </a:solidFill>
                <a:latin typeface="Yu Gothic"/>
              </a:rPr>
              <a:t>TITLE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6949440" cy="594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500" b="1">
                <a:solidFill>
                  <a:srgbClr val="24324B"/>
                </a:solidFill>
                <a:latin typeface="Yu Gothic"/>
              </a:rPr>
              <a:t>Excelで体験する 言語モデルのしくみ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36192"/>
            <a:ext cx="530352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300" b="1">
                <a:solidFill>
                  <a:srgbClr val="2F6690"/>
                </a:solidFill>
                <a:latin typeface="Yu Gothic"/>
              </a:rPr>
              <a:t>第3回 Embedding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148840"/>
            <a:ext cx="58064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500" b="0">
                <a:solidFill>
                  <a:srgbClr val="475569"/>
                </a:solidFill>
                <a:latin typeface="Yu Gothic"/>
              </a:rPr>
              <a:t>tokenを、計算できる数値ベクトルとして見る回です。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3182112"/>
            <a:ext cx="4937760" cy="1097280"/>
          </a:xfrm>
          <a:prstGeom prst="roundRect">
            <a:avLst/>
          </a:prstGeom>
          <a:solidFill>
            <a:srgbClr val="EEF8F1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76749"/>
                </a:solidFill>
                <a:latin typeface="Yu Gothic"/>
              </a:rPr>
              <a:t>今回の狙い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token IDはただの番号、Embeddingは近さを計算できる表現だと理解します。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29400" y="2331720"/>
            <a:ext cx="1143000" cy="749808"/>
          </a:xfrm>
          <a:prstGeom prst="roundRect">
            <a:avLst/>
          </a:prstGeom>
          <a:solidFill>
            <a:srgbClr val="EAF4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token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2331720"/>
            <a:ext cx="1143000" cy="749808"/>
          </a:xfrm>
          <a:prstGeom prst="roundRect">
            <a:avLst/>
          </a:prstGeom>
          <a:solidFill>
            <a:srgbClr val="EAF4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vector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464040" y="2331720"/>
            <a:ext cx="1143000" cy="749808"/>
          </a:xfrm>
          <a:prstGeom prst="roundRect">
            <a:avLst/>
          </a:prstGeom>
          <a:solidFill>
            <a:srgbClr val="EAF4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similarity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772400" y="2706624"/>
            <a:ext cx="274320" cy="0"/>
          </a:xfrm>
          <a:prstGeom prst="line">
            <a:avLst/>
          </a:prstGeom>
          <a:ln w="17780">
            <a:solidFill>
              <a:srgbClr val="AEBE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9189720" y="2706624"/>
            <a:ext cx="274320" cy="0"/>
          </a:xfrm>
          <a:prstGeom prst="line">
            <a:avLst/>
          </a:prstGeom>
          <a:ln w="17780">
            <a:solidFill>
              <a:srgbClr val="AEBE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360920" y="3703320"/>
            <a:ext cx="3429000" cy="749808"/>
          </a:xfrm>
          <a:prstGeom prst="roundRect">
            <a:avLst/>
          </a:prstGeom>
          <a:solidFill>
            <a:srgbClr val="FFFF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数値で比べる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向きの近さを計算する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995160" y="6473952"/>
            <a:ext cx="48006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>
                <a:solidFill>
                  <a:srgbClr val="64748B"/>
                </a:solidFill>
                <a:latin typeface="Yu Gothic"/>
              </a:rPr>
              <a:t>Excelで体験する言語モデルのしくみ | 第3回 | 2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292608"/>
            <a:ext cx="1508760" cy="310896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/>
          <a:lstStyle/>
          <a:p>
            <a:pPr algn="ctr"/>
            <a:r>
              <a:rPr sz="900" b="1">
                <a:solidFill>
                  <a:srgbClr val="2F6690"/>
                </a:solidFill>
                <a:latin typeface="Yu Gothic"/>
              </a:rPr>
              <a:t>SERIES 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800" b="1">
                <a:solidFill>
                  <a:srgbClr val="24324B"/>
                </a:solidFill>
                <a:latin typeface="Yu Gothic"/>
              </a:rPr>
              <a:t>全10回の中の位置づけ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53312"/>
            <a:ext cx="105156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0">
                <a:solidFill>
                  <a:srgbClr val="475569"/>
                </a:solidFill>
                <a:latin typeface="Yu Gothic"/>
              </a:rPr>
              <a:t>第3回は、tokenを数値ベクトルにするEmbeddingを扱います。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783080"/>
            <a:ext cx="5074920" cy="512064"/>
          </a:xfrm>
          <a:prstGeom prst="roundRect">
            <a:avLst/>
          </a:prstGeom>
          <a:solidFill>
            <a:srgbClr val="FFFF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第1回 n-gram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直前の並びから次を考える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783080"/>
            <a:ext cx="5074920" cy="512064"/>
          </a:xfrm>
          <a:prstGeom prst="roundRect">
            <a:avLst/>
          </a:prstGeom>
          <a:solidFill>
            <a:srgbClr val="FFFF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第2回 Self-Attention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文全体のどこを見るかを重みで見る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2496312"/>
            <a:ext cx="5074920" cy="512064"/>
          </a:xfrm>
          <a:prstGeom prst="roundRect">
            <a:avLst/>
          </a:prstGeom>
          <a:solidFill>
            <a:srgbClr val="EEF8F1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76749"/>
                </a:solidFill>
                <a:latin typeface="Yu Gothic"/>
              </a:rPr>
              <a:t>第3回 Embedding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tokenを数値ベクトルにする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2496312"/>
            <a:ext cx="5074920" cy="512064"/>
          </a:xfrm>
          <a:prstGeom prst="roundRect">
            <a:avLst/>
          </a:prstGeom>
          <a:solidFill>
            <a:srgbClr val="FFFF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第4回 Positional Encoding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tokenの順番を数値で足す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3209544"/>
            <a:ext cx="5074920" cy="512064"/>
          </a:xfrm>
          <a:prstGeom prst="roundRect">
            <a:avLst/>
          </a:prstGeom>
          <a:solidFill>
            <a:srgbClr val="FFFF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第5回 Multi-Head Attention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複数の見方を同時に走らせる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3209544"/>
            <a:ext cx="5074920" cy="512064"/>
          </a:xfrm>
          <a:prstGeom prst="roundRect">
            <a:avLst/>
          </a:prstGeom>
          <a:solidFill>
            <a:srgbClr val="FFFF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第6回 Transformer Block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AttentionとFFNを積み重ねる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3922776"/>
            <a:ext cx="5074920" cy="512064"/>
          </a:xfrm>
          <a:prstGeom prst="roundRect">
            <a:avLst/>
          </a:prstGeom>
          <a:solidFill>
            <a:srgbClr val="FFFF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第7回 Softmaxと生成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確率から次tokenを選ぶ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3922776"/>
            <a:ext cx="5074920" cy="512064"/>
          </a:xfrm>
          <a:prstGeom prst="roundRect">
            <a:avLst/>
          </a:prstGeom>
          <a:solidFill>
            <a:srgbClr val="FFFF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第8回 Lossと学習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予測のズレを数値にする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4636008"/>
            <a:ext cx="5074920" cy="512064"/>
          </a:xfrm>
          <a:prstGeom prst="roundRect">
            <a:avLst/>
          </a:prstGeom>
          <a:solidFill>
            <a:srgbClr val="FFFF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第9回 Backpropagation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ズレを元に重みを更新する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4636008"/>
            <a:ext cx="5074920" cy="512064"/>
          </a:xfrm>
          <a:prstGeom prst="roundRect">
            <a:avLst/>
          </a:prstGeom>
          <a:solidFill>
            <a:srgbClr val="FFFF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第10回 RAG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外部資料を参照して答える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5696712"/>
            <a:ext cx="98755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1">
                <a:solidFill>
                  <a:srgbClr val="276749"/>
                </a:solidFill>
                <a:latin typeface="Yu Gothic"/>
              </a:rPr>
              <a:t>第3回の到達点: token IDではなく、Embeddingベクトルとして近さを見る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995160" y="6473952"/>
            <a:ext cx="48006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>
                <a:solidFill>
                  <a:srgbClr val="64748B"/>
                </a:solidFill>
                <a:latin typeface="Yu Gothic"/>
              </a:rPr>
              <a:t>Excelで体験する言語モデルのしくみ | 第3回 | 3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292608"/>
            <a:ext cx="1508760" cy="310896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/>
          <a:lstStyle/>
          <a:p>
            <a:pPr algn="ctr"/>
            <a:r>
              <a:rPr sz="900" b="1">
                <a:solidFill>
                  <a:srgbClr val="2F6690"/>
                </a:solidFill>
                <a:latin typeface="Yu Gothic"/>
              </a:rPr>
              <a:t>GOAL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800" b="1">
                <a:solidFill>
                  <a:srgbClr val="24324B"/>
                </a:solidFill>
                <a:latin typeface="Yu Gothic"/>
              </a:rPr>
              <a:t>今日の到達点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53312"/>
            <a:ext cx="105156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0">
                <a:solidFill>
                  <a:srgbClr val="475569"/>
                </a:solidFill>
                <a:latin typeface="Yu Gothic"/>
              </a:rPr>
              <a:t>生成文ではなく、tokenを計算できる形にすることを観察します。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828800"/>
            <a:ext cx="4800600" cy="1005840"/>
          </a:xfrm>
          <a:prstGeom prst="roundRect">
            <a:avLst/>
          </a:prstGeom>
          <a:solidFill>
            <a:srgbClr val="FFFF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1. token ID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番号だけでは意味の近さは分からない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72200" y="1828800"/>
            <a:ext cx="4800600" cy="1005840"/>
          </a:xfrm>
          <a:prstGeom prst="roundRect">
            <a:avLst/>
          </a:prstGeom>
          <a:solidFill>
            <a:srgbClr val="FFFF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2. Embedding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複数の数値でtokenを表す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3246120"/>
            <a:ext cx="4800600" cy="1005840"/>
          </a:xfrm>
          <a:prstGeom prst="roundRect">
            <a:avLst/>
          </a:prstGeom>
          <a:solidFill>
            <a:srgbClr val="FFFF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3. 近さ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似ているtokenはベクトルの向きも近い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3246120"/>
            <a:ext cx="4800600" cy="1005840"/>
          </a:xfrm>
          <a:prstGeom prst="roundRect">
            <a:avLst/>
          </a:prstGeom>
          <a:solidFill>
            <a:srgbClr val="FFFF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4. 類似度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コサイン類似度で近さを数値化する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074920"/>
            <a:ext cx="10241280" cy="685800"/>
          </a:xfrm>
          <a:prstGeom prst="roundRect">
            <a:avLst/>
          </a:prstGeom>
          <a:solidFill>
            <a:srgbClr val="EEF8F1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76749"/>
                </a:solidFill>
                <a:latin typeface="Yu Gothic"/>
              </a:rPr>
              <a:t>最後に見る表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Vector Compareで2つのtokenを比べ、Similarity Matrixで全token同士の近さを確認します。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995160" y="6473952"/>
            <a:ext cx="48006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>
                <a:solidFill>
                  <a:srgbClr val="64748B"/>
                </a:solidFill>
                <a:latin typeface="Yu Gothic"/>
              </a:rPr>
              <a:t>Excelで体験する言語モデルのしくみ | 第3回 | 4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292608"/>
            <a:ext cx="1508760" cy="310896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/>
          <a:lstStyle/>
          <a:p>
            <a:pPr algn="ctr"/>
            <a:r>
              <a:rPr sz="900" b="1">
                <a:solidFill>
                  <a:srgbClr val="2F6690"/>
                </a:solidFill>
                <a:latin typeface="Yu Gothic"/>
              </a:rPr>
              <a:t>CONCEPT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800" b="1">
                <a:solidFill>
                  <a:srgbClr val="24324B"/>
                </a:solidFill>
                <a:latin typeface="Yu Gothic"/>
              </a:rPr>
              <a:t>token IDとEmbeddingの違い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53312"/>
            <a:ext cx="105156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0">
                <a:solidFill>
                  <a:srgbClr val="475569"/>
                </a:solidFill>
                <a:latin typeface="Yu Gothic"/>
              </a:rPr>
              <a:t>ID番号とベクトル表現は、役割が違います。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68680" y="1828800"/>
            <a:ext cx="4663440" cy="1417320"/>
          </a:xfrm>
          <a:prstGeom prst="roundRect">
            <a:avLst/>
          </a:prstGeom>
          <a:solidFill>
            <a:srgbClr val="FFFF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token ID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犬 = 1、猫 = 2、車 = 3
番号だけでは近さは分からない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80760" y="1828800"/>
            <a:ext cx="4663440" cy="1417320"/>
          </a:xfrm>
          <a:prstGeom prst="roundRect">
            <a:avLst/>
          </a:prstGeom>
          <a:solidFill>
            <a:srgbClr val="EEF8F1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76749"/>
                </a:solidFill>
                <a:latin typeface="Yu Gothic"/>
              </a:rPr>
              <a:t>Embedding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犬 = [0.90, 0.05, 0.05, 0.00]
複数の数値で特徴を見る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960120" y="3886200"/>
          <a:ext cx="9966960" cy="1143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/>
                <a:gridCol w="1920240"/>
                <a:gridCol w="3063240"/>
                <a:gridCol w="3063240"/>
              </a:tblGrid>
              <a:tr h="381000"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Yu Gothic"/>
                        </a:rPr>
                        <a:t>token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Yu Gothic"/>
                        </a:rPr>
                        <a:t>token_id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Yu Gothic"/>
                        </a:rPr>
                        <a:t>dim_1_living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Yu Gothic"/>
                        </a:rPr>
                        <a:t>dim_2_vehicle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ctr"/>
                      <a:r>
                        <a:rPr sz="1150">
                          <a:solidFill>
                            <a:srgbClr val="475569"/>
                          </a:solidFill>
                          <a:latin typeface="Yu Gothic"/>
                        </a:rPr>
                        <a:t>犬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475569"/>
                          </a:solidFill>
                          <a:latin typeface="Yu Gothic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475569"/>
                          </a:solidFill>
                          <a:latin typeface="Yu Gothic"/>
                        </a:rPr>
                        <a:t>0.90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475569"/>
                          </a:solidFill>
                          <a:latin typeface="Yu Gothic"/>
                        </a:rPr>
                        <a:t>0.05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ctr"/>
                      <a:r>
                        <a:rPr sz="1150">
                          <a:solidFill>
                            <a:srgbClr val="475569"/>
                          </a:solidFill>
                          <a:latin typeface="Yu Gothic"/>
                        </a:rPr>
                        <a:t>猫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475569"/>
                          </a:solidFill>
                          <a:latin typeface="Yu Gothic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475569"/>
                          </a:solidFill>
                          <a:latin typeface="Yu Gothic"/>
                        </a:rPr>
                        <a:t>0.85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475569"/>
                          </a:solidFill>
                          <a:latin typeface="Yu Gothic"/>
                        </a:rPr>
                        <a:t>0.05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960120" y="5440680"/>
            <a:ext cx="9966960" cy="502920"/>
          </a:xfrm>
          <a:prstGeom prst="roundRect">
            <a:avLst/>
          </a:prstGeom>
          <a:solidFill>
            <a:srgbClr val="EEF8F1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76749"/>
                </a:solidFill>
                <a:latin typeface="Yu Gothic"/>
              </a:rPr>
              <a:t>主役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今回の主役は、IDではなく「ベクトルとしての表現」です。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995160" y="6473952"/>
            <a:ext cx="48006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>
                <a:solidFill>
                  <a:srgbClr val="64748B"/>
                </a:solidFill>
                <a:latin typeface="Yu Gothic"/>
              </a:rPr>
              <a:t>Excelで体験する言語モデルのしくみ | 第3回 | 5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292608"/>
            <a:ext cx="1508760" cy="310896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/>
          <a:lstStyle/>
          <a:p>
            <a:pPr algn="ctr"/>
            <a:r>
              <a:rPr sz="900" b="1">
                <a:solidFill>
                  <a:srgbClr val="2F6690"/>
                </a:solidFill>
                <a:latin typeface="Yu Gothic"/>
              </a:rPr>
              <a:t>DEMO ASSET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800" b="1">
                <a:solidFill>
                  <a:srgbClr val="24324B"/>
                </a:solidFill>
                <a:latin typeface="Yu Gothic"/>
              </a:rPr>
              <a:t>Excelで作ったもの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53312"/>
            <a:ext cx="105156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0">
                <a:solidFill>
                  <a:srgbClr val="475569"/>
                </a:solidFill>
                <a:latin typeface="Yu Gothic"/>
              </a:rPr>
              <a:t>Python in Excelで動く、Embedding観察デモです。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874519"/>
            <a:ext cx="466344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01_INPUT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token A / token B / 表示モード / Map軸を選ぶ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35040" y="1874519"/>
            <a:ext cx="466344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10_RUN_PYTHON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Pythonセルを作って実行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3172968"/>
            <a:ext cx="466344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11_PYTHON_CODE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貼り付け用コードの参照先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35040" y="3172968"/>
            <a:ext cx="466344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DataFrameカード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結果表を開いて確認する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4754880"/>
            <a:ext cx="9966960" cy="804672"/>
          </a:xfrm>
          <a:prstGeom prst="roundRect">
            <a:avLst/>
          </a:prstGeom>
          <a:solidFill>
            <a:srgbClr val="FFF4CC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8A5A2B"/>
                </a:solidFill>
                <a:latin typeface="Yu Gothic"/>
              </a:rPr>
              <a:t>教材の範囲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本物のLLMではなく、4次元の固定ベクトルを使った仕組み説明用の小さなデモです。</a:t>
            </a:r>
          </a:p>
        </p:txBody>
      </p:sp>
      <p:sp>
        <p:nvSpPr>
          <p:cNvPr id="11" name="github_demo_asset_url"/>
          <p:cNvSpPr txBox="1"/>
          <p:nvPr/>
        </p:nvSpPr>
        <p:spPr>
          <a:xfrm>
            <a:off x="658368" y="5998464"/>
            <a:ext cx="10652760" cy="310896"/>
          </a:xfrm>
          <a:prstGeom prst="rect">
            <a:avLst/>
          </a:prstGeom>
          <a:noFill/>
        </p:spPr>
        <p:txBody>
          <a:bodyPr wrap="none" lIns="45720" rIns="45720" tIns="9144" bIns="9144">
            <a:spAutoFit/>
          </a:bodyPr>
          <a:lstStyle/>
          <a:p>
            <a:pPr algn="l"/>
            <a:r>
              <a:rPr sz="900">
                <a:solidFill>
                  <a:srgbClr val="4E5E6E"/>
                </a:solidFill>
                <a:latin typeface="Yu Gothic"/>
              </a:rPr>
              <a:t>デモ一式: https://github.com/KanameShiga-dev/excel-python-mini-llm-demo/tree/main/第3回_Embedding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292608"/>
            <a:ext cx="1508760" cy="310896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2F6690"/>
                </a:solidFill>
                <a:latin typeface="Yu Gothic"/>
              </a:rPr>
              <a:t>INPUT SHEET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86384"/>
            <a:ext cx="108813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800" b="1">
                <a:solidFill>
                  <a:srgbClr val="24324B"/>
                </a:solidFill>
                <a:latin typeface="Yu Gothic"/>
              </a:rPr>
              <a:t>01_INPUT の画面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353312"/>
            <a:ext cx="105156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0">
                <a:solidFill>
                  <a:srgbClr val="475569"/>
                </a:solidFill>
                <a:latin typeface="Yu Gothic"/>
              </a:rPr>
              <a:t>ExcelをUIとして触る入口を、先に画面で確認します。</a:t>
            </a:r>
          </a:p>
        </p:txBody>
      </p:sp>
      <p:pic>
        <p:nvPicPr>
          <p:cNvPr id="5" name="Picture 4" descr="input_sheet_screensh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1856231"/>
            <a:ext cx="10287000" cy="34290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22960" y="5650992"/>
            <a:ext cx="10607040" cy="530352"/>
          </a:xfrm>
          <a:prstGeom prst="roundRect">
            <a:avLst/>
          </a:prstGeom>
          <a:solidFill>
            <a:srgbClr val="EEF8F1"/>
          </a:solidFill>
          <a:ln>
            <a:solidFill>
              <a:srgbClr val="C4E0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200" b="1">
                <a:solidFill>
                  <a:srgbClr val="276749"/>
                </a:solidFill>
                <a:latin typeface="Yu Gothic"/>
              </a:rPr>
              <a:t>比較するtoken、表示モード、Map軸を変えて、近さの見え方を確認します。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95160" y="6473952"/>
            <a:ext cx="48006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>
                <a:solidFill>
                  <a:srgbClr val="64748B"/>
                </a:solidFill>
                <a:latin typeface="Yu Gothic"/>
              </a:rPr>
              <a:t>Excelで体験する言語モデルのしくみ | 第3回 | 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292608"/>
            <a:ext cx="1508760" cy="310896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2F6690"/>
                </a:solidFill>
                <a:latin typeface="Yu Gothic"/>
              </a:rPr>
              <a:t>EXCEL UI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86384"/>
            <a:ext cx="108813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800" b="1">
                <a:solidFill>
                  <a:srgbClr val="24324B"/>
                </a:solidFill>
                <a:latin typeface="Yu Gothic"/>
              </a:rPr>
              <a:t>Excel UIで何を変えるか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353312"/>
            <a:ext cx="105156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0">
                <a:solidFill>
                  <a:srgbClr val="475569"/>
                </a:solidFill>
                <a:latin typeface="Yu Gothic"/>
              </a:rPr>
              <a:t>比較するtoken、表示モード、Map軸を変えて、Embeddingの近さを観察します。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22960" y="1755648"/>
          <a:ext cx="10607040" cy="3611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5120640"/>
              </a:tblGrid>
              <a:tr h="515982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Yu Gothic"/>
                        </a:rPr>
                        <a:t>場所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Yu Gothic"/>
                        </a:rPr>
                        <a:t>変更・確認するもの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Yu Gothic"/>
                        </a:rPr>
                        <a:t>見える変化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</a:tr>
              <a:tr h="515982">
                <a:tc>
                  <a:txBody>
                    <a:bodyPr/>
                    <a:lstStyle/>
                    <a:p>
                      <a:pPr algn="ctr"/>
                      <a:r>
                        <a:rPr sz="980" b="1">
                          <a:solidFill>
                            <a:srgbClr val="475569"/>
                          </a:solidFill>
                          <a:latin typeface="Yu Gothic"/>
                        </a:rPr>
                        <a:t>01_INPUT!B3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80" b="0">
                          <a:solidFill>
                            <a:srgbClr val="475569"/>
                          </a:solidFill>
                          <a:latin typeface="Yu Gothic"/>
                        </a:rPr>
                        <a:t>token 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19" b="0">
                          <a:solidFill>
                            <a:srgbClr val="475569"/>
                          </a:solidFill>
                          <a:latin typeface="Yu Gothic"/>
                        </a:rPr>
                        <a:t>比較対象の左側が変わる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15982">
                <a:tc>
                  <a:txBody>
                    <a:bodyPr/>
                    <a:lstStyle/>
                    <a:p>
                      <a:pPr algn="ctr"/>
                      <a:r>
                        <a:rPr sz="980" b="1">
                          <a:solidFill>
                            <a:srgbClr val="475569"/>
                          </a:solidFill>
                          <a:latin typeface="Yu Gothic"/>
                        </a:rPr>
                        <a:t>01_INPUT!B4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80" b="0">
                          <a:solidFill>
                            <a:srgbClr val="475569"/>
                          </a:solidFill>
                          <a:latin typeface="Yu Gothic"/>
                        </a:rPr>
                        <a:t>token 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19" b="0">
                          <a:solidFill>
                            <a:srgbClr val="475569"/>
                          </a:solidFill>
                          <a:latin typeface="Yu Gothic"/>
                        </a:rPr>
                        <a:t>比較対象の右側が変わる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15982">
                <a:tc>
                  <a:txBody>
                    <a:bodyPr/>
                    <a:lstStyle/>
                    <a:p>
                      <a:pPr algn="ctr"/>
                      <a:r>
                        <a:rPr sz="980" b="1">
                          <a:solidFill>
                            <a:srgbClr val="475569"/>
                          </a:solidFill>
                          <a:latin typeface="Yu Gothic"/>
                        </a:rPr>
                        <a:t>01_INPUT!B5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80" b="0">
                          <a:solidFill>
                            <a:srgbClr val="475569"/>
                          </a:solidFill>
                          <a:latin typeface="Yu Gothic"/>
                        </a:rPr>
                        <a:t>表示モード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19" b="0">
                          <a:solidFill>
                            <a:srgbClr val="475569"/>
                          </a:solidFill>
                          <a:latin typeface="Yu Gothic"/>
                        </a:rPr>
                        <a:t>Vector CompareやSimilarity Matrixに切り替わる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15982">
                <a:tc>
                  <a:txBody>
                    <a:bodyPr/>
                    <a:lstStyle/>
                    <a:p>
                      <a:pPr algn="ctr"/>
                      <a:r>
                        <a:rPr sz="980" b="1">
                          <a:solidFill>
                            <a:srgbClr val="475569"/>
                          </a:solidFill>
                          <a:latin typeface="Yu Gothic"/>
                        </a:rPr>
                        <a:t>01_INPUT!B6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80" b="0">
                          <a:solidFill>
                            <a:srgbClr val="475569"/>
                          </a:solidFill>
                          <a:latin typeface="Yu Gothic"/>
                        </a:rPr>
                        <a:t>Map X軸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19" b="0">
                          <a:solidFill>
                            <a:srgbClr val="475569"/>
                          </a:solidFill>
                          <a:latin typeface="Yu Gothic"/>
                        </a:rPr>
                        <a:t>Map Viewの横軸が変わる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15982">
                <a:tc>
                  <a:txBody>
                    <a:bodyPr/>
                    <a:lstStyle/>
                    <a:p>
                      <a:pPr algn="ctr"/>
                      <a:r>
                        <a:rPr sz="980" b="1">
                          <a:solidFill>
                            <a:srgbClr val="475569"/>
                          </a:solidFill>
                          <a:latin typeface="Yu Gothic"/>
                        </a:rPr>
                        <a:t>01_INPUT!B7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80" b="0">
                          <a:solidFill>
                            <a:srgbClr val="475569"/>
                          </a:solidFill>
                          <a:latin typeface="Yu Gothic"/>
                        </a:rPr>
                        <a:t>Map Y軸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19" b="0">
                          <a:solidFill>
                            <a:srgbClr val="475569"/>
                          </a:solidFill>
                          <a:latin typeface="Yu Gothic"/>
                        </a:rPr>
                        <a:t>Map Viewの縦軸が変わる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15988">
                <a:tc>
                  <a:txBody>
                    <a:bodyPr/>
                    <a:lstStyle/>
                    <a:p>
                      <a:pPr algn="ctr"/>
                      <a:r>
                        <a:rPr sz="980" b="1">
                          <a:solidFill>
                            <a:srgbClr val="475569"/>
                          </a:solidFill>
                          <a:latin typeface="Yu Gothic"/>
                        </a:rPr>
                        <a:t>組み合わせ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80" b="0">
                          <a:solidFill>
                            <a:srgbClr val="475569"/>
                          </a:solidFill>
                          <a:latin typeface="Yu Gothic"/>
                        </a:rPr>
                        <a:t>犬/猫、犬/DB、保存/削除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19" b="0">
                          <a:solidFill>
                            <a:srgbClr val="475569"/>
                          </a:solidFill>
                          <a:latin typeface="Yu Gothic"/>
                        </a:rPr>
                        <a:t>類似度の高低が見える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822960" y="5650992"/>
            <a:ext cx="10607040" cy="530352"/>
          </a:xfrm>
          <a:prstGeom prst="roundRect">
            <a:avLst/>
          </a:prstGeom>
          <a:solidFill>
            <a:srgbClr val="EEF8F1"/>
          </a:solidFill>
          <a:ln>
            <a:solidFill>
              <a:srgbClr val="C4E0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200" b="1">
                <a:solidFill>
                  <a:srgbClr val="276749"/>
                </a:solidFill>
                <a:latin typeface="Yu Gothic"/>
              </a:rPr>
              <a:t>ExcelをUIにして、tokenの組み合わせを変えながらcosine_similarityやMap Viewの変化を見ます。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95160" y="6473952"/>
            <a:ext cx="48006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>
                <a:solidFill>
                  <a:srgbClr val="64748B"/>
                </a:solidFill>
                <a:latin typeface="Yu Gothic"/>
              </a:rPr>
              <a:t>Excelで体験する言語モデルのしくみ | 第3回 | 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995160" y="6473952"/>
            <a:ext cx="48006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>
                <a:solidFill>
                  <a:srgbClr val="64748B"/>
                </a:solidFill>
                <a:latin typeface="Yu Gothic"/>
              </a:rPr>
              <a:t>Excelで体験する言語モデルのしくみ | 第3回 | 8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292608"/>
            <a:ext cx="1508760" cy="310896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/>
          <a:lstStyle/>
          <a:p>
            <a:pPr algn="ctr"/>
            <a:r>
              <a:rPr sz="900" b="1">
                <a:solidFill>
                  <a:srgbClr val="2F6690"/>
                </a:solidFill>
                <a:latin typeface="Yu Gothic"/>
              </a:rPr>
              <a:t>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800" b="1">
                <a:solidFill>
                  <a:srgbClr val="24324B"/>
                </a:solidFill>
                <a:latin typeface="Yu Gothic"/>
              </a:rPr>
              <a:t>処理の流れ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53312"/>
            <a:ext cx="105156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0">
                <a:solidFill>
                  <a:srgbClr val="475569"/>
                </a:solidFill>
                <a:latin typeface="Yu Gothic"/>
              </a:rPr>
              <a:t>tokenを表から探し、ベクトル同士の近さを計算します。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2331720"/>
            <a:ext cx="1417320" cy="868680"/>
          </a:xfrm>
          <a:prstGeom prst="roundRect">
            <a:avLst/>
          </a:prstGeom>
          <a:solidFill>
            <a:srgbClr val="EAF4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select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tokenを選ぶ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002536" y="2761488"/>
            <a:ext cx="329184" cy="0"/>
          </a:xfrm>
          <a:prstGeom prst="line">
            <a:avLst/>
          </a:prstGeom>
          <a:ln w="17780">
            <a:solidFill>
              <a:srgbClr val="AEBE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441448" y="2331720"/>
            <a:ext cx="1417320" cy="868680"/>
          </a:xfrm>
          <a:prstGeom prst="roundRect">
            <a:avLst/>
          </a:prstGeom>
          <a:solidFill>
            <a:srgbClr val="EAF4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lookup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Embedding表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877056" y="2761488"/>
            <a:ext cx="329184" cy="0"/>
          </a:xfrm>
          <a:prstGeom prst="line">
            <a:avLst/>
          </a:prstGeom>
          <a:ln w="17780">
            <a:solidFill>
              <a:srgbClr val="AEBE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4315968" y="2331720"/>
            <a:ext cx="1417320" cy="868680"/>
          </a:xfrm>
          <a:prstGeom prst="roundRect">
            <a:avLst/>
          </a:prstGeom>
          <a:solidFill>
            <a:srgbClr val="EAF4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compare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2つを比較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751576" y="2761488"/>
            <a:ext cx="329183" cy="0"/>
          </a:xfrm>
          <a:prstGeom prst="line">
            <a:avLst/>
          </a:prstGeom>
          <a:ln w="17780">
            <a:solidFill>
              <a:srgbClr val="AEBE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6190488" y="2331720"/>
            <a:ext cx="1417320" cy="868680"/>
          </a:xfrm>
          <a:prstGeom prst="roundRect">
            <a:avLst/>
          </a:prstGeom>
          <a:solidFill>
            <a:srgbClr val="EAF4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cosine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類似度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626096" y="2761488"/>
            <a:ext cx="329183" cy="0"/>
          </a:xfrm>
          <a:prstGeom prst="line">
            <a:avLst/>
          </a:prstGeom>
          <a:ln w="17780">
            <a:solidFill>
              <a:srgbClr val="AEBE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8065007" y="2331720"/>
            <a:ext cx="1417320" cy="868680"/>
          </a:xfrm>
          <a:prstGeom prst="roundRect">
            <a:avLst/>
          </a:prstGeom>
          <a:solidFill>
            <a:srgbClr val="EAF4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matrix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全体比較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9500615" y="2761488"/>
            <a:ext cx="329184" cy="0"/>
          </a:xfrm>
          <a:prstGeom prst="line">
            <a:avLst/>
          </a:prstGeom>
          <a:ln w="17780">
            <a:solidFill>
              <a:srgbClr val="AEBE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9939528" y="2331720"/>
            <a:ext cx="1417320" cy="868680"/>
          </a:xfrm>
          <a:prstGeom prst="roundRect">
            <a:avLst/>
          </a:prstGeom>
          <a:solidFill>
            <a:srgbClr val="EAF4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map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2軸で見る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14400" y="4251960"/>
            <a:ext cx="9966960" cy="822960"/>
          </a:xfrm>
          <a:prstGeom prst="roundRect">
            <a:avLst/>
          </a:prstGeom>
          <a:solidFill>
            <a:srgbClr val="EEF8F1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76749"/>
                </a:solidFill>
                <a:latin typeface="Yu Gothic"/>
              </a:rPr>
              <a:t>今回のポイント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tokenの文字列そのものではなく、ベクトルの数値を使って近さを計算します。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995160" y="6473952"/>
            <a:ext cx="48006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>
                <a:solidFill>
                  <a:srgbClr val="64748B"/>
                </a:solidFill>
                <a:latin typeface="Yu Gothic"/>
              </a:rPr>
              <a:t>Excelで体験する言語モデルのしくみ | 第3回 | 9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292608"/>
            <a:ext cx="1508760" cy="310896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/>
          <a:lstStyle/>
          <a:p>
            <a:pPr algn="ctr"/>
            <a:r>
              <a:rPr sz="900" b="1">
                <a:solidFill>
                  <a:srgbClr val="2F6690"/>
                </a:solidFill>
                <a:latin typeface="Yu Gothic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800" b="1">
                <a:solidFill>
                  <a:srgbClr val="24324B"/>
                </a:solidFill>
                <a:latin typeface="Yu Gothic"/>
              </a:rPr>
              <a:t>入力データと表の見方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53312"/>
            <a:ext cx="105156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0">
                <a:solidFill>
                  <a:srgbClr val="475569"/>
                </a:solidFill>
                <a:latin typeface="Yu Gothic"/>
              </a:rPr>
              <a:t>教材用データは8つのtokenと4次元のEmbeddingです。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847088"/>
            <a:ext cx="4754880" cy="960120"/>
          </a:xfrm>
          <a:prstGeom prst="roundRect">
            <a:avLst/>
          </a:prstGeom>
          <a:solidFill>
            <a:srgbClr val="FFFF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入力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01_INPUT!B6〜B10。比較token、表示モード、Map軸を選びます。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806440" y="1847088"/>
            <a:ext cx="4800600" cy="960120"/>
          </a:xfrm>
          <a:prstGeom prst="roundRect">
            <a:avLst/>
          </a:prstGeom>
          <a:solidFill>
            <a:srgbClr val="FFFF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次元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dim_1_living / dim_2_vehicle / dim_3_action / dim_4_system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914400" y="3429000"/>
          <a:ext cx="9966960" cy="1234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6309360"/>
              </a:tblGrid>
              <a:tr h="24688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Yu Gothic"/>
                        </a:rPr>
                        <a:t>次元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Yu Gothic"/>
                        </a:rPr>
                        <a:t>教材上の読み方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475569"/>
                          </a:solidFill>
                          <a:latin typeface="Yu Gothic"/>
                        </a:rPr>
                        <a:t>dim_1_living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475569"/>
                          </a:solidFill>
                          <a:latin typeface="Yu Gothic"/>
                        </a:rPr>
                        <a:t>生き物寄り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475569"/>
                          </a:solidFill>
                          <a:latin typeface="Yu Gothic"/>
                        </a:rPr>
                        <a:t>dim_2_vehicle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475569"/>
                          </a:solidFill>
                          <a:latin typeface="Yu Gothic"/>
                        </a:rPr>
                        <a:t>乗り物寄り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475569"/>
                          </a:solidFill>
                          <a:latin typeface="Yu Gothic"/>
                        </a:rPr>
                        <a:t>dim_3_action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475569"/>
                          </a:solidFill>
                          <a:latin typeface="Yu Gothic"/>
                        </a:rPr>
                        <a:t>操作寄り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475569"/>
                          </a:solidFill>
                          <a:latin typeface="Yu Gothic"/>
                        </a:rPr>
                        <a:t>dim_4_system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475569"/>
                          </a:solidFill>
                          <a:latin typeface="Yu Gothic"/>
                        </a:rPr>
                        <a:t>システム寄り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914400" y="5257800"/>
            <a:ext cx="9966960" cy="594360"/>
          </a:xfrm>
          <a:prstGeom prst="roundRect">
            <a:avLst/>
          </a:prstGeom>
          <a:solidFill>
            <a:srgbClr val="FFF4CC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8A5A2B"/>
                </a:solidFill>
                <a:latin typeface="Yu Gothic"/>
              </a:rPr>
              <a:t>注意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本物のEmbeddingでは、各次元が人間に読める意味を持つとは限りません。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995160" y="6473952"/>
            <a:ext cx="48006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>
                <a:solidFill>
                  <a:srgbClr val="64748B"/>
                </a:solidFill>
                <a:latin typeface="Yu Gothic"/>
              </a:rPr>
              <a:t>Excelで体験する言語モデルのしくみ | 第3回 | 10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292608"/>
            <a:ext cx="1508760" cy="310896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/>
          <a:lstStyle/>
          <a:p>
            <a:pPr algn="ctr"/>
            <a:r>
              <a:rPr sz="900" b="1">
                <a:solidFill>
                  <a:srgbClr val="2F6690"/>
                </a:solidFill>
                <a:latin typeface="Yu Gothic"/>
              </a:rPr>
              <a:t>RUNBOOK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800" b="1">
                <a:solidFill>
                  <a:srgbClr val="24324B"/>
                </a:solidFill>
                <a:latin typeface="Yu Gothic"/>
              </a:rPr>
              <a:t>デモ操作手順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53312"/>
            <a:ext cx="105156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0">
                <a:solidFill>
                  <a:srgbClr val="475569"/>
                </a:solidFill>
                <a:latin typeface="Yu Gothic"/>
              </a:rPr>
              <a:t>表示モードを切り替えながら、同じPythonセルを再実行します。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691640"/>
            <a:ext cx="4800600" cy="502920"/>
          </a:xfrm>
          <a:prstGeom prst="roundRect">
            <a:avLst/>
          </a:prstGeom>
          <a:solidFill>
            <a:srgbClr val="FFFF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1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01_INPUT の B6/B7でtokenを選ぶ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35040" y="1691640"/>
            <a:ext cx="4800600" cy="502920"/>
          </a:xfrm>
          <a:prstGeom prst="roundRect">
            <a:avLst/>
          </a:prstGeom>
          <a:solidFill>
            <a:srgbClr val="FFFF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2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B8で表示モードを選ぶ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2514600"/>
            <a:ext cx="4800600" cy="502920"/>
          </a:xfrm>
          <a:prstGeom prst="roundRect">
            <a:avLst/>
          </a:prstGeom>
          <a:solidFill>
            <a:srgbClr val="FFFF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3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B9/B10でMap軸を選ぶ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35040" y="2514600"/>
            <a:ext cx="4800600" cy="502920"/>
          </a:xfrm>
          <a:prstGeom prst="roundRect">
            <a:avLst/>
          </a:prstGeom>
          <a:solidFill>
            <a:srgbClr val="FFFF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4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10_RUN_PYTHONの実行セルを選ぶ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3337560"/>
            <a:ext cx="4800600" cy="502920"/>
          </a:xfrm>
          <a:prstGeom prst="roundRect">
            <a:avLst/>
          </a:prstGeom>
          <a:solidFill>
            <a:srgbClr val="FFFF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5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11_PYTHON_CODEのコードを貼る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035040" y="3337560"/>
            <a:ext cx="4800600" cy="502920"/>
          </a:xfrm>
          <a:prstGeom prst="roundRect">
            <a:avLst/>
          </a:prstGeom>
          <a:solidFill>
            <a:srgbClr val="FFFF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6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Ctrl + Enterで実行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4160520"/>
            <a:ext cx="4800600" cy="502920"/>
          </a:xfrm>
          <a:prstGeom prst="roundRect">
            <a:avLst/>
          </a:prstGeom>
          <a:solidFill>
            <a:srgbClr val="FFFF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7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DataFrameカードを開く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35040" y="4160520"/>
            <a:ext cx="4800600" cy="502920"/>
          </a:xfrm>
          <a:prstGeom prst="roundRect">
            <a:avLst/>
          </a:prstGeom>
          <a:solidFill>
            <a:srgbClr val="FFFF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8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必要ならExcel値として展開する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5440680"/>
            <a:ext cx="9966960" cy="566928"/>
          </a:xfrm>
          <a:prstGeom prst="roundRect">
            <a:avLst/>
          </a:prstGeom>
          <a:solidFill>
            <a:srgbClr val="EEF8F1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76749"/>
                </a:solidFill>
                <a:latin typeface="Yu Gothic"/>
              </a:rPr>
              <a:t>おすすめ順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Token ID → Embedding Table → Vector Compare → Similarity Matrix → Map View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995160" y="6473952"/>
            <a:ext cx="48006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>
                <a:solidFill>
                  <a:srgbClr val="64748B"/>
                </a:solidFill>
                <a:latin typeface="Yu Gothic"/>
              </a:rPr>
              <a:t>Excelで体験する言語モデルのしくみ | 第3回 | 11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292608"/>
            <a:ext cx="1508760" cy="310896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/>
          <a:lstStyle/>
          <a:p>
            <a:pPr algn="ctr"/>
            <a:r>
              <a:rPr sz="900" b="1">
                <a:solidFill>
                  <a:srgbClr val="2F6690"/>
                </a:solidFill>
                <a:latin typeface="Yu Gothic"/>
              </a:rPr>
              <a:t>DISPLAY MODES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800" b="1">
                <a:solidFill>
                  <a:srgbClr val="24324B"/>
                </a:solidFill>
                <a:latin typeface="Yu Gothic"/>
              </a:rPr>
              <a:t>表示表・列・変数の見方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53312"/>
            <a:ext cx="105156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0">
                <a:solidFill>
                  <a:srgbClr val="475569"/>
                </a:solidFill>
                <a:latin typeface="Yu Gothic"/>
              </a:rPr>
              <a:t>B8で5つの表示モードを切り替えます。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77240" y="1755648"/>
          <a:ext cx="10607040" cy="3154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34640"/>
                <a:gridCol w="7772400"/>
              </a:tblGrid>
              <a:tr h="52578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Yu Gothic"/>
                        </a:rPr>
                        <a:t>表示モード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Yu Gothic"/>
                        </a:rPr>
                        <a:t>見る列・変数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475569"/>
                          </a:solidFill>
                          <a:latin typeface="Yu Gothic"/>
                        </a:rPr>
                        <a:t>Token ID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475569"/>
                          </a:solidFill>
                          <a:latin typeface="Yu Gothic"/>
                        </a:rPr>
                        <a:t>token_id / token / category / note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475569"/>
                          </a:solidFill>
                          <a:latin typeface="Yu Gothic"/>
                        </a:rPr>
                        <a:t>Embedding Table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475569"/>
                          </a:solidFill>
                          <a:latin typeface="Yu Gothic"/>
                        </a:rPr>
                        <a:t>token_id / token / category / dim_1〜4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475569"/>
                          </a:solidFill>
                          <a:latin typeface="Yu Gothic"/>
                        </a:rPr>
                        <a:t>Vector Compare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475569"/>
                          </a:solidFill>
                          <a:latin typeface="Yu Gothic"/>
                        </a:rPr>
                        <a:t>item / token A / token B / note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475569"/>
                          </a:solidFill>
                          <a:latin typeface="Yu Gothic"/>
                        </a:rPr>
                        <a:t>Similarity Matrix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475569"/>
                          </a:solidFill>
                          <a:latin typeface="Yu Gothic"/>
                        </a:rPr>
                        <a:t>全token同士のcosine_similarity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475569"/>
                          </a:solidFill>
                          <a:latin typeface="Yu Gothic"/>
                        </a:rPr>
                        <a:t>Map View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475569"/>
                          </a:solidFill>
                          <a:latin typeface="Yu Gothic"/>
                        </a:rPr>
                        <a:t>x_axis / y_axis / x_axis_name / y_axis_name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777240" y="5321808"/>
            <a:ext cx="10607040" cy="594360"/>
          </a:xfrm>
          <a:prstGeom prst="roundRect">
            <a:avLst/>
          </a:prstGeom>
          <a:solidFill>
            <a:srgbClr val="EEF8F1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76749"/>
                </a:solidFill>
                <a:latin typeface="Yu Gothic"/>
              </a:rPr>
              <a:t>最初に見る表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Vector Compare。token Aとtoken Bの各次元とcosine_similarityを横並びで確認します。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995160" y="6473952"/>
            <a:ext cx="48006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>
                <a:solidFill>
                  <a:srgbClr val="64748B"/>
                </a:solidFill>
                <a:latin typeface="Yu Gothic"/>
              </a:rPr>
              <a:t>Excelで体験する言語モデルのしくみ | 第3回 | 12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292608"/>
            <a:ext cx="1508760" cy="310896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/>
          <a:lstStyle/>
          <a:p>
            <a:pPr algn="ctr"/>
            <a:r>
              <a:rPr sz="900" b="1">
                <a:solidFill>
                  <a:srgbClr val="2F6690"/>
                </a:solidFill>
                <a:latin typeface="Yu Gothic"/>
              </a:rPr>
              <a:t>HOW TO READ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800" b="1">
                <a:solidFill>
                  <a:srgbClr val="24324B"/>
                </a:solidFill>
                <a:latin typeface="Yu Gothic"/>
              </a:rPr>
              <a:t>表の読み方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53312"/>
            <a:ext cx="105156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0">
                <a:solidFill>
                  <a:srgbClr val="475569"/>
                </a:solidFill>
                <a:latin typeface="Yu Gothic"/>
              </a:rPr>
              <a:t>Vector Compareで、2つのtokenを横並びにします。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822960" y="1783080"/>
          <a:ext cx="1046988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8880"/>
                <a:gridCol w="2194560"/>
                <a:gridCol w="2194560"/>
                <a:gridCol w="3611880"/>
              </a:tblGrid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Yu Gothic"/>
                        </a:rPr>
                        <a:t>item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Yu Gothic"/>
                        </a:rPr>
                        <a:t>token A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Yu Gothic"/>
                        </a:rPr>
                        <a:t>token B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Yu Gothic"/>
                        </a:rPr>
                        <a:t>note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475569"/>
                          </a:solidFill>
                          <a:latin typeface="Yu Gothic"/>
                        </a:rPr>
                        <a:t>token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475569"/>
                          </a:solidFill>
                          <a:latin typeface="Yu Gothic"/>
                        </a:rPr>
                        <a:t>犬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475569"/>
                          </a:solidFill>
                          <a:latin typeface="Yu Gothic"/>
                        </a:rPr>
                        <a:t>猫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475569"/>
                          </a:solidFill>
                          <a:latin typeface="Yu Gothic"/>
                        </a:rPr>
                        <a:t>比較対象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475569"/>
                          </a:solidFill>
                          <a:latin typeface="Yu Gothic"/>
                        </a:rPr>
                        <a:t>dim_1_living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475569"/>
                          </a:solidFill>
                          <a:latin typeface="Yu Gothic"/>
                        </a:rPr>
                        <a:t>0.90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475569"/>
                          </a:solidFill>
                          <a:latin typeface="Yu Gothic"/>
                        </a:rPr>
                        <a:t>0.85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475569"/>
                          </a:solidFill>
                          <a:latin typeface="Yu Gothic"/>
                        </a:rPr>
                        <a:t>Embeddingの1次元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475569"/>
                          </a:solidFill>
                          <a:latin typeface="Yu Gothic"/>
                        </a:rPr>
                        <a:t>cosine_similarity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475569"/>
                          </a:solidFill>
                          <a:latin typeface="Yu Gothic"/>
                        </a:rPr>
                        <a:t>0.998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475569"/>
                          </a:solidFill>
                          <a:latin typeface="Yu Gothic"/>
                        </a:rPr>
                        <a:t>0.998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475569"/>
                          </a:solidFill>
                          <a:latin typeface="Yu Gothic"/>
                        </a:rPr>
                        <a:t>1に近いほど似ている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868680" y="4343400"/>
            <a:ext cx="4800600" cy="914400"/>
          </a:xfrm>
          <a:prstGeom prst="roundRect">
            <a:avLst/>
          </a:prstGeom>
          <a:solidFill>
            <a:srgbClr val="FFFF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読み方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ID番号ではなく、dimの並びとcosine_similarityを見ます。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89320" y="4343400"/>
            <a:ext cx="4800600" cy="914400"/>
          </a:xfrm>
          <a:prstGeom prst="roundRect">
            <a:avLst/>
          </a:prstGeom>
          <a:solidFill>
            <a:srgbClr val="EEF8F1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76749"/>
                </a:solidFill>
                <a:latin typeface="Yu Gothic"/>
              </a:rPr>
              <a:t>観察ポイント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犬と猫はdim_1_livingが近く、ベクトルの向きも近くなります。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995160" y="6473952"/>
            <a:ext cx="48006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>
                <a:solidFill>
                  <a:srgbClr val="64748B"/>
                </a:solidFill>
                <a:latin typeface="Yu Gothic"/>
              </a:rPr>
              <a:t>Excelで体験する言語モデルのしくみ | 第3回 | 13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292608"/>
            <a:ext cx="1508760" cy="310896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/>
          <a:lstStyle/>
          <a:p>
            <a:pPr algn="ctr"/>
            <a:r>
              <a:rPr sz="900" b="1">
                <a:solidFill>
                  <a:srgbClr val="2F6690"/>
                </a:solidFill>
                <a:latin typeface="Yu Gothic"/>
              </a:rPr>
              <a:t>HOW TO READ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800" b="1">
                <a:solidFill>
                  <a:srgbClr val="24324B"/>
                </a:solidFill>
                <a:latin typeface="Yu Gothic"/>
              </a:rPr>
              <a:t>表の読み方 2: 具体例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53312"/>
            <a:ext cx="105156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0">
                <a:solidFill>
                  <a:srgbClr val="475569"/>
                </a:solidFill>
                <a:latin typeface="Yu Gothic"/>
              </a:rPr>
              <a:t>Similarity MatrixとMap Viewで、近さを別の見方で確認します。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77240" y="1828800"/>
          <a:ext cx="1069848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8880"/>
                <a:gridCol w="4206240"/>
                <a:gridCol w="4023360"/>
              </a:tblGrid>
              <a:tr h="480060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Yu Gothic"/>
                        </a:rPr>
                        <a:t>表示モード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Yu Gothic"/>
                        </a:rPr>
                        <a:t>見るところ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Yu Gothic"/>
                        </a:rPr>
                        <a:t>分かること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475569"/>
                          </a:solidFill>
                          <a:latin typeface="Yu Gothic"/>
                        </a:rPr>
                        <a:t>Similarity Matrix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475569"/>
                          </a:solidFill>
                          <a:latin typeface="Yu Gothic"/>
                        </a:rPr>
                        <a:t>行tokenと列tokenの交点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475569"/>
                          </a:solidFill>
                          <a:latin typeface="Yu Gothic"/>
                        </a:rPr>
                        <a:t>全token同士の近さ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475569"/>
                          </a:solidFill>
                          <a:latin typeface="Yu Gothic"/>
                        </a:rPr>
                        <a:t>Map View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475569"/>
                          </a:solidFill>
                          <a:latin typeface="Yu Gothic"/>
                        </a:rPr>
                        <a:t>x_axis / y_axis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475569"/>
                          </a:solidFill>
                          <a:latin typeface="Yu Gothic"/>
                        </a:rPr>
                        <a:t>選んだ2次元での配置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475569"/>
                          </a:solidFill>
                          <a:latin typeface="Yu Gothic"/>
                        </a:rPr>
                        <a:t>Embedding Table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475569"/>
                          </a:solidFill>
                          <a:latin typeface="Yu Gothic"/>
                        </a:rPr>
                        <a:t>dim_1〜4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475569"/>
                          </a:solidFill>
                          <a:latin typeface="Yu Gothic"/>
                        </a:rPr>
                        <a:t>各tokenの数値表現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914400" y="4389120"/>
            <a:ext cx="9966960" cy="822960"/>
          </a:xfrm>
          <a:prstGeom prst="roundRect">
            <a:avLst/>
          </a:prstGeom>
          <a:solidFill>
            <a:srgbClr val="EEF8F1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76749"/>
                </a:solidFill>
                <a:latin typeface="Yu Gothic"/>
              </a:rPr>
              <a:t>おすすめの確認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犬と猫、犬とDB、保存と削除を比べると、近い/遠いの差が分かります。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995160" y="6473952"/>
            <a:ext cx="48006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>
                <a:solidFill>
                  <a:srgbClr val="64748B"/>
                </a:solidFill>
                <a:latin typeface="Yu Gothic"/>
              </a:rPr>
              <a:t>Excelで体験する言語モデルのしくみ | 第3回 | 14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292608"/>
            <a:ext cx="1508760" cy="310896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/>
          <a:lstStyle/>
          <a:p>
            <a:pPr algn="ctr"/>
            <a:r>
              <a:rPr sz="900" b="1">
                <a:solidFill>
                  <a:srgbClr val="2F6690"/>
                </a:solidFill>
                <a:latin typeface="Yu Gothic"/>
              </a:rPr>
              <a:t>CONNECTION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800" b="1">
                <a:solidFill>
                  <a:srgbClr val="24324B"/>
                </a:solidFill>
                <a:latin typeface="Yu Gothic"/>
              </a:rPr>
              <a:t>前回・次回との接続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53312"/>
            <a:ext cx="105156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0">
                <a:solidFill>
                  <a:srgbClr val="475569"/>
                </a:solidFill>
                <a:latin typeface="Yu Gothic"/>
              </a:rPr>
              <a:t>シリーズ順では第2回の後ですが、概念としてはAttention計算の入力側を詳しく見る回です。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828800"/>
            <a:ext cx="3063240" cy="1143000"/>
          </a:xfrm>
          <a:prstGeom prst="roundRect">
            <a:avLst/>
          </a:prstGeom>
          <a:solidFill>
            <a:srgbClr val="FFFF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第2回 Self-Attention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文全体の参照重みを見た。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977639" y="2423160"/>
            <a:ext cx="640081" cy="0"/>
          </a:xfrm>
          <a:prstGeom prst="line">
            <a:avLst/>
          </a:prstGeom>
          <a:ln w="17780">
            <a:solidFill>
              <a:srgbClr val="AEBE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617720" y="1828800"/>
            <a:ext cx="3063240" cy="1143000"/>
          </a:xfrm>
          <a:prstGeom prst="roundRect">
            <a:avLst/>
          </a:prstGeom>
          <a:solidFill>
            <a:srgbClr val="EEF8F1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76749"/>
                </a:solidFill>
                <a:latin typeface="Yu Gothic"/>
              </a:rPr>
              <a:t>第3回 Embedding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tokenを数値ベクトルにする。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0" y="2423160"/>
            <a:ext cx="640080" cy="0"/>
          </a:xfrm>
          <a:prstGeom prst="line">
            <a:avLst/>
          </a:prstGeom>
          <a:ln w="17780">
            <a:solidFill>
              <a:srgbClr val="AEBE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8412480" y="1828800"/>
            <a:ext cx="2651760" cy="1143000"/>
          </a:xfrm>
          <a:prstGeom prst="roundRect">
            <a:avLst/>
          </a:prstGeom>
          <a:solidFill>
            <a:srgbClr val="EAF4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第4回 Positional Encoding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順番の情報を足す。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14400" y="4251960"/>
            <a:ext cx="9966960" cy="868680"/>
          </a:xfrm>
          <a:prstGeom prst="roundRect">
            <a:avLst/>
          </a:prstGeom>
          <a:solidFill>
            <a:srgbClr val="EEF8F1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76749"/>
                </a:solidFill>
                <a:latin typeface="Yu Gothic"/>
              </a:rPr>
              <a:t>つながり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第2回で見たAttentionは、文字そのものではなく数値化されたtokenをもとに計算します。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995160" y="6473952"/>
            <a:ext cx="48006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>
                <a:solidFill>
                  <a:srgbClr val="64748B"/>
                </a:solidFill>
                <a:latin typeface="Yu Gothic"/>
              </a:rPr>
              <a:t>Excelで体験する言語モデルのしくみ | 第3回 | 15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292608"/>
            <a:ext cx="1508760" cy="310896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/>
          <a:lstStyle/>
          <a:p>
            <a:pPr algn="ctr"/>
            <a:r>
              <a:rPr sz="900" b="1">
                <a:solidFill>
                  <a:srgbClr val="2F6690"/>
                </a:solidFill>
                <a:latin typeface="Yu Gothic"/>
              </a:rPr>
              <a:t>LIMITATION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800" b="1">
                <a:solidFill>
                  <a:srgbClr val="24324B"/>
                </a:solidFill>
                <a:latin typeface="Yu Gothic"/>
              </a:rPr>
              <a:t>実LLMとの差分と未扱い範囲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53312"/>
            <a:ext cx="105156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0">
                <a:solidFill>
                  <a:srgbClr val="475569"/>
                </a:solidFill>
                <a:latin typeface="Yu Gothic"/>
              </a:rPr>
              <a:t>教材として分かりやすくするため、実LLMよりかなり単純化しています。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822960" y="1783080"/>
          <a:ext cx="10424160" cy="2971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8321040"/>
              </a:tblGrid>
              <a:tr h="4953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Yu Gothic"/>
                        </a:rPr>
                        <a:t>項目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Yu Gothic"/>
                        </a:rPr>
                        <a:t>この回での扱い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475569"/>
                          </a:solidFill>
                          <a:latin typeface="Yu Gothic"/>
                        </a:rPr>
                        <a:t>次元数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475569"/>
                          </a:solidFill>
                          <a:latin typeface="Yu Gothic"/>
                        </a:rPr>
                        <a:t>4次元だけの教材用Embedding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475569"/>
                          </a:solidFill>
                          <a:latin typeface="Yu Gothic"/>
                        </a:rPr>
                        <a:t>値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475569"/>
                          </a:solidFill>
                          <a:latin typeface="Yu Gothic"/>
                        </a:rPr>
                        <a:t>学習で得た値ではなく固定値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475569"/>
                          </a:solidFill>
                          <a:latin typeface="Yu Gothic"/>
                        </a:rPr>
                        <a:t>意味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475569"/>
                          </a:solidFill>
                          <a:latin typeface="Yu Gothic"/>
                        </a:rPr>
                        <a:t>次元名は説明用。本物では人間可読とは限らない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475569"/>
                          </a:solidFill>
                          <a:latin typeface="Yu Gothic"/>
                        </a:rPr>
                        <a:t>語彙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475569"/>
                          </a:solidFill>
                          <a:latin typeface="Yu Gothic"/>
                        </a:rPr>
                        <a:t>8つのtokenだけを扱う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475569"/>
                          </a:solidFill>
                          <a:latin typeface="Yu Gothic"/>
                        </a:rPr>
                        <a:t>学習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475569"/>
                          </a:solidFill>
                          <a:latin typeface="Yu Gothic"/>
                        </a:rPr>
                        <a:t>LossやBackpropagationによる更新は未扱い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822960" y="5212080"/>
            <a:ext cx="10424160" cy="548640"/>
          </a:xfrm>
          <a:prstGeom prst="roundRect">
            <a:avLst/>
          </a:prstGeom>
          <a:solidFill>
            <a:srgbClr val="FFF4CC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8A5A2B"/>
                </a:solidFill>
                <a:latin typeface="Yu Gothic"/>
              </a:rPr>
              <a:t>安全注記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コード自体は外部APIにアクセスしませんが、Python in Excelの実行環境はMicrosoft Cloud上です。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995160" y="6473952"/>
            <a:ext cx="48006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>
                <a:solidFill>
                  <a:srgbClr val="64748B"/>
                </a:solidFill>
                <a:latin typeface="Yu Gothic"/>
              </a:rPr>
              <a:t>Excelで体験する言語モデルのしくみ | 第3回 | 16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292608"/>
            <a:ext cx="1508760" cy="310896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/>
          <a:lstStyle/>
          <a:p>
            <a:pPr algn="ctr"/>
            <a:r>
              <a:rPr sz="900" b="1">
                <a:solidFill>
                  <a:srgbClr val="2F6690"/>
                </a:solidFill>
                <a:latin typeface="Yu Gothic"/>
              </a:rPr>
              <a:t>WRAP-UP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800" b="1">
                <a:solidFill>
                  <a:srgbClr val="24324B"/>
                </a:solidFill>
                <a:latin typeface="Yu Gothic"/>
              </a:rPr>
              <a:t>まとめと次回導線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53312"/>
            <a:ext cx="105156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0">
                <a:solidFill>
                  <a:srgbClr val="475569"/>
                </a:solidFill>
                <a:latin typeface="Yu Gothic"/>
              </a:rPr>
              <a:t>第3回では、tokenを数値ベクトルとして扱う見方を確認しました。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68680" y="1828800"/>
            <a:ext cx="2971800" cy="1051560"/>
          </a:xfrm>
          <a:prstGeom prst="roundRect">
            <a:avLst/>
          </a:prstGeom>
          <a:solidFill>
            <a:srgbClr val="EEF8F1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76749"/>
                </a:solidFill>
                <a:latin typeface="Yu Gothic"/>
              </a:rPr>
              <a:t>分かったこと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token IDは番号、Embeddingは計算できるベクトルです。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43400" y="1828800"/>
            <a:ext cx="2971800" cy="1051560"/>
          </a:xfrm>
          <a:prstGeom prst="roundRect">
            <a:avLst/>
          </a:prstGeom>
          <a:solidFill>
            <a:srgbClr val="EEF8F1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76749"/>
                </a:solidFill>
                <a:latin typeface="Yu Gothic"/>
              </a:rPr>
              <a:t>Excelで見る場所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Vector CompareとSimilarity Matrixで近さを確認します。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818120" y="1828800"/>
            <a:ext cx="2971800" cy="1051560"/>
          </a:xfrm>
          <a:prstGeom prst="roundRect">
            <a:avLst/>
          </a:prstGeom>
          <a:solidFill>
            <a:srgbClr val="FFF4CC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8A5A2B"/>
                </a:solidFill>
                <a:latin typeface="Yu Gothic"/>
              </a:rPr>
              <a:t>限界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固定値の4次元教材用Embeddingです。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51560" y="4251960"/>
            <a:ext cx="9784080" cy="868680"/>
          </a:xfrm>
          <a:prstGeom prst="roundRect">
            <a:avLst/>
          </a:prstGeom>
          <a:solidFill>
            <a:srgbClr val="EAF4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次回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第4回 Positional Encoding では、Embeddingだけでは分からないtokenの順番を数値で足します。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292608"/>
            <a:ext cx="1508760" cy="310896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2F6690"/>
                </a:solidFill>
                <a:latin typeface="Yu Gothic"/>
              </a:rPr>
              <a:t>GLOSSARY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86384"/>
            <a:ext cx="108813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800" b="1">
                <a:solidFill>
                  <a:srgbClr val="24324B"/>
                </a:solidFill>
                <a:latin typeface="Yu Gothic"/>
              </a:rPr>
              <a:t>第3回 Embedding 用語集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353312"/>
            <a:ext cx="105156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0">
                <a:solidFill>
                  <a:srgbClr val="475569"/>
                </a:solidFill>
                <a:latin typeface="Yu Gothic"/>
              </a:rPr>
              <a:t>tokenを数値ベクトルとして扱うための用語を整理します。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22960" y="1755648"/>
          <a:ext cx="10607040" cy="3611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7863840"/>
              </a:tblGrid>
              <a:tr h="515982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Yu Gothic"/>
                        </a:rPr>
                        <a:t>用語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Yu Gothic"/>
                        </a:rPr>
                        <a:t>説明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</a:tr>
              <a:tr h="515982">
                <a:tc>
                  <a:txBody>
                    <a:bodyPr/>
                    <a:lstStyle/>
                    <a:p>
                      <a:pPr algn="ctr"/>
                      <a:r>
                        <a:rPr sz="980" b="1">
                          <a:solidFill>
                            <a:srgbClr val="475569"/>
                          </a:solidFill>
                          <a:latin typeface="Yu Gothic"/>
                        </a:rPr>
                        <a:t>token ID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40" b="0">
                          <a:solidFill>
                            <a:srgbClr val="475569"/>
                          </a:solidFill>
                          <a:latin typeface="Yu Gothic"/>
                        </a:rPr>
                        <a:t>tokenに付けた番号。番号だけでは意味の近さは分かりません。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15982">
                <a:tc>
                  <a:txBody>
                    <a:bodyPr/>
                    <a:lstStyle/>
                    <a:p>
                      <a:pPr algn="ctr"/>
                      <a:r>
                        <a:rPr sz="980" b="1">
                          <a:solidFill>
                            <a:srgbClr val="475569"/>
                          </a:solidFill>
                          <a:latin typeface="Yu Gothic"/>
                        </a:rPr>
                        <a:t>Embedding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40" b="0">
                          <a:solidFill>
                            <a:srgbClr val="475569"/>
                          </a:solidFill>
                          <a:latin typeface="Yu Gothic"/>
                        </a:rPr>
                        <a:t>tokenを複数の数値で表すベクトル表現です。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15982">
                <a:tc>
                  <a:txBody>
                    <a:bodyPr/>
                    <a:lstStyle/>
                    <a:p>
                      <a:pPr algn="ctr"/>
                      <a:r>
                        <a:rPr sz="980" b="1">
                          <a:solidFill>
                            <a:srgbClr val="475569"/>
                          </a:solidFill>
                          <a:latin typeface="Yu Gothic"/>
                        </a:rPr>
                        <a:t>dim_1〜dim_4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40" b="0">
                          <a:solidFill>
                            <a:srgbClr val="475569"/>
                          </a:solidFill>
                          <a:latin typeface="Yu Gothic"/>
                        </a:rPr>
                        <a:t>教材用の4次元。実Embeddingの次元が人間可読な意味を持つとは限りません。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15982">
                <a:tc>
                  <a:txBody>
                    <a:bodyPr/>
                    <a:lstStyle/>
                    <a:p>
                      <a:pPr algn="ctr"/>
                      <a:r>
                        <a:rPr sz="980" b="1">
                          <a:solidFill>
                            <a:srgbClr val="475569"/>
                          </a:solidFill>
                          <a:latin typeface="Yu Gothic"/>
                        </a:rPr>
                        <a:t>Vector Compare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40" b="0">
                          <a:solidFill>
                            <a:srgbClr val="475569"/>
                          </a:solidFill>
                          <a:latin typeface="Yu Gothic"/>
                        </a:rPr>
                        <a:t>2つのtokenの各次元とcosine_similarityを横並びで見る表です。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15982">
                <a:tc>
                  <a:txBody>
                    <a:bodyPr/>
                    <a:lstStyle/>
                    <a:p>
                      <a:pPr algn="ctr"/>
                      <a:r>
                        <a:rPr sz="980" b="1">
                          <a:solidFill>
                            <a:srgbClr val="475569"/>
                          </a:solidFill>
                          <a:latin typeface="Yu Gothic"/>
                        </a:rPr>
                        <a:t>cosine_similarity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40" b="0">
                          <a:solidFill>
                            <a:srgbClr val="475569"/>
                          </a:solidFill>
                          <a:latin typeface="Yu Gothic"/>
                        </a:rPr>
                        <a:t>ベクトルの向きの近さ。1に近いほど似ていると読みます。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15988">
                <a:tc>
                  <a:txBody>
                    <a:bodyPr/>
                    <a:lstStyle/>
                    <a:p>
                      <a:pPr algn="ctr"/>
                      <a:r>
                        <a:rPr sz="980" b="1">
                          <a:solidFill>
                            <a:srgbClr val="475569"/>
                          </a:solidFill>
                          <a:latin typeface="Yu Gothic"/>
                        </a:rPr>
                        <a:t>Similarity Matrix / Map View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40" b="0">
                          <a:solidFill>
                            <a:srgbClr val="475569"/>
                          </a:solidFill>
                          <a:latin typeface="Yu Gothic"/>
                        </a:rPr>
                        <a:t>全token同士の近さ、または選んだ2軸での配置を見る表です。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822960" y="5650992"/>
            <a:ext cx="10607040" cy="530352"/>
          </a:xfrm>
          <a:prstGeom prst="roundRect">
            <a:avLst/>
          </a:prstGeom>
          <a:solidFill>
            <a:srgbClr val="EEF8F1"/>
          </a:solidFill>
          <a:ln>
            <a:solidFill>
              <a:srgbClr val="C4E0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200" b="1">
                <a:solidFill>
                  <a:srgbClr val="276749"/>
                </a:solidFill>
                <a:latin typeface="Yu Gothic"/>
              </a:rPr>
              <a:t>第3回では、IDではなくベクトルの数値で近さを計算する点が中心です。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95160" y="6473952"/>
            <a:ext cx="48006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>
                <a:solidFill>
                  <a:srgbClr val="64748B"/>
                </a:solidFill>
                <a:latin typeface="Yu Gothic"/>
              </a:rPr>
              <a:t>Excelで体験する言語モデルのしくみ | 第3回 | 17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Excel Education Series</dc:creator>
  <cp:keywords/>
  <dc:description/>
  <cp:lastModifiedBy>Excel Education Series</cp:lastModifiedBy>
  <cp:revision>1</cp:revision>
  <dcterms:created xsi:type="dcterms:W3CDTF">2013-01-27T09:14:16Z</dcterms:created>
  <dcterms:modified xsi:type="dcterms:W3CDTF">2013-01-27T09:15:58Z</dcterms:modified>
  <cp:category/>
  <cp:contentStatus/>
</cp:coreProperties>
</file>