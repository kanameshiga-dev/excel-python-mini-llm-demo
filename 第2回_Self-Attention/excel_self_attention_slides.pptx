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70" r:id="rId21"/>
    <p:sldId id="271" r:id="rId22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6.xml"/><Relationship Id="rId22" Type="http://schemas.openxmlformats.org/officeDocument/2006/relationships/slide" Target="slides/slide7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95160" y="6473952"/>
            <a:ext cx="4800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64748B"/>
                </a:solidFill>
                <a:latin typeface="Yu Gothic"/>
              </a:rPr>
              <a:t>Excelで体験する言語モデルのしくみ | 第2回 | 1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1508760" cy="310896"/>
          </a:xfrm>
          <a:prstGeom prst="roundRect">
            <a:avLst/>
          </a:prstGeom>
          <a:solidFill>
            <a:srgbClr val="EAF4FF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900" b="1">
                <a:solidFill>
                  <a:srgbClr val="2F6690"/>
                </a:solidFill>
                <a:latin typeface="Yu Gothic"/>
              </a:rPr>
              <a:t>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68580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50">
                <a:solidFill>
                  <a:srgbClr val="64748B"/>
                </a:solidFill>
                <a:latin typeface="Yu Gothic"/>
              </a:rPr>
              <a:t>Excelで体験する言語モデルのしくみ | 第2回 |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36192"/>
            <a:ext cx="530352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>
                <a:solidFill>
                  <a:srgbClr val="2F6690"/>
                </a:solidFill>
                <a:latin typeface="Yu Gothic"/>
              </a:rPr>
              <a:t>第2回 Self-Attention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148840"/>
            <a:ext cx="57607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0">
                <a:solidFill>
                  <a:srgbClr val="475569"/>
                </a:solidFill>
                <a:latin typeface="Yu Gothic"/>
              </a:rPr>
              <a:t>文全体のどこを見るかを、Attention Weightの表で体験します。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3182112"/>
            <a:ext cx="4937760" cy="1097280"/>
          </a:xfrm>
          <a:prstGeom prst="roundRect">
            <a:avLst/>
          </a:prstGeom>
          <a:solidFill>
            <a:srgbClr val="EEF8F1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76749"/>
                </a:solidFill>
                <a:latin typeface="Yu Gothic"/>
              </a:rPr>
              <a:t>今回の狙い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第1回 n-gram の「直前を見る」から、Self-Attentionの「文全体を見る」へ進みます。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75120" y="2331720"/>
            <a:ext cx="1097280" cy="749808"/>
          </a:xfrm>
          <a:prstGeom prst="roundRect">
            <a:avLst/>
          </a:prstGeom>
          <a:solidFill>
            <a:srgbClr val="EAF4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Query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01000" y="2331720"/>
            <a:ext cx="1097280" cy="749808"/>
          </a:xfrm>
          <a:prstGeom prst="roundRect">
            <a:avLst/>
          </a:prstGeom>
          <a:solidFill>
            <a:srgbClr val="EAF4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Key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26880" y="2331720"/>
            <a:ext cx="1097280" cy="749808"/>
          </a:xfrm>
          <a:prstGeom prst="roundRect">
            <a:avLst/>
          </a:prstGeom>
          <a:solidFill>
            <a:srgbClr val="EAF4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Weight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54112" y="2706624"/>
            <a:ext cx="246888" cy="0"/>
          </a:xfrm>
          <a:prstGeom prst="line">
            <a:avLst/>
          </a:prstGeom>
          <a:ln w="17780">
            <a:solidFill>
              <a:srgbClr val="AEBE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079992" y="2706624"/>
            <a:ext cx="246888" cy="0"/>
          </a:xfrm>
          <a:prstGeom prst="line">
            <a:avLst/>
          </a:prstGeom>
          <a:ln w="17780">
            <a:solidFill>
              <a:srgbClr val="AEBE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333488" y="3703320"/>
            <a:ext cx="338328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Valueを混ぜる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重みに応じて情報を取り出す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95160" y="6473952"/>
            <a:ext cx="4800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64748B"/>
                </a:solidFill>
                <a:latin typeface="Yu Gothic"/>
              </a:rPr>
              <a:t>Excelで体験する言語モデルのしくみ | 第2回 | 2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1508760" cy="310896"/>
          </a:xfrm>
          <a:prstGeom prst="roundRect">
            <a:avLst/>
          </a:prstGeom>
          <a:solidFill>
            <a:srgbClr val="EAF4FF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900" b="1">
                <a:solidFill>
                  <a:srgbClr val="2F6690"/>
                </a:solidFill>
                <a:latin typeface="Yu Gothic"/>
              </a:rPr>
              <a:t>SERIES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24324B"/>
                </a:solidFill>
                <a:latin typeface="Yu Gothic"/>
              </a:rPr>
              <a:t>全10回の中の位置づけ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53312"/>
            <a:ext cx="10515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0">
                <a:solidFill>
                  <a:srgbClr val="475569"/>
                </a:solidFill>
                <a:latin typeface="Yu Gothic"/>
              </a:rPr>
              <a:t>第2回は、直前だけでなく文全体を見る考え方を扱います。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83080"/>
            <a:ext cx="5074920" cy="512064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第1回 n-gram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直前の並びから次を考える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783080"/>
            <a:ext cx="5074920" cy="512064"/>
          </a:xfrm>
          <a:prstGeom prst="roundRect">
            <a:avLst/>
          </a:prstGeom>
          <a:solidFill>
            <a:srgbClr val="EEF8F1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76749"/>
                </a:solidFill>
                <a:latin typeface="Yu Gothic"/>
              </a:rPr>
              <a:t>第2回 Self-Attention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文全体のどこを見るかを重みで見る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496312"/>
            <a:ext cx="5074920" cy="512064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第3回 Embedding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tokenを数値ベクトルにする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496312"/>
            <a:ext cx="5074920" cy="512064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第4回 Positional Encoding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tokenの順番を数値で足す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209544"/>
            <a:ext cx="5074920" cy="512064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第5回 Multi-Head Attention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複数の見方を同時に走らせる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209544"/>
            <a:ext cx="5074920" cy="512064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第6回 Transformer Block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AttentionとFFNを積み重ねる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922776"/>
            <a:ext cx="5074920" cy="512064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第7回 Softmaxと生成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確率から次tokenを選ぶ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922776"/>
            <a:ext cx="5074920" cy="512064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第8回 Lossと学習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予測のズレを数値にする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4636008"/>
            <a:ext cx="5074920" cy="512064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第9回 Backpropagation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ズレを元に重みを更新する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4636008"/>
            <a:ext cx="5074920" cy="512064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第10回 RAG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外部資料を参照して答える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696712"/>
            <a:ext cx="9875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1">
                <a:solidFill>
                  <a:srgbClr val="276749"/>
                </a:solidFill>
                <a:latin typeface="Yu Gothic"/>
              </a:rPr>
              <a:t>第2回の到達点: Self-Attentionの重み表から、各tokenがどこを見たかを読む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95160" y="6473952"/>
            <a:ext cx="4800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64748B"/>
                </a:solidFill>
                <a:latin typeface="Yu Gothic"/>
              </a:rPr>
              <a:t>Excelで体験する言語モデルのしくみ | 第2回 | 3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1508760" cy="310896"/>
          </a:xfrm>
          <a:prstGeom prst="roundRect">
            <a:avLst/>
          </a:prstGeom>
          <a:solidFill>
            <a:srgbClr val="EAF4FF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900" b="1">
                <a:solidFill>
                  <a:srgbClr val="2F6690"/>
                </a:solidFill>
                <a:latin typeface="Yu Gothic"/>
              </a:rPr>
              <a:t>GOAL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24324B"/>
                </a:solidFill>
                <a:latin typeface="Yu Gothic"/>
              </a:rPr>
              <a:t>今日の到達点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53312"/>
            <a:ext cx="10515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0">
                <a:solidFill>
                  <a:srgbClr val="475569"/>
                </a:solidFill>
                <a:latin typeface="Yu Gothic"/>
              </a:rPr>
              <a:t>Self-Attentionを、行列計算の結果としてExcel上で観察します。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28800"/>
            <a:ext cx="480060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1. 文全体を見る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直前だけでなく、離れたtokenも参照できると理解する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828800"/>
            <a:ext cx="480060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2. Q/K/Vを分ける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何を見るか、何に反応するか、何を取り出すかを区別する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246120"/>
            <a:ext cx="480060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3. 重み表を読む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Attention Weightの行と列から参照先を読む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3246120"/>
            <a:ext cx="480060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4. 限界を区別する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教材用boostや固定重みを使った簡略版だと理解する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5074920"/>
            <a:ext cx="10241280" cy="685800"/>
          </a:xfrm>
          <a:prstGeom prst="roundRect">
            <a:avLst/>
          </a:prstGeom>
          <a:solidFill>
            <a:srgbClr val="EEF8F1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76749"/>
                </a:solidFill>
                <a:latin typeface="Yu Gothic"/>
              </a:rPr>
              <a:t>最後に見る表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B7を Attention Weight にして、濃い列と行合計を確認します。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95160" y="6473952"/>
            <a:ext cx="4800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64748B"/>
                </a:solidFill>
                <a:latin typeface="Yu Gothic"/>
              </a:rPr>
              <a:t>Excelで体験する言語モデルのしくみ | 第2回 | 4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1508760" cy="310896"/>
          </a:xfrm>
          <a:prstGeom prst="roundRect">
            <a:avLst/>
          </a:prstGeom>
          <a:solidFill>
            <a:srgbClr val="EAF4FF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900" b="1">
                <a:solidFill>
                  <a:srgbClr val="2F6690"/>
                </a:solidFill>
                <a:latin typeface="Yu Gothic"/>
              </a:rPr>
              <a:t>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24324B"/>
                </a:solidFill>
                <a:latin typeface="Yu Gothic"/>
              </a:rPr>
              <a:t>Self-Attentionは「どこを見るか」を重みにする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53312"/>
            <a:ext cx="10515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0">
                <a:solidFill>
                  <a:srgbClr val="475569"/>
                </a:solidFill>
                <a:latin typeface="Yu Gothic"/>
              </a:rPr>
              <a:t>各tokenが、文中の他のtokenをどれくらい参照したかを表で見ます。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74519"/>
            <a:ext cx="2743200" cy="914400"/>
          </a:xfrm>
          <a:prstGeom prst="roundRect">
            <a:avLst/>
          </a:prstGeom>
          <a:solidFill>
            <a:srgbClr val="EAF4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見る側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行のtoken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657600" y="2331720"/>
            <a:ext cx="731520" cy="0"/>
          </a:xfrm>
          <a:prstGeom prst="line">
            <a:avLst/>
          </a:prstGeom>
          <a:ln w="17780">
            <a:solidFill>
              <a:srgbClr val="AEBE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389120" y="1874519"/>
            <a:ext cx="2743200" cy="914400"/>
          </a:xfrm>
          <a:prstGeom prst="roundRect">
            <a:avLst/>
          </a:prstGeom>
          <a:solidFill>
            <a:srgbClr val="EAF4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見られる側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列のtoken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223760" y="2331720"/>
            <a:ext cx="731519" cy="0"/>
          </a:xfrm>
          <a:prstGeom prst="line">
            <a:avLst/>
          </a:prstGeom>
          <a:ln w="17780">
            <a:solidFill>
              <a:srgbClr val="AEBE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7955279" y="1874519"/>
            <a:ext cx="2743200" cy="914400"/>
          </a:xfrm>
          <a:prstGeom prst="roundRect">
            <a:avLst/>
          </a:prstGeom>
          <a:solidFill>
            <a:srgbClr val="EAF4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重み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参照の強さ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960120" y="3429000"/>
          <a:ext cx="9966960" cy="1170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645920"/>
                <a:gridCol w="1645920"/>
                <a:gridCol w="1645920"/>
                <a:gridCol w="2286000"/>
              </a:tblGrid>
              <a:tr h="585216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Yu Gothic"/>
                        </a:rPr>
                        <a:t>見る側 / 見られる側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Yu Gothic"/>
                        </a:rPr>
                        <a:t>注文履歴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Yu Gothic"/>
                        </a:rPr>
                        <a:t>DB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Yu Gothic"/>
                        </a:rPr>
                        <a:t>保存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Yu Gothic"/>
                        </a:rPr>
                        <a:t>行合計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475569"/>
                          </a:solidFill>
                          <a:latin typeface="Yu Gothic"/>
                        </a:rPr>
                        <a:t>保存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475569"/>
                          </a:solidFill>
                          <a:latin typeface="Yu Gothic"/>
                        </a:rPr>
                        <a:t>0.04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475569"/>
                          </a:solidFill>
                          <a:latin typeface="Yu Gothic"/>
                        </a:rPr>
                        <a:t>0.62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475569"/>
                          </a:solidFill>
                          <a:latin typeface="Yu Gothic"/>
                        </a:rPr>
                        <a:t>0.08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475569"/>
                          </a:solidFill>
                          <a:latin typeface="Yu Gothic"/>
                        </a:rPr>
                        <a:t>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960120" y="5074920"/>
            <a:ext cx="9966960" cy="658368"/>
          </a:xfrm>
          <a:prstGeom prst="roundRect">
            <a:avLst/>
          </a:prstGeom>
          <a:solidFill>
            <a:srgbClr val="EEF8F1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76749"/>
                </a:solidFill>
                <a:latin typeface="Yu Gothic"/>
              </a:rPr>
              <a:t>読み方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行「保存」で列「DB」が濃いなら、「保存」はDBを強く見ている、と読みます。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95160" y="6473952"/>
            <a:ext cx="4800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64748B"/>
                </a:solidFill>
                <a:latin typeface="Yu Gothic"/>
              </a:rPr>
              <a:t>Excelで体験する言語モデルのしくみ | 第2回 | 5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1508760" cy="310896"/>
          </a:xfrm>
          <a:prstGeom prst="roundRect">
            <a:avLst/>
          </a:prstGeom>
          <a:solidFill>
            <a:srgbClr val="EAF4FF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900" b="1">
                <a:solidFill>
                  <a:srgbClr val="2F6690"/>
                </a:solidFill>
                <a:latin typeface="Yu Gothic"/>
              </a:rPr>
              <a:t>DEMO ASSET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24324B"/>
                </a:solidFill>
                <a:latin typeface="Yu Gothic"/>
              </a:rPr>
              <a:t>Excelで作ったもの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53312"/>
            <a:ext cx="10515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0">
                <a:solidFill>
                  <a:srgbClr val="475569"/>
                </a:solidFill>
                <a:latin typeface="Yu Gothic"/>
              </a:rPr>
              <a:t>Python in Excelで動かす、小さなSelf-Attention教材です。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74519"/>
            <a:ext cx="466344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01_INPUT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B6に入力文、B7に表示モード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1874519"/>
            <a:ext cx="466344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10_RUN_PYTHON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A14にPythonセルを作って実行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172968"/>
            <a:ext cx="466344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11_PYTHON_CODE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貼り付け用コードの参照先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3172968"/>
            <a:ext cx="466344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DataFrameカード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実行結果の表を確認する入口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4754880"/>
            <a:ext cx="9966960" cy="804672"/>
          </a:xfrm>
          <a:prstGeom prst="roundRect">
            <a:avLst/>
          </a:prstGeom>
          <a:solidFill>
            <a:srgbClr val="FFF4CC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8A5A2B"/>
                </a:solidFill>
                <a:latin typeface="Yu Gothic"/>
              </a:rPr>
              <a:t>教材の範囲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Excelセル関数ではなくPythonで計算します。外部APIを呼ぶ教材ではありません。</a:t>
            </a:r>
          </a:p>
        </p:txBody>
      </p:sp>
      <p:sp>
        <p:nvSpPr>
          <p:cNvPr id="11" name="github_demo_asset_url"/>
          <p:cNvSpPr txBox="1"/>
          <p:nvPr/>
        </p:nvSpPr>
        <p:spPr>
          <a:xfrm>
            <a:off x="658368" y="5998464"/>
            <a:ext cx="10652760" cy="310896"/>
          </a:xfrm>
          <a:prstGeom prst="rect">
            <a:avLst/>
          </a:prstGeom>
          <a:noFill/>
        </p:spPr>
        <p:txBody>
          <a:bodyPr wrap="none" lIns="45720" rIns="45720" tIns="9144" bIns="9144">
            <a:spAutoFit/>
          </a:bodyPr>
          <a:lstStyle/>
          <a:p>
            <a:pPr algn="l"/>
            <a:r>
              <a:rPr sz="900">
                <a:solidFill>
                  <a:srgbClr val="4E5E6E"/>
                </a:solidFill>
                <a:latin typeface="Yu Gothic"/>
              </a:rPr>
              <a:t>デモ一式: https://github.com/KanameShiga-dev/excel-python-mini-llm-demo/tree/main/第2回_Self-Attention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508760" cy="310896"/>
          </a:xfrm>
          <a:prstGeom prst="roundRect">
            <a:avLst/>
          </a:prstGeom>
          <a:solidFill>
            <a:srgbClr val="EAF4FF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2F6690"/>
                </a:solidFill>
                <a:latin typeface="Yu Gothic"/>
              </a:rPr>
              <a:t>INPUT SHEET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86384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24324B"/>
                </a:solidFill>
                <a:latin typeface="Yu Gothic"/>
              </a:rPr>
              <a:t>01_INPUT の画面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53312"/>
            <a:ext cx="10515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0">
                <a:solidFill>
                  <a:srgbClr val="475569"/>
                </a:solidFill>
                <a:latin typeface="Yu Gothic"/>
              </a:rPr>
              <a:t>ExcelをUIとして触る入口を、先に画面で確認します。</a:t>
            </a:r>
          </a:p>
        </p:txBody>
      </p:sp>
      <p:pic>
        <p:nvPicPr>
          <p:cNvPr id="5" name="Picture 4" descr="input_sheet_screen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856231"/>
            <a:ext cx="10287000" cy="34290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22960" y="5650992"/>
            <a:ext cx="10607040" cy="530352"/>
          </a:xfrm>
          <a:prstGeom prst="roundRect">
            <a:avLst/>
          </a:prstGeom>
          <a:solidFill>
            <a:srgbClr val="EEF8F1"/>
          </a:solidFill>
          <a:ln>
            <a:solidFill>
              <a:srgbClr val="C4E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200" b="1">
                <a:solidFill>
                  <a:srgbClr val="276749"/>
                </a:solidFill>
                <a:latin typeface="Yu Gothic"/>
              </a:rPr>
              <a:t>入力文と表示モードを変えると、返す中間表とAttention Weightが変わります。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95160" y="6473952"/>
            <a:ext cx="4800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64748B"/>
                </a:solidFill>
                <a:latin typeface="Yu Gothic"/>
              </a:rPr>
              <a:t>Excelで体験する言語モデルのしくみ | 第2回 |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508760" cy="310896"/>
          </a:xfrm>
          <a:prstGeom prst="roundRect">
            <a:avLst/>
          </a:prstGeom>
          <a:solidFill>
            <a:srgbClr val="EAF4FF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2F6690"/>
                </a:solidFill>
                <a:latin typeface="Yu Gothic"/>
              </a:rPr>
              <a:t>EXCEL UI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86384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24324B"/>
                </a:solidFill>
                <a:latin typeface="Yu Gothic"/>
              </a:rPr>
              <a:t>Excel UIで何を変えるか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53312"/>
            <a:ext cx="10515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0">
                <a:solidFill>
                  <a:srgbClr val="475569"/>
                </a:solidFill>
                <a:latin typeface="Yu Gothic"/>
              </a:rPr>
              <a:t>入力文と表示モードを変えて、Self-Attentionの中間表を切り替えて観察します。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1755648"/>
          <a:ext cx="10607040" cy="3611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5120640"/>
              </a:tblGrid>
              <a:tr h="515982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Yu Gothic"/>
                        </a:rPr>
                        <a:t>場所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Yu Gothic"/>
                        </a:rPr>
                        <a:t>変更・確認するもの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Yu Gothic"/>
                        </a:rPr>
                        <a:t>見える変化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</a:tr>
              <a:tr h="515982">
                <a:tc>
                  <a:txBody>
                    <a:bodyPr/>
                    <a:lstStyle/>
                    <a:p>
                      <a:pPr algn="ctr"/>
                      <a:r>
                        <a:rPr sz="980" b="1">
                          <a:solidFill>
                            <a:srgbClr val="475569"/>
                          </a:solidFill>
                          <a:latin typeface="Yu Gothic"/>
                        </a:rPr>
                        <a:t>01_INPUT!B6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80" b="0">
                          <a:solidFill>
                            <a:srgbClr val="475569"/>
                          </a:solidFill>
                          <a:latin typeface="Yu Gothic"/>
                        </a:rPr>
                        <a:t>入力文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475569"/>
                          </a:solidFill>
                          <a:latin typeface="Yu Gothic"/>
                        </a:rPr>
                        <a:t>token列、Q/K/V、Attention Weightが変わる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5982">
                <a:tc>
                  <a:txBody>
                    <a:bodyPr/>
                    <a:lstStyle/>
                    <a:p>
                      <a:pPr algn="ctr"/>
                      <a:r>
                        <a:rPr sz="980" b="1">
                          <a:solidFill>
                            <a:srgbClr val="475569"/>
                          </a:solidFill>
                          <a:latin typeface="Yu Gothic"/>
                        </a:rPr>
                        <a:t>01_INPUT!B7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80" b="0">
                          <a:solidFill>
                            <a:srgbClr val="475569"/>
                          </a:solidFill>
                          <a:latin typeface="Yu Gothic"/>
                        </a:rPr>
                        <a:t>表示モード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475569"/>
                          </a:solidFill>
                          <a:latin typeface="Yu Gothic"/>
                        </a:rPr>
                        <a:t>token一覧、embedding、Q/K/Vなど返す表が変わる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5982">
                <a:tc>
                  <a:txBody>
                    <a:bodyPr/>
                    <a:lstStyle/>
                    <a:p>
                      <a:pPr algn="ctr"/>
                      <a:r>
                        <a:rPr sz="980" b="1">
                          <a:solidFill>
                            <a:srgbClr val="475569"/>
                          </a:solidFill>
                          <a:latin typeface="Yu Gothic"/>
                        </a:rPr>
                        <a:t>B7 = Attention Weight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80" b="0">
                          <a:solidFill>
                            <a:srgbClr val="475569"/>
                          </a:solidFill>
                          <a:latin typeface="Yu Gothic"/>
                        </a:rPr>
                        <a:t>重み表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475569"/>
                          </a:solidFill>
                          <a:latin typeface="Yu Gothic"/>
                        </a:rPr>
                        <a:t>行のtokenがどの列を見たかを読む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5982">
                <a:tc>
                  <a:txBody>
                    <a:bodyPr/>
                    <a:lstStyle/>
                    <a:p>
                      <a:pPr algn="ctr"/>
                      <a:r>
                        <a:rPr sz="980" b="1">
                          <a:solidFill>
                            <a:srgbClr val="475569"/>
                          </a:solidFill>
                          <a:latin typeface="Yu Gothic"/>
                        </a:rPr>
                        <a:t>B7 = Context Vector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80" b="0">
                          <a:solidFill>
                            <a:srgbClr val="475569"/>
                          </a:solidFill>
                          <a:latin typeface="Yu Gothic"/>
                        </a:rPr>
                        <a:t>参照結果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475569"/>
                          </a:solidFill>
                          <a:latin typeface="Yu Gothic"/>
                        </a:rPr>
                        <a:t>重みでValueを混ぜた結果を見る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5982">
                <a:tc>
                  <a:txBody>
                    <a:bodyPr/>
                    <a:lstStyle/>
                    <a:p>
                      <a:pPr algn="ctr"/>
                      <a:r>
                        <a:rPr sz="980" b="1">
                          <a:solidFill>
                            <a:srgbClr val="475569"/>
                          </a:solidFill>
                          <a:latin typeface="Yu Gothic"/>
                        </a:rPr>
                        <a:t>入力例を変更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80" b="0">
                          <a:solidFill>
                            <a:srgbClr val="475569"/>
                          </a:solidFill>
                          <a:latin typeface="Yu Gothic"/>
                        </a:rPr>
                        <a:t>請求書 / AI / 確認など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475569"/>
                          </a:solidFill>
                          <a:latin typeface="Yu Gothic"/>
                        </a:rPr>
                        <a:t>強く参照するtokenの組み合わせが変わる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5988">
                <a:tc>
                  <a:txBody>
                    <a:bodyPr/>
                    <a:lstStyle/>
                    <a:p>
                      <a:pPr algn="ctr"/>
                      <a:r>
                        <a:rPr sz="980" b="1">
                          <a:solidFill>
                            <a:srgbClr val="475569"/>
                          </a:solidFill>
                          <a:latin typeface="Yu Gothic"/>
                        </a:rPr>
                        <a:t>Excel値展開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80" b="0">
                          <a:solidFill>
                            <a:srgbClr val="475569"/>
                          </a:solidFill>
                          <a:latin typeface="Yu Gothic"/>
                        </a:rPr>
                        <a:t>必要時のみ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475569"/>
                          </a:solidFill>
                          <a:latin typeface="Yu Gothic"/>
                        </a:rPr>
                        <a:t>ヒートマップや表として直接見せられる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22960" y="5650992"/>
            <a:ext cx="10607040" cy="530352"/>
          </a:xfrm>
          <a:prstGeom prst="roundRect">
            <a:avLst/>
          </a:prstGeom>
          <a:solidFill>
            <a:srgbClr val="EEF8F1"/>
          </a:solidFill>
          <a:ln>
            <a:solidFill>
              <a:srgbClr val="C4E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200" b="1">
                <a:solidFill>
                  <a:srgbClr val="276749"/>
                </a:solidFill>
                <a:latin typeface="Yu Gothic"/>
              </a:rPr>
              <a:t>ExcelをUIにして、B6/B7を変えることで「文全体のどこを見るか」が表で変わることを見ます。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95160" y="6473952"/>
            <a:ext cx="4800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64748B"/>
                </a:solidFill>
                <a:latin typeface="Yu Gothic"/>
              </a:rPr>
              <a:t>Excelで体験する言語モデルのしくみ | 第2回 |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95160" y="6473952"/>
            <a:ext cx="4800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64748B"/>
                </a:solidFill>
                <a:latin typeface="Yu Gothic"/>
              </a:rPr>
              <a:t>Excelで体験する言語モデルのしくみ | 第2回 | 8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1508760" cy="310896"/>
          </a:xfrm>
          <a:prstGeom prst="roundRect">
            <a:avLst/>
          </a:prstGeom>
          <a:solidFill>
            <a:srgbClr val="EAF4FF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900" b="1">
                <a:solidFill>
                  <a:srgbClr val="2F6690"/>
                </a:solidFill>
                <a:latin typeface="Yu Gothic"/>
              </a:rPr>
              <a:t>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24324B"/>
                </a:solidFill>
                <a:latin typeface="Yu Gothic"/>
              </a:rPr>
              <a:t>処理の流れ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53312"/>
            <a:ext cx="10515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0">
                <a:solidFill>
                  <a:srgbClr val="475569"/>
                </a:solidFill>
                <a:latin typeface="Yu Gothic"/>
              </a:rPr>
              <a:t>入力文が token → vector → Q/K/V → score → weight → context に変わります。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331720"/>
            <a:ext cx="1417320" cy="868680"/>
          </a:xfrm>
          <a:prstGeom prst="roundRect">
            <a:avLst/>
          </a:prstGeom>
          <a:solidFill>
            <a:srgbClr val="EAF4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token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空白区切り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002536" y="2761488"/>
            <a:ext cx="329184" cy="0"/>
          </a:xfrm>
          <a:prstGeom prst="line">
            <a:avLst/>
          </a:prstGeom>
          <a:ln w="17780">
            <a:solidFill>
              <a:srgbClr val="AEBE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441448" y="2331720"/>
            <a:ext cx="1417320" cy="868680"/>
          </a:xfrm>
          <a:prstGeom prst="roundRect">
            <a:avLst/>
          </a:prstGeom>
          <a:solidFill>
            <a:srgbClr val="EAF4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vector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数値化+位置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877056" y="2761488"/>
            <a:ext cx="329184" cy="0"/>
          </a:xfrm>
          <a:prstGeom prst="line">
            <a:avLst/>
          </a:prstGeom>
          <a:ln w="17780">
            <a:solidFill>
              <a:srgbClr val="AEBE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315968" y="2331720"/>
            <a:ext cx="1417320" cy="868680"/>
          </a:xfrm>
          <a:prstGeom prst="roundRect">
            <a:avLst/>
          </a:prstGeom>
          <a:solidFill>
            <a:srgbClr val="EAF4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Q/K/V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3役へ変換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751576" y="2761488"/>
            <a:ext cx="329183" cy="0"/>
          </a:xfrm>
          <a:prstGeom prst="line">
            <a:avLst/>
          </a:prstGeom>
          <a:ln w="17780">
            <a:solidFill>
              <a:srgbClr val="AEBE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190488" y="2331720"/>
            <a:ext cx="1417320" cy="868680"/>
          </a:xfrm>
          <a:prstGeom prst="roundRect">
            <a:avLst/>
          </a:prstGeom>
          <a:solidFill>
            <a:srgbClr val="EAF4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score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点数化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626096" y="2761488"/>
            <a:ext cx="329183" cy="0"/>
          </a:xfrm>
          <a:prstGeom prst="line">
            <a:avLst/>
          </a:prstGeom>
          <a:ln w="17780">
            <a:solidFill>
              <a:srgbClr val="AEBE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065007" y="2331720"/>
            <a:ext cx="1417320" cy="868680"/>
          </a:xfrm>
          <a:prstGeom prst="roundRect">
            <a:avLst/>
          </a:prstGeom>
          <a:solidFill>
            <a:srgbClr val="EAF4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weight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softmax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500615" y="2761488"/>
            <a:ext cx="329184" cy="0"/>
          </a:xfrm>
          <a:prstGeom prst="line">
            <a:avLst/>
          </a:prstGeom>
          <a:ln w="17780">
            <a:solidFill>
              <a:srgbClr val="AEBE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939528" y="2331720"/>
            <a:ext cx="1417320" cy="868680"/>
          </a:xfrm>
          <a:prstGeom prst="roundRect">
            <a:avLst/>
          </a:prstGeom>
          <a:solidFill>
            <a:srgbClr val="EAF4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context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Valueを混ぜる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4251960"/>
            <a:ext cx="9966960" cy="822960"/>
          </a:xfrm>
          <a:prstGeom prst="roundRect">
            <a:avLst/>
          </a:prstGeom>
          <a:solidFill>
            <a:srgbClr val="EEF8F1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76749"/>
                </a:solidFill>
                <a:latin typeface="Yu Gothic"/>
              </a:rPr>
              <a:t>今回のポイント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Attention Weightを見ると、文中の離れたtoken同士の関係を重みとして観察できます。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95160" y="6473952"/>
            <a:ext cx="4800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64748B"/>
                </a:solidFill>
                <a:latin typeface="Yu Gothic"/>
              </a:rPr>
              <a:t>Excelで体験する言語モデルのしくみ | 第2回 | 9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1508760" cy="310896"/>
          </a:xfrm>
          <a:prstGeom prst="roundRect">
            <a:avLst/>
          </a:prstGeom>
          <a:solidFill>
            <a:srgbClr val="EAF4FF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900" b="1">
                <a:solidFill>
                  <a:srgbClr val="2F6690"/>
                </a:solidFill>
                <a:latin typeface="Yu Gothic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24324B"/>
                </a:solidFill>
                <a:latin typeface="Yu Gothic"/>
              </a:rPr>
              <a:t>入力データと表の見方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53312"/>
            <a:ext cx="10515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0">
                <a:solidFill>
                  <a:srgbClr val="475569"/>
                </a:solidFill>
                <a:latin typeface="Yu Gothic"/>
              </a:rPr>
              <a:t>第2回のtoken化は、入力文を空白で区切るシンプルな教材用処理です。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47088"/>
            <a:ext cx="47548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入力文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01_INPUT!B6。例: 注文履歴 は 正本 DB に 保存 する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06440" y="1847088"/>
            <a:ext cx="48006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表示モード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01_INPUT!B7。見たい中間表を選びます。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914400" y="3429000"/>
          <a:ext cx="9966960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80560"/>
                <a:gridCol w="5486400"/>
              </a:tblGrid>
              <a:tr h="617220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Yu Gothic"/>
                        </a:rPr>
                        <a:t>入力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Yu Gothic"/>
                        </a:rPr>
                        <a:t>token一覧の例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475569"/>
                          </a:solidFill>
                          <a:latin typeface="Yu Gothic"/>
                        </a:rPr>
                        <a:t>注文履歴 は 正本 DB に 保存 する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475569"/>
                          </a:solidFill>
                          <a:latin typeface="Yu Gothic"/>
                        </a:rPr>
                        <a:t>注文履歴 / は / 正本 / DB / に / 保存 / する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914400" y="5257800"/>
            <a:ext cx="9966960" cy="594360"/>
          </a:xfrm>
          <a:prstGeom prst="roundRect">
            <a:avLst/>
          </a:prstGeom>
          <a:solidFill>
            <a:srgbClr val="FFF4CC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8A5A2B"/>
                </a:solidFill>
                <a:latin typeface="Yu Gothic"/>
              </a:rPr>
              <a:t>注意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第1回とはtoken化の実装が異なります。第2回は空白区切りで最大12tokenまで扱います。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95160" y="6473952"/>
            <a:ext cx="4800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64748B"/>
                </a:solidFill>
                <a:latin typeface="Yu Gothic"/>
              </a:rPr>
              <a:t>Excelで体験する言語モデルのしくみ | 第2回 | 10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1508760" cy="310896"/>
          </a:xfrm>
          <a:prstGeom prst="roundRect">
            <a:avLst/>
          </a:prstGeom>
          <a:solidFill>
            <a:srgbClr val="EAF4FF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900" b="1">
                <a:solidFill>
                  <a:srgbClr val="2F6690"/>
                </a:solidFill>
                <a:latin typeface="Yu Gothic"/>
              </a:rPr>
              <a:t>RUNBOOK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24324B"/>
                </a:solidFill>
                <a:latin typeface="Yu Gothic"/>
              </a:rPr>
              <a:t>デモ操作手順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53312"/>
            <a:ext cx="10515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0">
                <a:solidFill>
                  <a:srgbClr val="475569"/>
                </a:solidFill>
                <a:latin typeface="Yu Gothic"/>
              </a:rPr>
              <a:t>同じPythonセルを使い、B6とB7を変えて再実行します。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91640"/>
            <a:ext cx="480060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1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01_INPUT の B6 に入力文を入れる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1691640"/>
            <a:ext cx="480060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2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B7で見たい表示モードを選ぶ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514600"/>
            <a:ext cx="480060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3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10_RUN_PYTHON の A14 を選ぶ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2514600"/>
            <a:ext cx="480060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4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数式 &gt; Pythonの挿入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337560"/>
            <a:ext cx="480060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5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excel_self_attention_demo_code.pyを貼る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0" y="3337560"/>
            <a:ext cx="480060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6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Ctrl + Enterで実行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4160520"/>
            <a:ext cx="480060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7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DataFrameカードを開く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0" y="4160520"/>
            <a:ext cx="480060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8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必要なら出力をExcel値に切り替える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5440680"/>
            <a:ext cx="9966960" cy="566928"/>
          </a:xfrm>
          <a:prstGeom prst="roundRect">
            <a:avLst/>
          </a:prstGeom>
          <a:solidFill>
            <a:srgbClr val="FFF4CC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8A5A2B"/>
                </a:solidFill>
                <a:latin typeface="Yu Gothic"/>
              </a:rPr>
              <a:t>重要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B7を変えたら、PythonセルをCtrl + Enterで再実行します。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95160" y="6473952"/>
            <a:ext cx="4800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64748B"/>
                </a:solidFill>
                <a:latin typeface="Yu Gothic"/>
              </a:rPr>
              <a:t>Excelで体験する言語モデルのしくみ | 第2回 | 11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1508760" cy="310896"/>
          </a:xfrm>
          <a:prstGeom prst="roundRect">
            <a:avLst/>
          </a:prstGeom>
          <a:solidFill>
            <a:srgbClr val="EAF4FF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900" b="1">
                <a:solidFill>
                  <a:srgbClr val="2F6690"/>
                </a:solidFill>
                <a:latin typeface="Yu Gothic"/>
              </a:rPr>
              <a:t>DISPLAY MODES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24324B"/>
                </a:solidFill>
                <a:latin typeface="Yu Gothic"/>
              </a:rPr>
              <a:t>表示表・列・変数の見方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53312"/>
            <a:ext cx="10515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0">
                <a:solidFill>
                  <a:srgbClr val="475569"/>
                </a:solidFill>
                <a:latin typeface="Yu Gothic"/>
              </a:rPr>
              <a:t>B7で6つの表示モードを切り替えます。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1755648"/>
          <a:ext cx="1060704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7863840"/>
              </a:tblGrid>
              <a:tr h="496388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Yu Gothic"/>
                        </a:rPr>
                        <a:t>表示モード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Yu Gothic"/>
                        </a:rPr>
                        <a:t>見る列・変数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475569"/>
                          </a:solidFill>
                          <a:latin typeface="Yu Gothic"/>
                        </a:rPr>
                        <a:t>token一覧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75569"/>
                          </a:solidFill>
                          <a:latin typeface="Yu Gothic"/>
                        </a:rPr>
                        <a:t>position / token / token_id / note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475569"/>
                          </a:solidFill>
                          <a:latin typeface="Yu Gothic"/>
                        </a:rPr>
                        <a:t>embedding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75569"/>
                          </a:solidFill>
                          <a:latin typeface="Yu Gothic"/>
                        </a:rPr>
                        <a:t>dim_1〜4 / positional_1〜4 / input_vector_1〜4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475569"/>
                          </a:solidFill>
                          <a:latin typeface="Yu Gothic"/>
                        </a:rPr>
                        <a:t>Q/K/V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75569"/>
                          </a:solidFill>
                          <a:latin typeface="Yu Gothic"/>
                        </a:rPr>
                        <a:t>Q1〜4 / K1〜4 / V1〜4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475569"/>
                          </a:solidFill>
                          <a:latin typeface="Yu Gothic"/>
                        </a:rPr>
                        <a:t>Attention Score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75569"/>
                          </a:solidFill>
                          <a:latin typeface="Yu Gothic"/>
                        </a:rPr>
                        <a:t>softmax前の参照スコア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475569"/>
                          </a:solidFill>
                          <a:latin typeface="Yu Gothic"/>
                        </a:rPr>
                        <a:t>Attention Weight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75569"/>
                          </a:solidFill>
                          <a:latin typeface="Yu Gothic"/>
                        </a:rPr>
                        <a:t>行合計1の参照重み。まずここを見る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6392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475569"/>
                          </a:solidFill>
                          <a:latin typeface="Yu Gothic"/>
                        </a:rPr>
                        <a:t>Context Vector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75569"/>
                          </a:solidFill>
                          <a:latin typeface="Yu Gothic"/>
                        </a:rPr>
                        <a:t>context_1〜4 / 一番強く見ているtoken / 解釈メモ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77240" y="5532120"/>
            <a:ext cx="10607040" cy="502920"/>
          </a:xfrm>
          <a:prstGeom prst="roundRect">
            <a:avLst/>
          </a:prstGeom>
          <a:solidFill>
            <a:srgbClr val="EEF8F1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76749"/>
                </a:solidFill>
                <a:latin typeface="Yu Gothic"/>
              </a:rPr>
              <a:t>最初に見る表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Attention Weight。行のtokenが、どの列のtokenを強く見ているかを確認します。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95160" y="6473952"/>
            <a:ext cx="4800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64748B"/>
                </a:solidFill>
                <a:latin typeface="Yu Gothic"/>
              </a:rPr>
              <a:t>Excelで体験する言語モデルのしくみ | 第2回 | 12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1508760" cy="310896"/>
          </a:xfrm>
          <a:prstGeom prst="roundRect">
            <a:avLst/>
          </a:prstGeom>
          <a:solidFill>
            <a:srgbClr val="EAF4FF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900" b="1">
                <a:solidFill>
                  <a:srgbClr val="2F6690"/>
                </a:solidFill>
                <a:latin typeface="Yu Gothic"/>
              </a:rPr>
              <a:t>HOW TO READ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24324B"/>
                </a:solidFill>
                <a:latin typeface="Yu Gothic"/>
              </a:rPr>
              <a:t>表の読み方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53312"/>
            <a:ext cx="10515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0">
                <a:solidFill>
                  <a:srgbClr val="475569"/>
                </a:solidFill>
                <a:latin typeface="Yu Gothic"/>
              </a:rPr>
              <a:t>Attention Weightは、行ごとに「見る側」として読みます。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1783080"/>
          <a:ext cx="1046988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1720"/>
                <a:gridCol w="1554480"/>
                <a:gridCol w="1554480"/>
                <a:gridCol w="1554480"/>
                <a:gridCol w="1554480"/>
                <a:gridCol w="1920240"/>
              </a:tblGrid>
              <a:tr h="609600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Yu Gothic"/>
                        </a:rPr>
                        <a:t>見る側 / 見られる側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Yu Gothic"/>
                        </a:rPr>
                        <a:t>注文履歴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Yu Gothic"/>
                        </a:rPr>
                        <a:t>正本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Yu Gothic"/>
                        </a:rPr>
                        <a:t>DB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Yu Gothic"/>
                        </a:rPr>
                        <a:t>保存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Yu Gothic"/>
                        </a:rPr>
                        <a:t>行合計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475569"/>
                          </a:solidFill>
                          <a:latin typeface="Yu Gothic"/>
                        </a:rPr>
                        <a:t>保存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75569"/>
                          </a:solidFill>
                          <a:latin typeface="Yu Gothic"/>
                        </a:rPr>
                        <a:t>0.03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75569"/>
                          </a:solidFill>
                          <a:latin typeface="Yu Gothic"/>
                        </a:rPr>
                        <a:t>0.06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75569"/>
                          </a:solidFill>
                          <a:latin typeface="Yu Gothic"/>
                        </a:rPr>
                        <a:t>0.62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75569"/>
                          </a:solidFill>
                          <a:latin typeface="Yu Gothic"/>
                        </a:rPr>
                        <a:t>0.08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75569"/>
                          </a:solidFill>
                          <a:latin typeface="Yu Gothic"/>
                        </a:rPr>
                        <a:t>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475569"/>
                          </a:solidFill>
                          <a:latin typeface="Yu Gothic"/>
                        </a:rPr>
                        <a:t>DB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75569"/>
                          </a:solidFill>
                          <a:latin typeface="Yu Gothic"/>
                        </a:rPr>
                        <a:t>0.05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75569"/>
                          </a:solidFill>
                          <a:latin typeface="Yu Gothic"/>
                        </a:rPr>
                        <a:t>0.44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75569"/>
                          </a:solidFill>
                          <a:latin typeface="Yu Gothic"/>
                        </a:rPr>
                        <a:t>0.09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75569"/>
                          </a:solidFill>
                          <a:latin typeface="Yu Gothic"/>
                        </a:rPr>
                        <a:t>0.10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75569"/>
                          </a:solidFill>
                          <a:latin typeface="Yu Gothic"/>
                        </a:rPr>
                        <a:t>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68680" y="4160520"/>
            <a:ext cx="48006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読み方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行を1つ選び、横方向に濃い列を探します。濃い列が強く参照したtokenです。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89320" y="4160520"/>
            <a:ext cx="4800600" cy="960120"/>
          </a:xfrm>
          <a:prstGeom prst="roundRect">
            <a:avLst/>
          </a:prstGeom>
          <a:solidFill>
            <a:srgbClr val="EEF8F1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76749"/>
                </a:solidFill>
                <a:latin typeface="Yu Gothic"/>
              </a:rPr>
              <a:t>観察ポイント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行合計が1になるので、各行の中で重みの配分を比べます。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95160" y="6473952"/>
            <a:ext cx="4800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64748B"/>
                </a:solidFill>
                <a:latin typeface="Yu Gothic"/>
              </a:rPr>
              <a:t>Excelで体験する言語モデルのしくみ | 第2回 | 13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1508760" cy="310896"/>
          </a:xfrm>
          <a:prstGeom prst="roundRect">
            <a:avLst/>
          </a:prstGeom>
          <a:solidFill>
            <a:srgbClr val="EAF4FF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900" b="1">
                <a:solidFill>
                  <a:srgbClr val="2F6690"/>
                </a:solidFill>
                <a:latin typeface="Yu Gothic"/>
              </a:rPr>
              <a:t>HOW TO READ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24324B"/>
                </a:solidFill>
                <a:latin typeface="Yu Gothic"/>
              </a:rPr>
              <a:t>表の読み方 2: 具体例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53312"/>
            <a:ext cx="10515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0">
                <a:solidFill>
                  <a:srgbClr val="475569"/>
                </a:solidFill>
                <a:latin typeface="Yu Gothic"/>
              </a:rPr>
              <a:t>Attention Weightで見た参照先は、Context Vectorでも確認できます。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1828800"/>
          <a:ext cx="1069848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4206240"/>
                <a:gridCol w="4023360"/>
              </a:tblGrid>
              <a:tr h="480060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Yu Gothic"/>
                        </a:rPr>
                        <a:t>表示モード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Yu Gothic"/>
                        </a:rPr>
                        <a:t>見るところ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Yu Gothic"/>
                        </a:rPr>
                        <a:t>分かること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475569"/>
                          </a:solidFill>
                          <a:latin typeface="Yu Gothic"/>
                        </a:rPr>
                        <a:t>Attention Weight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75569"/>
                          </a:solidFill>
                          <a:latin typeface="Yu Gothic"/>
                        </a:rPr>
                        <a:t>濃い列と行合計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75569"/>
                          </a:solidFill>
                          <a:latin typeface="Yu Gothic"/>
                        </a:rPr>
                        <a:t>どのtokenを強く見たか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475569"/>
                          </a:solidFill>
                          <a:latin typeface="Yu Gothic"/>
                        </a:rPr>
                        <a:t>Context Vector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75569"/>
                          </a:solidFill>
                          <a:latin typeface="Yu Gothic"/>
                        </a:rPr>
                        <a:t>一番強く見ているtoken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75569"/>
                          </a:solidFill>
                          <a:latin typeface="Yu Gothic"/>
                        </a:rPr>
                        <a:t>参照結果を要約して確認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475569"/>
                          </a:solidFill>
                          <a:latin typeface="Yu Gothic"/>
                        </a:rPr>
                        <a:t>Attention Score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75569"/>
                          </a:solidFill>
                          <a:latin typeface="Yu Gothic"/>
                        </a:rPr>
                        <a:t>softmax前の点数差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75569"/>
                          </a:solidFill>
                          <a:latin typeface="Yu Gothic"/>
                        </a:rPr>
                        <a:t>重みになる前の強さ候補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914400" y="4389120"/>
            <a:ext cx="9966960" cy="822960"/>
          </a:xfrm>
          <a:prstGeom prst="roundRect">
            <a:avLst/>
          </a:prstGeom>
          <a:solidFill>
            <a:srgbClr val="EEF8F1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76749"/>
                </a:solidFill>
                <a:latin typeface="Yu Gothic"/>
              </a:rPr>
              <a:t>おすすめの確認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B6を変えたあと、Attention Weight → Context Vector の順に見ると、参照と結果がつながります。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95160" y="6473952"/>
            <a:ext cx="4800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64748B"/>
                </a:solidFill>
                <a:latin typeface="Yu Gothic"/>
              </a:rPr>
              <a:t>Excelで体験する言語モデルのしくみ | 第2回 | 14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1508760" cy="310896"/>
          </a:xfrm>
          <a:prstGeom prst="roundRect">
            <a:avLst/>
          </a:prstGeom>
          <a:solidFill>
            <a:srgbClr val="EAF4FF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900" b="1">
                <a:solidFill>
                  <a:srgbClr val="2F6690"/>
                </a:solidFill>
                <a:latin typeface="Yu Gothic"/>
              </a:rPr>
              <a:t>CONNECTION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24324B"/>
                </a:solidFill>
                <a:latin typeface="Yu Gothic"/>
              </a:rPr>
              <a:t>前回・次回との接続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53312"/>
            <a:ext cx="10515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0">
                <a:solidFill>
                  <a:srgbClr val="475569"/>
                </a:solidFill>
                <a:latin typeface="Yu Gothic"/>
              </a:rPr>
              <a:t>第2回は、第1回の制約を越えて、第3回のEmbeddingにつながります。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30632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第1回 n-gram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直前n個のtokenだけを見る。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977639" y="2423160"/>
            <a:ext cx="640081" cy="0"/>
          </a:xfrm>
          <a:prstGeom prst="line">
            <a:avLst/>
          </a:prstGeom>
          <a:ln w="17780">
            <a:solidFill>
              <a:srgbClr val="AEBE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617720" y="1828800"/>
            <a:ext cx="3063240" cy="1143000"/>
          </a:xfrm>
          <a:prstGeom prst="roundRect">
            <a:avLst/>
          </a:prstGeom>
          <a:solidFill>
            <a:srgbClr val="EEF8F1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76749"/>
                </a:solidFill>
                <a:latin typeface="Yu Gothic"/>
              </a:rPr>
              <a:t>第2回 Self-Attention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文全体の参照重みを見る。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0" y="2423160"/>
            <a:ext cx="640080" cy="0"/>
          </a:xfrm>
          <a:prstGeom prst="line">
            <a:avLst/>
          </a:prstGeom>
          <a:ln w="17780">
            <a:solidFill>
              <a:srgbClr val="AEBE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8412480" y="1828800"/>
            <a:ext cx="2651760" cy="1143000"/>
          </a:xfrm>
          <a:prstGeom prst="roundRect">
            <a:avLst/>
          </a:prstGeom>
          <a:solidFill>
            <a:srgbClr val="EAF4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第3回 Embedding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tokenを数値ベクトルにする。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4251960"/>
            <a:ext cx="9966960" cy="868680"/>
          </a:xfrm>
          <a:prstGeom prst="roundRect">
            <a:avLst/>
          </a:prstGeom>
          <a:solidFill>
            <a:srgbClr val="EEF8F1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76749"/>
                </a:solidFill>
                <a:latin typeface="Yu Gothic"/>
              </a:rPr>
              <a:t>つながり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今回は先にSelf-Attentionを体験し、次回はその入力になるEmbeddingを詳しく見ます。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95160" y="6473952"/>
            <a:ext cx="4800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64748B"/>
                </a:solidFill>
                <a:latin typeface="Yu Gothic"/>
              </a:rPr>
              <a:t>Excelで体験する言語モデルのしくみ | 第2回 | 15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1508760" cy="310896"/>
          </a:xfrm>
          <a:prstGeom prst="roundRect">
            <a:avLst/>
          </a:prstGeom>
          <a:solidFill>
            <a:srgbClr val="EAF4FF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900" b="1">
                <a:solidFill>
                  <a:srgbClr val="2F6690"/>
                </a:solidFill>
                <a:latin typeface="Yu Gothic"/>
              </a:rPr>
              <a:t>LIMITATION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24324B"/>
                </a:solidFill>
                <a:latin typeface="Yu Gothic"/>
              </a:rPr>
              <a:t>実LLMとの差分と未扱い範囲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53312"/>
            <a:ext cx="10515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0">
                <a:solidFill>
                  <a:srgbClr val="475569"/>
                </a:solidFill>
                <a:latin typeface="Yu Gothic"/>
              </a:rPr>
              <a:t>教材として関係が見えやすくなるよう、実LLMより単純化しています。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1783080"/>
          <a:ext cx="10424160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8321040"/>
              </a:tblGrid>
              <a:tr h="4953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Yu Gothic"/>
                        </a:rPr>
                        <a:t>項目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Yu Gothic"/>
                        </a:rPr>
                        <a:t>この回での扱い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475569"/>
                          </a:solidFill>
                          <a:latin typeface="Yu Gothic"/>
                        </a:rPr>
                        <a:t>重み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475569"/>
                          </a:solidFill>
                          <a:latin typeface="Yu Gothic"/>
                        </a:rPr>
                        <a:t>学習済みではなく、教材用の固定行列を使う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475569"/>
                          </a:solidFill>
                          <a:latin typeface="Yu Gothic"/>
                        </a:rPr>
                        <a:t>boost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475569"/>
                          </a:solidFill>
                          <a:latin typeface="Yu Gothic"/>
                        </a:rPr>
                        <a:t>DBと保存などが見えやすいよう、教材用boostを加えている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475569"/>
                          </a:solidFill>
                          <a:latin typeface="Yu Gothic"/>
                        </a:rPr>
                        <a:t>token化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475569"/>
                          </a:solidFill>
                          <a:latin typeface="Yu Gothic"/>
                        </a:rPr>
                        <a:t>空白区切りの簡易処理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475569"/>
                          </a:solidFill>
                          <a:latin typeface="Yu Gothic"/>
                        </a:rPr>
                        <a:t>層構造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475569"/>
                          </a:solidFill>
                          <a:latin typeface="Yu Gothic"/>
                        </a:rPr>
                        <a:t>Multi-HeadやTransformer Blockは未扱い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475569"/>
                          </a:solidFill>
                          <a:latin typeface="Yu Gothic"/>
                        </a:rPr>
                        <a:t>学習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475569"/>
                          </a:solidFill>
                          <a:latin typeface="Yu Gothic"/>
                        </a:rPr>
                        <a:t>LossやBackpropagationは未扱い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22960" y="5212080"/>
            <a:ext cx="10424160" cy="548640"/>
          </a:xfrm>
          <a:prstGeom prst="roundRect">
            <a:avLst/>
          </a:prstGeom>
          <a:solidFill>
            <a:srgbClr val="FFF4CC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8A5A2B"/>
                </a:solidFill>
                <a:latin typeface="Yu Gothic"/>
              </a:rPr>
              <a:t>安全注記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コード自体は外部APIにアクセスしませんが、Python in Excelの実行環境はMicrosoft Cloud上です。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95160" y="6473952"/>
            <a:ext cx="4800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64748B"/>
                </a:solidFill>
                <a:latin typeface="Yu Gothic"/>
              </a:rPr>
              <a:t>Excelで体験する言語モデルのしくみ | 第2回 | 16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1508760" cy="310896"/>
          </a:xfrm>
          <a:prstGeom prst="roundRect">
            <a:avLst/>
          </a:prstGeom>
          <a:solidFill>
            <a:srgbClr val="EAF4FF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900" b="1">
                <a:solidFill>
                  <a:srgbClr val="2F6690"/>
                </a:solidFill>
                <a:latin typeface="Yu Gothic"/>
              </a:rPr>
              <a:t>WRAP-UP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24324B"/>
                </a:solidFill>
                <a:latin typeface="Yu Gothic"/>
              </a:rPr>
              <a:t>まとめと次回導線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53312"/>
            <a:ext cx="10515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0">
                <a:solidFill>
                  <a:srgbClr val="475569"/>
                </a:solidFill>
                <a:latin typeface="Yu Gothic"/>
              </a:rPr>
              <a:t>第2回では、文全体の関係性を重みとして見る体験をしました。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828800"/>
            <a:ext cx="2971800" cy="1051560"/>
          </a:xfrm>
          <a:prstGeom prst="roundRect">
            <a:avLst/>
          </a:prstGeom>
          <a:solidFill>
            <a:srgbClr val="EEF8F1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76749"/>
                </a:solidFill>
                <a:latin typeface="Yu Gothic"/>
              </a:rPr>
              <a:t>分かったこと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Self-Attentionは、各tokenがどこを見るかを重みにします。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828800"/>
            <a:ext cx="2971800" cy="1051560"/>
          </a:xfrm>
          <a:prstGeom prst="roundRect">
            <a:avLst/>
          </a:prstGeom>
          <a:solidFill>
            <a:srgbClr val="EEF8F1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76749"/>
                </a:solidFill>
                <a:latin typeface="Yu Gothic"/>
              </a:rPr>
              <a:t>Excelで見る場所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Attention Weightで濃い列と行合計を確認します。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18120" y="1828800"/>
            <a:ext cx="2971800" cy="1051560"/>
          </a:xfrm>
          <a:prstGeom prst="roundRect">
            <a:avLst/>
          </a:prstGeom>
          <a:solidFill>
            <a:srgbClr val="FFF4CC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8A5A2B"/>
                </a:solidFill>
                <a:latin typeface="Yu Gothic"/>
              </a:rPr>
              <a:t>限界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教材用boostと固定重みを使う小さなデモです。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1560" y="4251960"/>
            <a:ext cx="9784080" cy="868680"/>
          </a:xfrm>
          <a:prstGeom prst="roundRect">
            <a:avLst/>
          </a:prstGeom>
          <a:solidFill>
            <a:srgbClr val="EAF4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次回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第3回 Embedding では、tokenを数値ベクトルにする前段の仕組みを詳しく見ます。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508760" cy="310896"/>
          </a:xfrm>
          <a:prstGeom prst="roundRect">
            <a:avLst/>
          </a:prstGeom>
          <a:solidFill>
            <a:srgbClr val="EAF4FF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2F6690"/>
                </a:solidFill>
                <a:latin typeface="Yu Gothic"/>
              </a:rPr>
              <a:t>GLOSSARY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86384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24324B"/>
                </a:solidFill>
                <a:latin typeface="Yu Gothic"/>
              </a:rPr>
              <a:t>第2回 Self-Attention 用語集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53312"/>
            <a:ext cx="10515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0">
                <a:solidFill>
                  <a:srgbClr val="475569"/>
                </a:solidFill>
                <a:latin typeface="Yu Gothic"/>
              </a:rPr>
              <a:t>Attention Weightの表を読むための用語を整理します。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1755648"/>
          <a:ext cx="10607040" cy="3611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7863840"/>
              </a:tblGrid>
              <a:tr h="515982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Yu Gothic"/>
                        </a:rPr>
                        <a:t>用語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Yu Gothic"/>
                        </a:rPr>
                        <a:t>説明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</a:tr>
              <a:tr h="515982">
                <a:tc>
                  <a:txBody>
                    <a:bodyPr/>
                    <a:lstStyle/>
                    <a:p>
                      <a:pPr algn="ctr"/>
                      <a:r>
                        <a:rPr sz="980" b="1">
                          <a:solidFill>
                            <a:srgbClr val="475569"/>
                          </a:solidFill>
                          <a:latin typeface="Yu Gothic"/>
                        </a:rPr>
                        <a:t>Self-Attention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40" b="0">
                          <a:solidFill>
                            <a:srgbClr val="475569"/>
                          </a:solidFill>
                          <a:latin typeface="Yu Gothic"/>
                        </a:rPr>
                        <a:t>文中の各tokenが、他のtokenをどれくらい参照するかを計算する仕組みです。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5982">
                <a:tc>
                  <a:txBody>
                    <a:bodyPr/>
                    <a:lstStyle/>
                    <a:p>
                      <a:pPr algn="ctr"/>
                      <a:r>
                        <a:rPr sz="980" b="1">
                          <a:solidFill>
                            <a:srgbClr val="475569"/>
                          </a:solidFill>
                          <a:latin typeface="Yu Gothic"/>
                        </a:rPr>
                        <a:t>Query / Key / Value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40" b="0">
                          <a:solidFill>
                            <a:srgbClr val="475569"/>
                          </a:solidFill>
                          <a:latin typeface="Yu Gothic"/>
                        </a:rPr>
                        <a:t>Queryは見る側、Keyは見られる側、Valueは取り出す情報です。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5982">
                <a:tc>
                  <a:txBody>
                    <a:bodyPr/>
                    <a:lstStyle/>
                    <a:p>
                      <a:pPr algn="ctr"/>
                      <a:r>
                        <a:rPr sz="980" b="1">
                          <a:solidFill>
                            <a:srgbClr val="475569"/>
                          </a:solidFill>
                          <a:latin typeface="Yu Gothic"/>
                        </a:rPr>
                        <a:t>Attention Score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40" b="0">
                          <a:solidFill>
                            <a:srgbClr val="475569"/>
                          </a:solidFill>
                          <a:latin typeface="Yu Gothic"/>
                        </a:rPr>
                        <a:t>softmax前の参照スコア。まだ確率のような重みではありません。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5982">
                <a:tc>
                  <a:txBody>
                    <a:bodyPr/>
                    <a:lstStyle/>
                    <a:p>
                      <a:pPr algn="ctr"/>
                      <a:r>
                        <a:rPr sz="980" b="1">
                          <a:solidFill>
                            <a:srgbClr val="475569"/>
                          </a:solidFill>
                          <a:latin typeface="Yu Gothic"/>
                        </a:rPr>
                        <a:t>Attention Weight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40" b="0">
                          <a:solidFill>
                            <a:srgbClr val="475569"/>
                          </a:solidFill>
                          <a:latin typeface="Yu Gothic"/>
                        </a:rPr>
                        <a:t>scoreにsoftmaxをかけた重み。行ごとに合計が1になります。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5982">
                <a:tc>
                  <a:txBody>
                    <a:bodyPr/>
                    <a:lstStyle/>
                    <a:p>
                      <a:pPr algn="ctr"/>
                      <a:r>
                        <a:rPr sz="980" b="1">
                          <a:solidFill>
                            <a:srgbClr val="475569"/>
                          </a:solidFill>
                          <a:latin typeface="Yu Gothic"/>
                        </a:rPr>
                        <a:t>Context Vector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40" b="0">
                          <a:solidFill>
                            <a:srgbClr val="475569"/>
                          </a:solidFill>
                          <a:latin typeface="Yu Gothic"/>
                        </a:rPr>
                        <a:t>Attention WeightでValueを混ぜた結果です。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5988">
                <a:tc>
                  <a:txBody>
                    <a:bodyPr/>
                    <a:lstStyle/>
                    <a:p>
                      <a:pPr algn="ctr"/>
                      <a:r>
                        <a:rPr sz="980" b="1">
                          <a:solidFill>
                            <a:srgbClr val="475569"/>
                          </a:solidFill>
                          <a:latin typeface="Yu Gothic"/>
                        </a:rPr>
                        <a:t>boost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40" b="0">
                          <a:solidFill>
                            <a:srgbClr val="475569"/>
                          </a:solidFill>
                          <a:latin typeface="Yu Gothic"/>
                        </a:rPr>
                        <a:t>教材で関係を見えやすくするために加えている補正です。実LLMそのものではありません。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22960" y="5650992"/>
            <a:ext cx="10607040" cy="530352"/>
          </a:xfrm>
          <a:prstGeom prst="roundRect">
            <a:avLst/>
          </a:prstGeom>
          <a:solidFill>
            <a:srgbClr val="EEF8F1"/>
          </a:solidFill>
          <a:ln>
            <a:solidFill>
              <a:srgbClr val="C4E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200" b="1">
                <a:solidFill>
                  <a:srgbClr val="276749"/>
                </a:solidFill>
                <a:latin typeface="Yu Gothic"/>
              </a:rPr>
              <a:t>第2回では、行のtokenがどの列のtokenを強く見ているかを読みます。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95160" y="6473952"/>
            <a:ext cx="4800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64748B"/>
                </a:solidFill>
                <a:latin typeface="Yu Gothic"/>
              </a:rPr>
              <a:t>Excelで体験する言語モデルのしくみ | 第2回 | 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