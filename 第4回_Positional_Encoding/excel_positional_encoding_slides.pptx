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0" r:id="rId21"/>
    <p:sldId id="271" r:id="rId22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69494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24324B"/>
                </a:solidFill>
                <a:latin typeface="Yu Gothic"/>
              </a:rPr>
              <a:t>Excelで体験する 言語モデルのしくみ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585216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>
                <a:solidFill>
                  <a:srgbClr val="2F6690"/>
                </a:solidFill>
                <a:latin typeface="Yu Gothic"/>
              </a:rPr>
              <a:t>第4回 Positional Encoding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806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475569"/>
                </a:solidFill>
                <a:latin typeface="Yu Gothic"/>
              </a:rPr>
              <a:t>Embeddingに、tokenの位置情報を足す仕組みを見ます。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182112"/>
            <a:ext cx="4937760" cy="10972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今回の狙い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同じtokenでも、位置が違うとTransformerへの入力ベクトルが変わることを確認します。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331720"/>
            <a:ext cx="132588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Embedding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2331720"/>
            <a:ext cx="132588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Position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2331720"/>
            <a:ext cx="1325880" cy="749808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Input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63840" y="2706624"/>
            <a:ext cx="320039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09760" y="2706624"/>
            <a:ext cx="22860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3703320"/>
            <a:ext cx="342900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足し算で混ぜる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意味 + 順番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SERIES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全10回の中の位置づけ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第4回は、Embeddingに順番の情報を足す回です。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第1回 n-gram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直前の並びから次を考える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第2回 Self-Attention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文全体のどこを見るかを重みで見る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496312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第3回 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tokenを数値ベクトルにする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96312"/>
            <a:ext cx="5074920" cy="512064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第4回 Positional Encoding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tokenの順番を数値で足す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第5回 Multi-Head 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複数の見方を同時に走らせる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09544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第6回 Transformer Block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AttentionとFFNを積み重ねる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第7回 Softmaxと生成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確率から次tokenを選ぶ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22776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第8回 Lossと学習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予測のズレを数値にする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第9回 Backpropagation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ズレを元に重みを更新する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636008"/>
            <a:ext cx="5074920" cy="512064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第10回 RAG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外部資料を参照して答える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696712"/>
            <a:ext cx="9875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>
                <a:solidFill>
                  <a:srgbClr val="276749"/>
                </a:solidFill>
                <a:latin typeface="Yu Gothic"/>
              </a:rPr>
              <a:t>第4回の到達点: tokenの意味ベクトルに、順番の情報を足せる状態にする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今日の到達点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なぜ位置情報を足すのかを、Excelの表で確認します。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1. Embeddingだけの限界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tokenの意味は分かっても、位置は分かりにくい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82880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2. 位置ベクトル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positionごとに違う数値パターンを用意する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3. 足し算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Embedding + Positional Encodingを作る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246120"/>
            <a:ext cx="48006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4. 比較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同じtokenでも位置が違うと最終ベクトルが違うと読む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074920"/>
            <a:ext cx="10241280" cy="6858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最後に見る表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display_dfの 05_COMPARE。Embeddingは同じでも、最終ベクトルが違う理由を確認します。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Positional Encodingは位置を足す仕組み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tokenの意味ベクトルに、positionごとのベクトルを足します。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3063240" cy="100584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tokenごとの意味ベクトル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2331720"/>
            <a:ext cx="640081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828800"/>
            <a:ext cx="3063240" cy="100584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Positional Encoding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positionごとの位置ベクトル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2331720"/>
            <a:ext cx="64008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0" y="1828800"/>
            <a:ext cx="2651760" cy="100584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Input Vector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足し算後の入力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3474720"/>
          <a:ext cx="996696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223760"/>
              </a:tblGrid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要素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例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私 = [0.20, 0.80, 0.10, 0.30]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position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[0.000, 1.000, 0.000, 1.000]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足し算後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[0.200, 1.800, 0.100, 1.300]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960120" y="5349240"/>
            <a:ext cx="9966960" cy="50292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重要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同じtokenでも、足される位置ベクトルが違えば最終ベクトルは変わります。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DEMO ASSET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Excelで作ったもの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Python in Excelで動く、Positional Encoding観察デモです。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入力文A/B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私 は りんご を 食べる / りんご を 私 は 食べる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874519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display_df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見やすい縦長の確認表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all_outputs_df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中間表をまとめた横長の詳細表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3172968"/>
            <a:ext cx="46634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compare_df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同じtokenの位置違い比較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754880"/>
            <a:ext cx="9966960" cy="804672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教材の範囲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本物のLLMではなく、4次元の固定Embeddingとsin/cos位置ベクトルを使う小さなデモです。</a:t>
            </a:r>
          </a:p>
        </p:txBody>
      </p:sp>
      <p:sp>
        <p:nvSpPr>
          <p:cNvPr id="11" name="github_demo_asset_url"/>
          <p:cNvSpPr txBox="1"/>
          <p:nvPr/>
        </p:nvSpPr>
        <p:spPr>
          <a:xfrm>
            <a:off x="658368" y="5998464"/>
            <a:ext cx="10652760" cy="310896"/>
          </a:xfrm>
          <a:prstGeom prst="rect">
            <a:avLst/>
          </a:prstGeom>
          <a:noFill/>
        </p:spPr>
        <p:txBody>
          <a:bodyPr wrap="none" lIns="45720" rIns="45720" tIns="9144" bIns="9144">
            <a:spAutoFit/>
          </a:bodyPr>
          <a:lstStyle/>
          <a:p>
            <a:pPr algn="l"/>
            <a:r>
              <a:rPr sz="900">
                <a:solidFill>
                  <a:srgbClr val="4E5E6E"/>
                </a:solidFill>
                <a:latin typeface="Yu Gothic"/>
              </a:rPr>
              <a:t>デモ一式: https://github.com/KanameShiga-dev/excel-python-mini-llm-demo/tree/main/第4回_Positional_Encoding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INPUT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01_INPUT の画面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ExcelをUIとして触る入口を、先に画面で確認します。</a:t>
            </a:r>
          </a:p>
        </p:txBody>
      </p:sp>
      <p:pic>
        <p:nvPicPr>
          <p:cNvPr id="5" name="Picture 4" descr="input_sheet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56231"/>
            <a:ext cx="10287000" cy="3429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固定の文A/Bを使い、同じtokenが違うpositionにあることを確認します。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EXCEL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Excel UIで何を確認するか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固定入力を使い、確認表を切り替えて「位置が違うと最終ベクトルが変わる」ことを見ます。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55648"/>
          <a:ext cx="106070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120640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場所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変更・確認するもの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見える変化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01_INPUT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文A/Bのtokenとposition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同じtokenの位置違いを確認する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02_EMBEDDING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tokenごとのEmbedding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同じtokenならEmbeddingは同じと見る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03_POSITIONAL_ENCODING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positionごとの位置ベクトル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positionで足される値が違うと見る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04_ADD_RESULT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足し算後の最終ベクトル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Embedding + 位置ベクトルを見る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05_COMPARE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同じtokenの比較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位置が違うと最終ベクトルが違うと読む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コード末尾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Yu Gothic"/>
                        </a:rPr>
                        <a:t>display_df / compare_df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475569"/>
                          </a:solidFill>
                          <a:latin typeface="Yu Gothic"/>
                        </a:rPr>
                        <a:t>見せたい表を切り替える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第4回のExcel UIは、入力変更よりも確認表の切り替えで、位置情報の効き方を見せる構成です。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8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処理の流れ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Embedding表と位置ベクトルを作り、足し算後を比較します。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31720"/>
            <a:ext cx="16002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input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文A/B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40864" y="2761488"/>
            <a:ext cx="36576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953512" y="2331720"/>
            <a:ext cx="16002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tokenベクトル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81144" y="2761488"/>
            <a:ext cx="36576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93792" y="2331720"/>
            <a:ext cx="16002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position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位置ベクトル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21424" y="2761488"/>
            <a:ext cx="36576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34072" y="2331720"/>
            <a:ext cx="16002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add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足し算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61704" y="2761488"/>
            <a:ext cx="36576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674352" y="2331720"/>
            <a:ext cx="160020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compare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違いを見る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251960"/>
            <a:ext cx="9966960" cy="8229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今回のポイント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Embeddingはtokenで決まり、Positional Encodingはpositionで決まります。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入力データと表の見方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同じtokenを含む2つの文を使い、位置違いを比較します。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47088"/>
            <a:ext cx="47548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文A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私 は りんご を 食べる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847088"/>
            <a:ext cx="48006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文B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りんご を 私 は 食べる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3429000"/>
          <a:ext cx="99669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040880"/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display_df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section / item / token / value / note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all_outputs_df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入力、Embedding、位置、足し算、比較の全列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compare_df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同じtokenのposition差と最終ベクトル差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914400" y="5257800"/>
            <a:ext cx="9966960" cy="5943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注意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以降は単語ではなくtoken表記を基本にします。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デモ操作手順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既定では、見やすい縦長のdisplay_dfを返します。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1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10_RUN_PYTHONシートを開く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9164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2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B12付近にPythonセルを作る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51460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3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外部 .py のコードを貼り付ける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51460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4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Ctrl + Enterで実行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33756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5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display_dfを確認する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333756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6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05_COMPAREの行を見る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7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必要なら最後の行をcompare_dfに変える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4160520"/>
            <a:ext cx="480060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8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詳細確認ならall_outputs_dfに変える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440680"/>
            <a:ext cx="9966960" cy="566928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重要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コードはシート内ではなく、excel_positional_encoding_demo_code.py から貼り付けます。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11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DISPLAY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表示表・列・変数の見方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第4回は表示モード選択ではなく、返すDataFrameを切り替えて確認します。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55648"/>
          <a:ext cx="1060704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7772400"/>
              </a:tblGrid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見る列・変数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display_df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section / item / token / value / note。既定の確認表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all_outputs_df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01_INPUT_A〜05_COMPAREを連結した詳細表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compare_df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token / 文A position / 文B position / 最終ベクトルは同じ？ / 理由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embedding_df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token / dim_0〜dim_3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position_df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position / pe_0〜pe_3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321808"/>
            <a:ext cx="10607040" cy="5943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最初に見る表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display_dfの05_COMPARE。位置が違うtokenの最終ベクトルが変わることを確認します。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12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display_dfはsectionごとに、入力から比較までを縦に追います。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698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931920"/>
                <a:gridCol w="406908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section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見ること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Yu Gothic"/>
                        </a:rPr>
                        <a:t>例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01_INPUT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tokenとposition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文A / 0番目 / 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02_EMBEDDING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tokenごとの意味ベクトル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私 のEmbedding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03_POSITIONAL_ENCODING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positionごとの位置ベクトル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position 0 の位置ベクトル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04_ADD_RESULT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足し算後の最終ベクトル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19">
                          <a:solidFill>
                            <a:srgbClr val="475569"/>
                          </a:solidFill>
                          <a:latin typeface="Yu Gothic"/>
                        </a:rPr>
                        <a:t>Embedding + Positional 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343400"/>
            <a:ext cx="4800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読み方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sectionの番号順に見ると、入力から足し算後までの流れが分かります。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4343400"/>
            <a:ext cx="4800600" cy="9144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観察ポイント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value列のベクトルが、Embeddingだけか足し算後かをnoteで確認します。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13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HOW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表の読み方 2: 具体例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compare_dfでは、同じtokenでも位置が違うと最終ベクトルが変わることを読みます。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984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94560"/>
                <a:gridCol w="2194560"/>
                <a:gridCol w="2103120"/>
                <a:gridCol w="2377440"/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token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文A position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文B position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Embedding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最終ベクトル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同じ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違う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りんご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同じ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違う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食べる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同じ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75569"/>
                          </a:solidFill>
                          <a:latin typeface="Yu Gothic"/>
                        </a:rPr>
                        <a:t>同じ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389120"/>
            <a:ext cx="9966960" cy="8229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おすすめの確認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「私」と「りんご」は位置が変わるので、Embeddingは同じでも最終ベクトルは違います。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14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CONNECTION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前回・次回との接続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第3回でtokenを数値化し、第4回で順番を足し、第5回でQ/K/Vへ進みます。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0632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第3回 Embedding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tokenを数値ベクトルにした。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2423160"/>
            <a:ext cx="640081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17720" y="1828800"/>
            <a:ext cx="3063240" cy="114300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第4回 Positional Encoding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positionの情報を足す。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0" y="2423160"/>
            <a:ext cx="640080" cy="0"/>
          </a:xfrm>
          <a:prstGeom prst="line">
            <a:avLst/>
          </a:prstGeom>
          <a:ln w="17780">
            <a:solidFill>
              <a:srgbClr val="AEBE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412480" y="1828800"/>
            <a:ext cx="2651760" cy="114300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第5回 Multi-Head Attention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Q/K/Vで複数の見方を作る。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251960"/>
            <a:ext cx="9966960" cy="86868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つながり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意味と順番を足した入力ベクトルが、次回のQ/K/V計算の材料になります。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15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LIMITATION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実LLMとの差分と未扱い範囲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教材として分かりやすくするため、実LLMよりかなり単純化しています。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783080"/>
          <a:ext cx="10424159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7955279"/>
              </a:tblGrid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項目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Yu Gothic"/>
                        </a:rPr>
                        <a:t>この回での扱い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4次元の固定値。学習で得た値ではない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Positional 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sin/cosで作る古典的な例を使用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入力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文A/Bの固定token列だけを扱う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同じtokenの位置違いを中心に見る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未扱い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475569"/>
                          </a:solidFill>
                          <a:latin typeface="Yu Gothic"/>
                        </a:rPr>
                        <a:t>Q/K/V、Multi-Head、学習による更新は未扱い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212080"/>
            <a:ext cx="10424160" cy="54864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安全注記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コード自体は外部APIにアクセスしませんが、Python in Excelの実行環境はMicrosoft Cloud上です。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16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まとめと次回導線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第4回では、tokenの意味ベクトルに順番の情報を足しました。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分かったこと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Embeddingはtokenの意味、位置ベクトルはtokenの場所を表します。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2971800" cy="1051560"/>
          </a:xfrm>
          <a:prstGeom prst="roundRect">
            <a:avLst/>
          </a:prstGeom>
          <a:solidFill>
            <a:srgbClr val="EEF8F1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76749"/>
                </a:solidFill>
                <a:latin typeface="Yu Gothic"/>
              </a:rPr>
              <a:t>Excelで見る場所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display_dfの05_COMPAREで、最終ベクトルの違いを確認します。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828800"/>
            <a:ext cx="2971800" cy="1051560"/>
          </a:xfrm>
          <a:prstGeom prst="roundRect">
            <a:avLst/>
          </a:prstGeom>
          <a:solidFill>
            <a:srgbClr val="FFF4CC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8A5A2B"/>
                </a:solidFill>
                <a:latin typeface="Yu Gothic"/>
              </a:rPr>
              <a:t>限界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固定値の4次元教材用デモです。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251960"/>
            <a:ext cx="9784080" cy="868680"/>
          </a:xfrm>
          <a:prstGeom prst="roundRect">
            <a:avLst/>
          </a:prstGeom>
          <a:solidFill>
            <a:srgbClr val="EAF4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46304" tIns="91440" bIns="73152"/>
          <a:lstStyle/>
          <a:p>
            <a:pPr algn="ctr"/>
            <a:r>
              <a:rPr sz="1300" b="1">
                <a:solidFill>
                  <a:srgbClr val="2F6690"/>
                </a:solidFill>
                <a:latin typeface="Yu Gothic"/>
              </a:rPr>
              <a:t>次回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475569"/>
                </a:solidFill>
                <a:latin typeface="Yu Gothic"/>
              </a:rPr>
              <a:t>第5回 Multi-Head Attention では、入力ベクトルからQ/K/Vを作り、複数の見方でAttentionを動かします。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508760" cy="310896"/>
          </a:xfrm>
          <a:prstGeom prst="roundRect">
            <a:avLst/>
          </a:prstGeom>
          <a:solidFill>
            <a:srgbClr val="EAF4FF"/>
          </a:solidFill>
          <a:ln>
            <a:solidFill>
              <a:srgbClr val="C6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F6690"/>
                </a:solidFill>
                <a:latin typeface="Yu Gothic"/>
              </a:rPr>
              <a:t>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8813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>
                <a:solidFill>
                  <a:srgbClr val="24324B"/>
                </a:solidFill>
                <a:latin typeface="Yu Gothic"/>
              </a:rPr>
              <a:t>第4回 Positional Encoding 用語集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Yu Gothic"/>
              </a:rPr>
              <a:t>Embeddingに位置情報を足す流れを読むための用語を整理します。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755648"/>
          <a:ext cx="106070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863840"/>
              </a:tblGrid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用語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Yu Gothic"/>
                        </a:rPr>
                        <a:t>説明</a:t>
                      </a:r>
                    </a:p>
                  </a:txBody>
                  <a:tcPr>
                    <a:solidFill>
                      <a:srgbClr val="2F6690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position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tokenが文の何番目にあるかを表す番号です。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Positional 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positionごとに決まる位置ベクトルです。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Embedding + Positional Encoding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tokenの意味ベクトルに位置ベクトルを足した入力ベクトルです。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display_df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既定表示の縦長確認表。section順に処理の流れを追います。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all_outputs_df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入力、Embedding、位置、足し算、比較を連結した詳細表です。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475569"/>
                          </a:solidFill>
                          <a:latin typeface="Yu Gothic"/>
                        </a:rPr>
                        <a:t>compare_df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Yu Gothic"/>
                        </a:rPr>
                        <a:t>同じtokenでも位置が違うと最終ベクトルが違うことを見る表です。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5650992"/>
            <a:ext cx="10607040" cy="530352"/>
          </a:xfrm>
          <a:prstGeom prst="roundRect">
            <a:avLst/>
          </a:prstGeom>
          <a:solidFill>
            <a:srgbClr val="EEF8F1"/>
          </a:solidFill>
          <a:ln>
            <a:solidFill>
              <a:srgbClr val="C4E0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/>
            <a:r>
              <a:rPr sz="1200" b="1">
                <a:solidFill>
                  <a:srgbClr val="276749"/>
                </a:solidFill>
                <a:latin typeface="Yu Gothic"/>
              </a:rPr>
              <a:t>第4回では、同じtokenでも位置が変わると最終ベクトルが変わる点を見ます。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6473952"/>
            <a:ext cx="4800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4748B"/>
                </a:solidFill>
                <a:latin typeface="Yu Gothic"/>
              </a:rPr>
              <a:t>Excelで体験する言語モデルのしくみ | 第4回 |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