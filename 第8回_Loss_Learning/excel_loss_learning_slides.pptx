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664208" cy="310896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900" b="1">
                <a:solidFill>
                  <a:srgbClr val="2F6690"/>
                </a:solidFill>
                <a:latin typeface="Yu Gothic"/>
              </a:rPr>
              <a:t>TITLE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12280" y="6473952"/>
            <a:ext cx="4983480" cy="201168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r"/>
            <a:r>
              <a:rPr sz="850" b="0">
                <a:solidFill>
                  <a:srgbClr val="526279"/>
                </a:solidFill>
                <a:latin typeface="Yu Gothic"/>
              </a:rPr>
              <a:t>Excelで体験する言語モデルのしくみ | 第8回 |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6949440" cy="594360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l"/>
            <a:r>
              <a:rPr sz="2500" b="1">
                <a:solidFill>
                  <a:srgbClr val="24324B"/>
                </a:solidFill>
                <a:latin typeface="Yu Gothic"/>
              </a:rPr>
              <a:t>Excelで体験する 言語モデルのしくみ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36192"/>
            <a:ext cx="6217920" cy="475488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l"/>
            <a:r>
              <a:rPr sz="2300" b="1">
                <a:solidFill>
                  <a:srgbClr val="2F6690"/>
                </a:solidFill>
                <a:latin typeface="Yu Gothic"/>
              </a:rPr>
              <a:t>第8回 Lossと学習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148840"/>
            <a:ext cx="5806440" cy="731520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l"/>
            <a:r>
              <a:rPr sz="1500" b="0">
                <a:solidFill>
                  <a:srgbClr val="475569"/>
                </a:solidFill>
                <a:latin typeface="Yu Gothic"/>
              </a:rPr>
              <a:t>生成結果を、学習のための信号へ変える入口です。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182112"/>
            <a:ext cx="4937760" cy="1097280"/>
          </a:xfrm>
          <a:prstGeom prst="roundRect">
            <a:avLst/>
          </a:prstGeom>
          <a:solidFill>
            <a:srgbClr val="EBF8F1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400" b="1">
                <a:solidFill>
                  <a:srgbClr val="266E4F"/>
                </a:solidFill>
                <a:latin typeface="Yu Gothic"/>
              </a:rPr>
              <a:t>今回の狙い</a:t>
            </a:r>
          </a:p>
          <a:p>
            <a:pPr algn="l"/>
            <a:r>
              <a:rPr sz="1100">
                <a:solidFill>
                  <a:srgbClr val="526279"/>
                </a:solidFill>
                <a:latin typeface="Yu Gothic"/>
              </a:rPr>
              <a:t>target_probability、Loss、gradient、learning_rateを、同じ候補表の変化として読みます。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377440"/>
            <a:ext cx="1417320" cy="713232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400" b="1">
                <a:solidFill>
                  <a:srgbClr val="2F6690"/>
                </a:solidFill>
                <a:latin typeface="Yu Gothic"/>
              </a:rPr>
              <a:t>logit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28431" y="2377440"/>
            <a:ext cx="1417320" cy="713232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400" b="1">
                <a:solidFill>
                  <a:srgbClr val="2F6690"/>
                </a:solidFill>
                <a:latin typeface="Yu Gothic"/>
              </a:rPr>
              <a:t>softmax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710928" y="2377440"/>
            <a:ext cx="1417320" cy="713232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400" b="1">
                <a:solidFill>
                  <a:srgbClr val="2F6690"/>
                </a:solidFill>
                <a:latin typeface="Yu Gothic"/>
              </a:rPr>
              <a:t>target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3730752"/>
            <a:ext cx="3520440" cy="804672"/>
          </a:xfrm>
          <a:prstGeom prst="roundRect">
            <a:avLst/>
          </a:prstGeom>
          <a:solidFill>
            <a:srgbClr val="EBF8F1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400" b="1">
                <a:solidFill>
                  <a:srgbClr val="266E4F"/>
                </a:solidFill>
                <a:latin typeface="Yu Gothic"/>
              </a:rPr>
              <a:t>gradient</a:t>
            </a:r>
          </a:p>
          <a:p>
            <a:pPr algn="l"/>
            <a:r>
              <a:rPr sz="1100">
                <a:solidFill>
                  <a:srgbClr val="526279"/>
                </a:solidFill>
                <a:latin typeface="Yu Gothic"/>
              </a:rPr>
              <a:t>次の確認表へ渡す値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965960" cy="310896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900" b="1">
                <a:solidFill>
                  <a:srgbClr val="2F6690"/>
                </a:solidFill>
                <a:latin typeface="Yu Gothic"/>
              </a:rPr>
              <a:t>SERIES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12280" y="6473952"/>
            <a:ext cx="4983480" cy="201168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r"/>
            <a:r>
              <a:rPr sz="850" b="0">
                <a:solidFill>
                  <a:srgbClr val="526279"/>
                </a:solidFill>
                <a:latin typeface="Yu Gothic"/>
              </a:rPr>
              <a:t>Excelで体験する言語モデルのしくみ | 第8回 |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881360" cy="566928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l"/>
            <a:r>
              <a:rPr sz="2300" b="1">
                <a:solidFill>
                  <a:srgbClr val="1F2A44"/>
                </a:solidFill>
                <a:latin typeface="Yu Gothic"/>
              </a:rPr>
              <a:t>全10回の中の位置づけ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53312"/>
            <a:ext cx="10515600" cy="320040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l"/>
            <a:r>
              <a:rPr sz="1400" b="0">
                <a:solidFill>
                  <a:srgbClr val="526279"/>
                </a:solidFill>
                <a:latin typeface="Yu Gothic"/>
              </a:rPr>
              <a:t>正解tokenの確率が低いほどLossが大きくなることを、Excelの表で確認します。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83080"/>
            <a:ext cx="5074920" cy="512064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400" b="1">
                <a:solidFill>
                  <a:srgbClr val="2F6690"/>
                </a:solidFill>
                <a:latin typeface="Yu Gothic"/>
              </a:rPr>
              <a:t>第1回 n-gram</a:t>
            </a:r>
          </a:p>
          <a:p>
            <a:pPr algn="l"/>
            <a:r>
              <a:rPr sz="1100">
                <a:solidFill>
                  <a:srgbClr val="526279"/>
                </a:solidFill>
                <a:latin typeface="Yu Gothic"/>
              </a:rPr>
              <a:t>直前の並びから次を考える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783080"/>
            <a:ext cx="5074920" cy="512064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400" b="1">
                <a:solidFill>
                  <a:srgbClr val="2F6690"/>
                </a:solidFill>
                <a:latin typeface="Yu Gothic"/>
              </a:rPr>
              <a:t>第2回 Self-Attention</a:t>
            </a:r>
          </a:p>
          <a:p>
            <a:pPr algn="l"/>
            <a:r>
              <a:rPr sz="1100">
                <a:solidFill>
                  <a:srgbClr val="526279"/>
                </a:solidFill>
                <a:latin typeface="Yu Gothic"/>
              </a:rPr>
              <a:t>文全体のどこを見るかを重みで見る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496312"/>
            <a:ext cx="5074920" cy="512064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400" b="1">
                <a:solidFill>
                  <a:srgbClr val="2F6690"/>
                </a:solidFill>
                <a:latin typeface="Yu Gothic"/>
              </a:rPr>
              <a:t>第3回 Embedding</a:t>
            </a:r>
          </a:p>
          <a:p>
            <a:pPr algn="l"/>
            <a:r>
              <a:rPr sz="1100">
                <a:solidFill>
                  <a:srgbClr val="526279"/>
                </a:solidFill>
                <a:latin typeface="Yu Gothic"/>
              </a:rPr>
              <a:t>tokenを数値ベクトルにする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496312"/>
            <a:ext cx="5074920" cy="512064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400" b="1">
                <a:solidFill>
                  <a:srgbClr val="2F6690"/>
                </a:solidFill>
                <a:latin typeface="Yu Gothic"/>
              </a:rPr>
              <a:t>第4回 Positional Encoding</a:t>
            </a:r>
          </a:p>
          <a:p>
            <a:pPr algn="l"/>
            <a:r>
              <a:rPr sz="1100">
                <a:solidFill>
                  <a:srgbClr val="526279"/>
                </a:solidFill>
                <a:latin typeface="Yu Gothic"/>
              </a:rPr>
              <a:t>tokenの順番を数値で足す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209544"/>
            <a:ext cx="5074920" cy="512064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400" b="1">
                <a:solidFill>
                  <a:srgbClr val="2F6690"/>
                </a:solidFill>
                <a:latin typeface="Yu Gothic"/>
              </a:rPr>
              <a:t>第5回 Multi-Head Attention</a:t>
            </a:r>
          </a:p>
          <a:p>
            <a:pPr algn="l"/>
            <a:r>
              <a:rPr sz="1100">
                <a:solidFill>
                  <a:srgbClr val="526279"/>
                </a:solidFill>
                <a:latin typeface="Yu Gothic"/>
              </a:rPr>
              <a:t>複数の見方を同時に走らせる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209544"/>
            <a:ext cx="5074920" cy="512064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400" b="1">
                <a:solidFill>
                  <a:srgbClr val="2F6690"/>
                </a:solidFill>
                <a:latin typeface="Yu Gothic"/>
              </a:rPr>
              <a:t>第6回 Transformer Block</a:t>
            </a:r>
          </a:p>
          <a:p>
            <a:pPr algn="l"/>
            <a:r>
              <a:rPr sz="1100">
                <a:solidFill>
                  <a:srgbClr val="526279"/>
                </a:solidFill>
                <a:latin typeface="Yu Gothic"/>
              </a:rPr>
              <a:t>AttentionとFFNをつなぐ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922776"/>
            <a:ext cx="5074920" cy="512064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400" b="1">
                <a:solidFill>
                  <a:srgbClr val="2F6690"/>
                </a:solidFill>
                <a:latin typeface="Yu Gothic"/>
              </a:rPr>
              <a:t>第7回 Softmaxと生成</a:t>
            </a:r>
          </a:p>
          <a:p>
            <a:pPr algn="l"/>
            <a:r>
              <a:rPr sz="1100">
                <a:solidFill>
                  <a:srgbClr val="526279"/>
                </a:solidFill>
                <a:latin typeface="Yu Gothic"/>
              </a:rPr>
              <a:t>確率から次tokenを選ぶ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922776"/>
            <a:ext cx="5074920" cy="512064"/>
          </a:xfrm>
          <a:prstGeom prst="roundRect">
            <a:avLst/>
          </a:prstGeom>
          <a:solidFill>
            <a:srgbClr val="EBF8F1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400" b="1">
                <a:solidFill>
                  <a:srgbClr val="266E4F"/>
                </a:solidFill>
                <a:latin typeface="Yu Gothic"/>
              </a:rPr>
              <a:t>第8回 Lossと学習</a:t>
            </a:r>
          </a:p>
          <a:p>
            <a:pPr algn="l"/>
            <a:r>
              <a:rPr sz="1100">
                <a:solidFill>
                  <a:srgbClr val="526279"/>
                </a:solidFill>
                <a:latin typeface="Yu Gothic"/>
              </a:rPr>
              <a:t>予測のズレを数値にする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636008"/>
            <a:ext cx="5074920" cy="512064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400" b="1">
                <a:solidFill>
                  <a:srgbClr val="2F6690"/>
                </a:solidFill>
                <a:latin typeface="Yu Gothic"/>
              </a:rPr>
              <a:t>第9回 Backpropagation</a:t>
            </a:r>
          </a:p>
          <a:p>
            <a:pPr algn="l"/>
            <a:r>
              <a:rPr sz="1100">
                <a:solidFill>
                  <a:srgbClr val="526279"/>
                </a:solidFill>
                <a:latin typeface="Yu Gothic"/>
              </a:rPr>
              <a:t>ズレを重みに戻す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636008"/>
            <a:ext cx="5074920" cy="512064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400" b="1">
                <a:solidFill>
                  <a:srgbClr val="2F6690"/>
                </a:solidFill>
                <a:latin typeface="Yu Gothic"/>
              </a:rPr>
              <a:t>第10回 RAG</a:t>
            </a:r>
          </a:p>
          <a:p>
            <a:pPr algn="l"/>
            <a:r>
              <a:rPr sz="1100">
                <a:solidFill>
                  <a:srgbClr val="526279"/>
                </a:solidFill>
                <a:latin typeface="Yu Gothic"/>
              </a:rPr>
              <a:t>外部情報を参照して答える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5559552"/>
            <a:ext cx="9875520" cy="594360"/>
          </a:xfrm>
          <a:prstGeom prst="roundRect">
            <a:avLst/>
          </a:prstGeom>
          <a:solidFill>
            <a:srgbClr val="EBF8F1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400" b="1">
                <a:solidFill>
                  <a:srgbClr val="266E4F"/>
                </a:solidFill>
                <a:latin typeface="Yu Gothic"/>
              </a:rPr>
              <a:t>第8回の到達点</a:t>
            </a:r>
          </a:p>
          <a:p>
            <a:pPr algn="l"/>
            <a:r>
              <a:rPr sz="1100">
                <a:solidFill>
                  <a:srgbClr val="526279"/>
                </a:solidFill>
                <a:latin typeface="Yu Gothic"/>
              </a:rPr>
              <a:t>target_probability、Loss、gradient、learning_rateを、同じ候補表の変化として読みます。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664208" cy="310896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900" b="1">
                <a:solidFill>
                  <a:srgbClr val="2F6690"/>
                </a:solidFill>
                <a:latin typeface="Yu Gothic"/>
              </a:rPr>
              <a:t>GOAL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12280" y="6473952"/>
            <a:ext cx="4983480" cy="201168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r"/>
            <a:r>
              <a:rPr sz="850" b="0">
                <a:solidFill>
                  <a:srgbClr val="526279"/>
                </a:solidFill>
                <a:latin typeface="Yu Gothic"/>
              </a:rPr>
              <a:t>Excelで体験する言語モデルのしくみ | 第8回 |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881360" cy="566928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l"/>
            <a:r>
              <a:rPr sz="2300" b="1">
                <a:solidFill>
                  <a:srgbClr val="1F2A44"/>
                </a:solidFill>
                <a:latin typeface="Yu Gothic"/>
              </a:rPr>
              <a:t>今日のゴール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53312"/>
            <a:ext cx="10515600" cy="320040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l"/>
            <a:r>
              <a:rPr sz="1400" b="0">
                <a:solidFill>
                  <a:srgbClr val="526279"/>
                </a:solidFill>
                <a:latin typeface="Yu Gothic"/>
              </a:rPr>
              <a:t>正解tokenの確率が低いほどLossが大きくなることを、Excelの表で確認します。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011680"/>
            <a:ext cx="4663440" cy="1143000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400" b="1">
                <a:solidFill>
                  <a:srgbClr val="2F6690"/>
                </a:solidFill>
                <a:latin typeface="Yu Gothic"/>
              </a:rPr>
              <a:t>できるようになること</a:t>
            </a:r>
          </a:p>
          <a:p>
            <a:pPr algn="l"/>
            <a:r>
              <a:rPr sz="1100">
                <a:solidFill>
                  <a:srgbClr val="526279"/>
                </a:solidFill>
                <a:latin typeface="Yu Gothic"/>
              </a:rPr>
              <a:t>target_probability、Loss、gradient、learning_rateを、同じ候補表の変化として読みます。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2011680"/>
            <a:ext cx="4663440" cy="1143000"/>
          </a:xfrm>
          <a:prstGeom prst="roundRect">
            <a:avLst/>
          </a:prstGeom>
          <a:solidFill>
            <a:srgbClr val="EBF8F1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400" b="1">
                <a:solidFill>
                  <a:srgbClr val="266E4F"/>
                </a:solidFill>
                <a:latin typeface="Yu Gothic"/>
              </a:rPr>
              <a:t>Excelで見るもの</a:t>
            </a:r>
          </a:p>
          <a:p>
            <a:pPr algn="l"/>
            <a:r>
              <a:rPr sz="1100">
                <a:solidFill>
                  <a:srgbClr val="526279"/>
                </a:solidFill>
                <a:latin typeface="Yu Gothic"/>
              </a:rPr>
              <a:t>入力、設定、返るDataFrameを対応づけます。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800600"/>
            <a:ext cx="9966960" cy="685800"/>
          </a:xfrm>
          <a:prstGeom prst="roundRect">
            <a:avLst/>
          </a:prstGeom>
          <a:solidFill>
            <a:srgbClr val="FFF6CC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400" b="1">
                <a:solidFill>
                  <a:srgbClr val="8E5B1C"/>
                </a:solidFill>
                <a:latin typeface="Yu Gothic"/>
              </a:rPr>
              <a:t>Excelで確認</a:t>
            </a:r>
          </a:p>
          <a:p>
            <a:pPr algn="l"/>
            <a:r>
              <a:rPr sz="1100">
                <a:solidFill>
                  <a:srgbClr val="526279"/>
                </a:solidFill>
                <a:latin typeface="Yu Gothic"/>
              </a:rPr>
              <a:t>入力値を変え、返る表の変化として確認します。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664208" cy="310896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900" b="1">
                <a:solidFill>
                  <a:srgbClr val="2F6690"/>
                </a:solidFill>
                <a:latin typeface="Yu Gothic"/>
              </a:rPr>
              <a:t>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12280" y="6473952"/>
            <a:ext cx="4983480" cy="201168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r"/>
            <a:r>
              <a:rPr sz="850" b="0">
                <a:solidFill>
                  <a:srgbClr val="526279"/>
                </a:solidFill>
                <a:latin typeface="Yu Gothic"/>
              </a:rPr>
              <a:t>Excelで体験する言語モデルのしくみ | 第8回 |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881360" cy="566928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l"/>
            <a:r>
              <a:rPr sz="2300" b="1">
                <a:solidFill>
                  <a:srgbClr val="1F2A44"/>
                </a:solidFill>
                <a:latin typeface="Yu Gothic"/>
              </a:rPr>
              <a:t>Lossと学習 の考え方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53312"/>
            <a:ext cx="10515600" cy="320040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l"/>
            <a:r>
              <a:rPr sz="1400" b="0">
                <a:solidFill>
                  <a:srgbClr val="526279"/>
                </a:solidFill>
                <a:latin typeface="Yu Gothic"/>
              </a:rPr>
              <a:t>生成結果を、学習のための信号へ変える入口です。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011680"/>
            <a:ext cx="4663440" cy="1143000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400" b="1">
                <a:solidFill>
                  <a:srgbClr val="2F6690"/>
                </a:solidFill>
                <a:latin typeface="Yu Gothic"/>
              </a:rPr>
              <a:t>見ること</a:t>
            </a:r>
          </a:p>
          <a:p>
            <a:pPr algn="l"/>
            <a:r>
              <a:rPr sz="1100">
                <a:solidFill>
                  <a:srgbClr val="526279"/>
                </a:solidFill>
                <a:latin typeface="Yu Gothic"/>
              </a:rPr>
              <a:t>正解tokenの確率が低いほどLossが大きくなることを、Excelの表で確認します。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2011680"/>
            <a:ext cx="4663440" cy="1143000"/>
          </a:xfrm>
          <a:prstGeom prst="roundRect">
            <a:avLst/>
          </a:prstGeom>
          <a:solidFill>
            <a:srgbClr val="EBF8F1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400" b="1">
                <a:solidFill>
                  <a:srgbClr val="266E4F"/>
                </a:solidFill>
                <a:latin typeface="Yu Gothic"/>
              </a:rPr>
              <a:t>ポイント</a:t>
            </a:r>
          </a:p>
          <a:p>
            <a:pPr algn="l"/>
            <a:r>
              <a:rPr sz="1100">
                <a:solidFill>
                  <a:srgbClr val="526279"/>
                </a:solidFill>
                <a:latin typeface="Yu Gothic"/>
              </a:rPr>
              <a:t>target_probability、Loss、gradient、learning_rateを、同じ候補表の変化として読みます。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800600"/>
            <a:ext cx="9966960" cy="685800"/>
          </a:xfrm>
          <a:prstGeom prst="roundRect">
            <a:avLst/>
          </a:prstGeom>
          <a:solidFill>
            <a:srgbClr val="FFF6CC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400" b="1">
                <a:solidFill>
                  <a:srgbClr val="8E5B1C"/>
                </a:solidFill>
                <a:latin typeface="Yu Gothic"/>
              </a:rPr>
              <a:t>Excelで確認</a:t>
            </a:r>
          </a:p>
          <a:p>
            <a:pPr algn="l"/>
            <a:r>
              <a:rPr sz="1100">
                <a:solidFill>
                  <a:srgbClr val="526279"/>
                </a:solidFill>
                <a:latin typeface="Yu Gothic"/>
              </a:rPr>
              <a:t>入力値を変え、返る表の変化として確認します。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664208" cy="310896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900" b="1">
                <a:solidFill>
                  <a:srgbClr val="2F6690"/>
                </a:solidFill>
                <a:latin typeface="Yu Gothic"/>
              </a:rPr>
              <a:t>DEMO ASSET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12280" y="6473952"/>
            <a:ext cx="4983480" cy="201168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r"/>
            <a:r>
              <a:rPr sz="850" b="0">
                <a:solidFill>
                  <a:srgbClr val="526279"/>
                </a:solidFill>
                <a:latin typeface="Yu Gothic"/>
              </a:rPr>
              <a:t>Excelで体験する言語モデルのしくみ | 第8回 |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881360" cy="566928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l"/>
            <a:r>
              <a:rPr sz="2300" b="1">
                <a:solidFill>
                  <a:srgbClr val="1F2A44"/>
                </a:solidFill>
                <a:latin typeface="Yu Gothic"/>
              </a:rPr>
              <a:t>Excelで作ったもの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53312"/>
            <a:ext cx="10515600" cy="320040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l"/>
            <a:r>
              <a:rPr sz="1400" b="0">
                <a:solidFill>
                  <a:srgbClr val="526279"/>
                </a:solidFill>
                <a:latin typeface="Yu Gothic"/>
              </a:rPr>
              <a:t>デモ一式はGitHubの各回フォルダから取得できます。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920240"/>
            <a:ext cx="4663440" cy="868680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400" b="1">
                <a:solidFill>
                  <a:srgbClr val="2F6690"/>
                </a:solidFill>
                <a:latin typeface="Yu Gothic"/>
              </a:rPr>
              <a:t>01_INPUT</a:t>
            </a:r>
          </a:p>
          <a:p>
            <a:pPr algn="l"/>
            <a:r>
              <a:rPr sz="1100">
                <a:solidFill>
                  <a:srgbClr val="526279"/>
                </a:solidFill>
                <a:latin typeface="Yu Gothic"/>
              </a:rPr>
              <a:t>target_tokenとlearning_rateを設定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920240"/>
            <a:ext cx="4663440" cy="868680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400" b="1">
                <a:solidFill>
                  <a:srgbClr val="2F6690"/>
                </a:solidFill>
                <a:latin typeface="Yu Gothic"/>
              </a:rPr>
              <a:t>02_PROBABILITY</a:t>
            </a:r>
          </a:p>
          <a:p>
            <a:pPr algn="l"/>
            <a:r>
              <a:rPr sz="1100">
                <a:solidFill>
                  <a:srgbClr val="526279"/>
                </a:solidFill>
                <a:latin typeface="Yu Gothic"/>
              </a:rPr>
              <a:t>候補tokenごとの確率を確認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090672"/>
            <a:ext cx="4663440" cy="868680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400" b="1">
                <a:solidFill>
                  <a:srgbClr val="2F6690"/>
                </a:solidFill>
                <a:latin typeface="Yu Gothic"/>
              </a:rPr>
              <a:t>03_LOSS</a:t>
            </a:r>
          </a:p>
          <a:p>
            <a:pPr algn="l"/>
            <a:r>
              <a:rPr sz="1100">
                <a:solidFill>
                  <a:srgbClr val="526279"/>
                </a:solidFill>
                <a:latin typeface="Yu Gothic"/>
              </a:rPr>
              <a:t>正解確率からLossを計算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3090672"/>
            <a:ext cx="4663440" cy="868680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400" b="1">
                <a:solidFill>
                  <a:srgbClr val="2F6690"/>
                </a:solidFill>
                <a:latin typeface="Yu Gothic"/>
              </a:rPr>
              <a:t>04_UPDATE</a:t>
            </a:r>
          </a:p>
          <a:p>
            <a:pPr algn="l"/>
            <a:r>
              <a:rPr sz="1100">
                <a:solidFill>
                  <a:srgbClr val="526279"/>
                </a:solidFill>
                <a:latin typeface="Yu Gothic"/>
              </a:rPr>
              <a:t>gradientと更新方向を見る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5349240"/>
            <a:ext cx="9966960" cy="502920"/>
          </a:xfrm>
          <a:prstGeom prst="roundRect">
            <a:avLst/>
          </a:prstGeom>
          <a:solidFill>
            <a:srgbClr val="EBF8F1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400" b="1">
                <a:solidFill>
                  <a:srgbClr val="266E4F"/>
                </a:solidFill>
                <a:latin typeface="Yu Gothic"/>
              </a:rPr>
              <a:t>確認</a:t>
            </a:r>
          </a:p>
          <a:p>
            <a:pPr algn="l"/>
            <a:r>
              <a:rPr sz="1100">
                <a:solidFill>
                  <a:srgbClr val="526279"/>
                </a:solidFill>
                <a:latin typeface="Yu Gothic"/>
              </a:rPr>
              <a:t>ExcelをUIとして使い、入力・設定と返る表の対応を確認します。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5998464"/>
            <a:ext cx="10652760" cy="310896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l"/>
            <a:r>
              <a:rPr sz="900" b="0">
                <a:solidFill>
                  <a:srgbClr val="526279"/>
                </a:solidFill>
                <a:latin typeface="Yu Gothic"/>
              </a:rPr>
              <a:t>デモ一式: https://github.com/KanameShiga-dev/excel-python-mini-llm-demo/tree/main/第8回_Loss_Learning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40080" y="566928"/>
            <a:ext cx="10789920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300" b="1">
                <a:solidFill>
                  <a:srgbClr val="24324B"/>
                </a:solidFill>
                <a:latin typeface="Yu Gothic"/>
              </a:rPr>
              <a:t>最初に正解tokenとlearning_rateを確認します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15568"/>
            <a:ext cx="10607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00" b="0">
                <a:solidFill>
                  <a:srgbClr val="475569"/>
                </a:solidFill>
                <a:latin typeface="Yu Gothic"/>
              </a:rPr>
              <a:t>targetがどの候補か、更新量をどの程度にするかを見ます。</a:t>
            </a:r>
          </a:p>
        </p:txBody>
      </p:sp>
      <p:pic>
        <p:nvPicPr>
          <p:cNvPr id="6" name="Picture 5" descr="01_INPUT_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664208"/>
            <a:ext cx="6903720" cy="320529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001000" y="1828800"/>
            <a:ext cx="32918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/>
          <a:lstStyle/>
          <a:p>
            <a:pPr algn="ctr"/>
            <a:r>
              <a:rPr b="1" sz="1400">
                <a:solidFill>
                  <a:srgbClr val="2F6690"/>
                </a:solidFill>
                <a:latin typeface="Yu Gothic"/>
              </a:rPr>
              <a:t>見る表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24324B"/>
                </a:solidFill>
                <a:latin typeface="Yu Gothic"/>
              </a:rPr>
              <a:t>candidate / logit / target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01000" y="3035808"/>
            <a:ext cx="32918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/>
          <a:lstStyle/>
          <a:p>
            <a:pPr algn="ctr"/>
            <a:r>
              <a:rPr b="1" sz="1400">
                <a:solidFill>
                  <a:srgbClr val="2F6690"/>
                </a:solidFill>
                <a:latin typeface="Yu Gothic"/>
              </a:rPr>
              <a:t>変えるもの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24324B"/>
                </a:solidFill>
                <a:latin typeface="Yu Gothic"/>
              </a:rPr>
              <a:t>target_token / learning_rate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01000" y="4242816"/>
            <a:ext cx="3291840" cy="960120"/>
          </a:xfrm>
          <a:prstGeom prst="roundRect">
            <a:avLst/>
          </a:prstGeom>
          <a:solidFill>
            <a:srgbClr val="EEF8F1"/>
          </a:solidFill>
          <a:ln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/>
          <a:lstStyle/>
          <a:p>
            <a:pPr algn="ctr"/>
            <a:r>
              <a:rPr b="1" sz="1400">
                <a:solidFill>
                  <a:srgbClr val="276749"/>
                </a:solidFill>
                <a:latin typeface="Yu Gothic"/>
              </a:rPr>
              <a:t>見える変化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24324B"/>
                </a:solidFill>
                <a:latin typeface="Yu Gothic"/>
              </a:rPr>
              <a:t>Lossと更新後確率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92608"/>
            <a:ext cx="1664208" cy="310896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2F6690"/>
                </a:solidFill>
                <a:latin typeface="Yu Gothic"/>
              </a:rPr>
              <a:t>INPUT SHEET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2280" y="6473952"/>
            <a:ext cx="49834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Yu Gothic"/>
              </a:rPr>
              <a:t>Excelで体験する言語モデルのしくみ | 第8回 |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40080" y="566928"/>
            <a:ext cx="10789920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300" b="1">
                <a:solidFill>
                  <a:srgbClr val="24324B"/>
                </a:solidFill>
                <a:latin typeface="Yu Gothic"/>
              </a:rPr>
              <a:t>Excelでは入力値と返すDataFrameを切り替えます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15568"/>
            <a:ext cx="10607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00" b="0">
                <a:solidFill>
                  <a:srgbClr val="475569"/>
                </a:solidFill>
                <a:latin typeface="Yu Gothic"/>
              </a:rPr>
              <a:t>場所ごとに、確認する値と見える変化を分けます。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737360"/>
          <a:ext cx="1088136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4114800"/>
                <a:gridCol w="4297680"/>
              </a:tblGrid>
              <a:tr h="594360">
                <a:tc>
                  <a:txBody>
                    <a:bodyPr/>
                    <a:lstStyle/>
                    <a:p>
                      <a:r>
                        <a:rPr b="1" sz="950">
                          <a:solidFill>
                            <a:srgbClr val="FFFFFF"/>
                          </a:solidFill>
                          <a:latin typeface="Yu Gothic"/>
                        </a:rPr>
                        <a:t>場所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950">
                          <a:solidFill>
                            <a:srgbClr val="FFFFFF"/>
                          </a:solidFill>
                          <a:latin typeface="Yu Gothic"/>
                        </a:rPr>
                        <a:t>変更・確認するもの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950">
                          <a:solidFill>
                            <a:srgbClr val="FFFFFF"/>
                          </a:solidFill>
                          <a:latin typeface="Yu Gothic"/>
                        </a:rPr>
                        <a:t>見える変化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4324B"/>
                          </a:solidFill>
                          <a:latin typeface="Yu Gothic"/>
                        </a:rPr>
                        <a:t>01_INPUT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4324B"/>
                          </a:solidFill>
                          <a:latin typeface="Yu Gothic"/>
                        </a:rPr>
                        <a:t>target_token、learning_rate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4324B"/>
                          </a:solidFill>
                          <a:latin typeface="Yu Gothic"/>
                        </a:rPr>
                        <a:t>計算入口を確認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4324B"/>
                          </a:solidFill>
                          <a:latin typeface="Yu Gothic"/>
                        </a:rPr>
                        <a:t>02_PROB_LOSS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4324B"/>
                          </a:solidFill>
                          <a:latin typeface="Yu Gothic"/>
                        </a:rPr>
                        <a:t>probability、target_loss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4324B"/>
                          </a:solidFill>
                          <a:latin typeface="Yu Gothic"/>
                        </a:rPr>
                        <a:t>Lossを見る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4324B"/>
                          </a:solidFill>
                          <a:latin typeface="Yu Gothic"/>
                        </a:rPr>
                        <a:t>03_TARGET_GRADIENT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4324B"/>
                          </a:solidFill>
                          <a:latin typeface="Yu Gothic"/>
                        </a:rPr>
                        <a:t>gradient、logit_delta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4324B"/>
                          </a:solidFill>
                          <a:latin typeface="Yu Gothic"/>
                        </a:rPr>
                        <a:t>更新方向を見る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4324B"/>
                          </a:solidFill>
                          <a:latin typeface="Yu Gothic"/>
                        </a:rPr>
                        <a:t>04_LEARNING_STEP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4324B"/>
                          </a:solidFill>
                          <a:latin typeface="Yu Gothic"/>
                        </a:rPr>
                        <a:t>更新前後の確率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4324B"/>
                          </a:solidFill>
                          <a:latin typeface="Yu Gothic"/>
                        </a:rPr>
                        <a:t>Loss低下を確認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4324B"/>
                          </a:solidFill>
                          <a:latin typeface="Yu Gothic"/>
                        </a:rPr>
                        <a:t>05_TRAINING_TRACE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4324B"/>
                          </a:solidFill>
                          <a:latin typeface="Yu Gothic"/>
                        </a:rPr>
                        <a:t>stepごとのloss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4324B"/>
                          </a:solidFill>
                          <a:latin typeface="Yu Gothic"/>
                        </a:rPr>
                        <a:t>繰り返しの変化を見る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4324B"/>
                          </a:solidFill>
                          <a:latin typeface="Yu Gothic"/>
                        </a:rPr>
                        <a:t>コード末尾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4324B"/>
                          </a:solidFill>
                          <a:latin typeface="Yu Gothic"/>
                        </a:rPr>
                        <a:t>result_df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4324B"/>
                          </a:solidFill>
                          <a:latin typeface="Yu Gothic"/>
                        </a:rPr>
                        <a:t>返す表を切り替える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02920" y="292608"/>
            <a:ext cx="1664208" cy="310896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2F6690"/>
                </a:solidFill>
                <a:latin typeface="Yu Gothic"/>
              </a:rPr>
              <a:t>EXCEL 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12280" y="6473952"/>
            <a:ext cx="49834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Yu Gothic"/>
              </a:rPr>
              <a:t>Excelで体験する言語モデルのしくみ | 第8回 |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664208" cy="310896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900" b="1">
                <a:solidFill>
                  <a:srgbClr val="2F6690"/>
                </a:solidFill>
                <a:latin typeface="Yu Gothic"/>
              </a:rPr>
              <a:t>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12280" y="6473952"/>
            <a:ext cx="4983480" cy="201168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r"/>
            <a:r>
              <a:rPr sz="850" b="0">
                <a:solidFill>
                  <a:srgbClr val="526279"/>
                </a:solidFill>
                <a:latin typeface="Yu Gothic"/>
              </a:rPr>
              <a:t>Excelで体験する言語モデルのしくみ | 第8回 |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881360" cy="566928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l"/>
            <a:r>
              <a:rPr sz="2300" b="1">
                <a:solidFill>
                  <a:srgbClr val="1F2A44"/>
                </a:solidFill>
                <a:latin typeface="Yu Gothic"/>
              </a:rPr>
              <a:t>処理の流れを左から右へ読む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53312"/>
            <a:ext cx="10515600" cy="320040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l"/>
            <a:r>
              <a:rPr sz="1400" b="0">
                <a:solidFill>
                  <a:srgbClr val="526279"/>
                </a:solidFill>
                <a:latin typeface="Yu Gothic"/>
              </a:rPr>
              <a:t>生成結果を、学習のための信号へ変える入口です。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31720"/>
            <a:ext cx="1691640" cy="822960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400" b="1">
                <a:solidFill>
                  <a:srgbClr val="2F6690"/>
                </a:solidFill>
                <a:latin typeface="Yu Gothic"/>
              </a:rPr>
              <a:t>logit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24912" y="2331720"/>
            <a:ext cx="1691640" cy="822960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400" b="1">
                <a:solidFill>
                  <a:srgbClr val="2F6690"/>
                </a:solidFill>
                <a:latin typeface="Yu Gothic"/>
              </a:rPr>
              <a:t>softmax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09744" y="2331720"/>
            <a:ext cx="1691640" cy="822960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400" b="1">
                <a:solidFill>
                  <a:srgbClr val="2F6690"/>
                </a:solidFill>
                <a:latin typeface="Yu Gothic"/>
              </a:rPr>
              <a:t>target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94576" y="2331720"/>
            <a:ext cx="1691640" cy="822960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400" b="1">
                <a:solidFill>
                  <a:srgbClr val="2F6690"/>
                </a:solidFill>
                <a:latin typeface="Yu Gothic"/>
              </a:rPr>
              <a:t>Loss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79408" y="2331720"/>
            <a:ext cx="1691640" cy="822960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400" b="1">
                <a:solidFill>
                  <a:srgbClr val="2F6690"/>
                </a:solidFill>
                <a:latin typeface="Yu Gothic"/>
              </a:rPr>
              <a:t>gradient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434840"/>
            <a:ext cx="9966960" cy="822960"/>
          </a:xfrm>
          <a:prstGeom prst="roundRect">
            <a:avLst/>
          </a:prstGeom>
          <a:solidFill>
            <a:srgbClr val="EBF8F1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400" b="1">
                <a:solidFill>
                  <a:srgbClr val="266E4F"/>
                </a:solidFill>
                <a:latin typeface="Yu Gothic"/>
              </a:rPr>
              <a:t>見るポイント</a:t>
            </a:r>
          </a:p>
          <a:p>
            <a:pPr algn="l"/>
            <a:r>
              <a:rPr sz="1100">
                <a:solidFill>
                  <a:srgbClr val="526279"/>
                </a:solidFill>
                <a:latin typeface="Yu Gothic"/>
              </a:rPr>
              <a:t>target_probability、Loss、gradient、learning_rateを、同じ候補表の変化として読みます。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664208" cy="310896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900" b="1">
                <a:solidFill>
                  <a:srgbClr val="2F6690"/>
                </a:solidFill>
                <a:latin typeface="Yu Gothic"/>
              </a:rPr>
              <a:t>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12280" y="6473952"/>
            <a:ext cx="4983480" cy="201168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r"/>
            <a:r>
              <a:rPr sz="850" b="0">
                <a:solidFill>
                  <a:srgbClr val="526279"/>
                </a:solidFill>
                <a:latin typeface="Yu Gothic"/>
              </a:rPr>
              <a:t>Excelで体験する言語モデルのしくみ | 第8回 |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881360" cy="566928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l"/>
            <a:r>
              <a:rPr sz="2300" b="1">
                <a:solidFill>
                  <a:srgbClr val="1F2A44"/>
                </a:solidFill>
                <a:latin typeface="Yu Gothic"/>
              </a:rPr>
              <a:t>データとして見るもの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53312"/>
            <a:ext cx="10515600" cy="320040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l"/>
            <a:r>
              <a:rPr sz="1400" b="0">
                <a:solidFill>
                  <a:srgbClr val="526279"/>
                </a:solidFill>
                <a:latin typeface="Yu Gothic"/>
              </a:rPr>
              <a:t>表の行と列を、計算段階と対応づけます。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920240"/>
            <a:ext cx="4663440" cy="868680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400" b="1">
                <a:solidFill>
                  <a:srgbClr val="2F6690"/>
                </a:solidFill>
                <a:latin typeface="Yu Gothic"/>
              </a:rPr>
              <a:t>candidate</a:t>
            </a:r>
          </a:p>
          <a:p>
            <a:pPr algn="l"/>
            <a:r>
              <a:rPr sz="1100">
                <a:solidFill>
                  <a:srgbClr val="526279"/>
                </a:solidFill>
                <a:latin typeface="Yu Gothic"/>
              </a:rPr>
              <a:t>候補token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920240"/>
            <a:ext cx="4663440" cy="868680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400" b="1">
                <a:solidFill>
                  <a:srgbClr val="2F6690"/>
                </a:solidFill>
                <a:latin typeface="Yu Gothic"/>
              </a:rPr>
              <a:t>probability</a:t>
            </a:r>
          </a:p>
          <a:p>
            <a:pPr algn="l"/>
            <a:r>
              <a:rPr sz="1100">
                <a:solidFill>
                  <a:srgbClr val="526279"/>
                </a:solidFill>
                <a:latin typeface="Yu Gothic"/>
              </a:rPr>
              <a:t>softmax後の確率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090672"/>
            <a:ext cx="4663440" cy="868680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400" b="1">
                <a:solidFill>
                  <a:srgbClr val="2F6690"/>
                </a:solidFill>
                <a:latin typeface="Yu Gothic"/>
              </a:rPr>
              <a:t>target_probability</a:t>
            </a:r>
          </a:p>
          <a:p>
            <a:pPr algn="l"/>
            <a:r>
              <a:rPr sz="1100">
                <a:solidFill>
                  <a:srgbClr val="526279"/>
                </a:solidFill>
                <a:latin typeface="Yu Gothic"/>
              </a:rPr>
              <a:t>正解tokenの確率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3090672"/>
            <a:ext cx="4663440" cy="868680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400" b="1">
                <a:solidFill>
                  <a:srgbClr val="2F6690"/>
                </a:solidFill>
                <a:latin typeface="Yu Gothic"/>
              </a:rPr>
              <a:t>gradient</a:t>
            </a:r>
          </a:p>
          <a:p>
            <a:pPr algn="l"/>
            <a:r>
              <a:rPr sz="1100">
                <a:solidFill>
                  <a:srgbClr val="526279"/>
                </a:solidFill>
                <a:latin typeface="Yu Gothic"/>
              </a:rPr>
              <a:t>logitを動かす方向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5349240"/>
            <a:ext cx="9966960" cy="502920"/>
          </a:xfrm>
          <a:prstGeom prst="roundRect">
            <a:avLst/>
          </a:prstGeom>
          <a:solidFill>
            <a:srgbClr val="EBF8F1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400" b="1">
                <a:solidFill>
                  <a:srgbClr val="266E4F"/>
                </a:solidFill>
                <a:latin typeface="Yu Gothic"/>
              </a:rPr>
              <a:t>確認</a:t>
            </a:r>
          </a:p>
          <a:p>
            <a:pPr algn="l"/>
            <a:r>
              <a:rPr sz="1100">
                <a:solidFill>
                  <a:srgbClr val="526279"/>
                </a:solidFill>
                <a:latin typeface="Yu Gothic"/>
              </a:rPr>
              <a:t>ExcelをUIとして使い、入力・設定と返る表の対応を確認します。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664208" cy="310896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900" b="1">
                <a:solidFill>
                  <a:srgbClr val="2F6690"/>
                </a:solidFill>
                <a:latin typeface="Yu Gothic"/>
              </a:rPr>
              <a:t>RUNBOOK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12280" y="6473952"/>
            <a:ext cx="4983480" cy="201168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r"/>
            <a:r>
              <a:rPr sz="850" b="0">
                <a:solidFill>
                  <a:srgbClr val="526279"/>
                </a:solidFill>
                <a:latin typeface="Yu Gothic"/>
              </a:rPr>
              <a:t>Excelで体験する言語モデルのしくみ | 第8回 |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881360" cy="566928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l"/>
            <a:r>
              <a:rPr sz="2300" b="1">
                <a:solidFill>
                  <a:srgbClr val="1F2A44"/>
                </a:solidFill>
                <a:latin typeface="Yu Gothic"/>
              </a:rPr>
              <a:t>Python in Excel 実行手順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53312"/>
            <a:ext cx="10515600" cy="320040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l"/>
            <a:r>
              <a:rPr sz="1400" b="0">
                <a:solidFill>
                  <a:srgbClr val="526279"/>
                </a:solidFill>
                <a:latin typeface="Yu Gothic"/>
              </a:rPr>
              <a:t>RUNBOOKは実行手順だけに絞ります。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011680"/>
            <a:ext cx="4663440" cy="1143000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400" b="1">
                <a:solidFill>
                  <a:srgbClr val="2F6690"/>
                </a:solidFill>
                <a:latin typeface="Yu Gothic"/>
              </a:rPr>
              <a:t>操作</a:t>
            </a:r>
          </a:p>
          <a:p>
            <a:pPr algn="l"/>
            <a:r>
              <a:rPr sz="1100">
                <a:solidFill>
                  <a:srgbClr val="526279"/>
                </a:solidFill>
                <a:latin typeface="Yu Gothic"/>
              </a:rPr>
              <a:t>外部 .py をPython in Excelへ貼り付け、Ctrl + Enterで実行します。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2011680"/>
            <a:ext cx="4663440" cy="1143000"/>
          </a:xfrm>
          <a:prstGeom prst="roundRect">
            <a:avLst/>
          </a:prstGeom>
          <a:solidFill>
            <a:srgbClr val="EBF8F1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400" b="1">
                <a:solidFill>
                  <a:srgbClr val="266E4F"/>
                </a:solidFill>
                <a:latin typeface="Yu Gothic"/>
              </a:rPr>
              <a:t>確認</a:t>
            </a:r>
          </a:p>
          <a:p>
            <a:pPr algn="l"/>
            <a:r>
              <a:rPr sz="1100">
                <a:solidFill>
                  <a:srgbClr val="526279"/>
                </a:solidFill>
                <a:latin typeface="Yu Gothic"/>
              </a:rPr>
              <a:t>実行後、返るDataFrameを切り替えて見ます。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800600"/>
            <a:ext cx="9966960" cy="685800"/>
          </a:xfrm>
          <a:prstGeom prst="roundRect">
            <a:avLst/>
          </a:prstGeom>
          <a:solidFill>
            <a:srgbClr val="FFF6CC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400" b="1">
                <a:solidFill>
                  <a:srgbClr val="8E5B1C"/>
                </a:solidFill>
                <a:latin typeface="Yu Gothic"/>
              </a:rPr>
              <a:t>Excelで確認</a:t>
            </a:r>
          </a:p>
          <a:p>
            <a:pPr algn="l"/>
            <a:r>
              <a:rPr sz="1100">
                <a:solidFill>
                  <a:srgbClr val="526279"/>
                </a:solidFill>
                <a:latin typeface="Yu Gothic"/>
              </a:rPr>
              <a:t>入力値を変え、返る表の変化として確認します。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664208" cy="310896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900" b="1">
                <a:solidFill>
                  <a:srgbClr val="2F6690"/>
                </a:solidFill>
                <a:latin typeface="Yu Gothic"/>
              </a:rPr>
              <a:t>DISPLAY MODES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12280" y="6473952"/>
            <a:ext cx="4983480" cy="201168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r"/>
            <a:r>
              <a:rPr sz="850" b="0">
                <a:solidFill>
                  <a:srgbClr val="526279"/>
                </a:solidFill>
                <a:latin typeface="Yu Gothic"/>
              </a:rPr>
              <a:t>Excelで体験する言語モデルのしくみ | 第8回 |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881360" cy="566928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l"/>
            <a:r>
              <a:rPr sz="2300" b="1">
                <a:solidFill>
                  <a:srgbClr val="1F2A44"/>
                </a:solidFill>
                <a:latin typeface="Yu Gothic"/>
              </a:rPr>
              <a:t>返る表・列・変数の確認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53312"/>
            <a:ext cx="10515600" cy="320040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l"/>
            <a:r>
              <a:rPr sz="1400" b="0">
                <a:solidFill>
                  <a:srgbClr val="526279"/>
                </a:solidFill>
                <a:latin typeface="Yu Gothic"/>
              </a:rPr>
              <a:t>DISPLAY MODESでDataFrameを切り替えます。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920240"/>
            <a:ext cx="4663440" cy="868680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400" b="1">
                <a:solidFill>
                  <a:srgbClr val="2F6690"/>
                </a:solidFill>
                <a:latin typeface="Yu Gothic"/>
              </a:rPr>
              <a:t>probabilities</a:t>
            </a:r>
          </a:p>
          <a:p>
            <a:pPr algn="l"/>
            <a:r>
              <a:rPr sz="1100">
                <a:solidFill>
                  <a:srgbClr val="526279"/>
                </a:solidFill>
                <a:latin typeface="Yu Gothic"/>
              </a:rPr>
              <a:t>候補tokenごとの確率表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920240"/>
            <a:ext cx="4663440" cy="868680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400" b="1">
                <a:solidFill>
                  <a:srgbClr val="2F6690"/>
                </a:solidFill>
                <a:latin typeface="Yu Gothic"/>
              </a:rPr>
              <a:t>loss_summary</a:t>
            </a:r>
          </a:p>
          <a:p>
            <a:pPr algn="l"/>
            <a:r>
              <a:rPr sz="1100">
                <a:solidFill>
                  <a:srgbClr val="526279"/>
                </a:solidFill>
                <a:latin typeface="Yu Gothic"/>
              </a:rPr>
              <a:t>Lossと正解確率の要約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090672"/>
            <a:ext cx="4663440" cy="868680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400" b="1">
                <a:solidFill>
                  <a:srgbClr val="2F6690"/>
                </a:solidFill>
                <a:latin typeface="Yu Gothic"/>
              </a:rPr>
              <a:t>gradient_table</a:t>
            </a:r>
          </a:p>
          <a:p>
            <a:pPr algn="l"/>
            <a:r>
              <a:rPr sz="1100">
                <a:solidFill>
                  <a:srgbClr val="526279"/>
                </a:solidFill>
                <a:latin typeface="Yu Gothic"/>
              </a:rPr>
              <a:t>logit別のgradient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3090672"/>
            <a:ext cx="4663440" cy="868680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400" b="1">
                <a:solidFill>
                  <a:srgbClr val="2F6690"/>
                </a:solidFill>
                <a:latin typeface="Yu Gothic"/>
              </a:rPr>
              <a:t>update_preview</a:t>
            </a:r>
          </a:p>
          <a:p>
            <a:pPr algn="l"/>
            <a:r>
              <a:rPr sz="1100">
                <a:solidFill>
                  <a:srgbClr val="526279"/>
                </a:solidFill>
                <a:latin typeface="Yu Gothic"/>
              </a:rPr>
              <a:t>1 step更新後の見え方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5349240"/>
            <a:ext cx="9966960" cy="502920"/>
          </a:xfrm>
          <a:prstGeom prst="roundRect">
            <a:avLst/>
          </a:prstGeom>
          <a:solidFill>
            <a:srgbClr val="EBF8F1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400" b="1">
                <a:solidFill>
                  <a:srgbClr val="266E4F"/>
                </a:solidFill>
                <a:latin typeface="Yu Gothic"/>
              </a:rPr>
              <a:t>確認</a:t>
            </a:r>
          </a:p>
          <a:p>
            <a:pPr algn="l"/>
            <a:r>
              <a:rPr sz="1100">
                <a:solidFill>
                  <a:srgbClr val="526279"/>
                </a:solidFill>
                <a:latin typeface="Yu Gothic"/>
              </a:rPr>
              <a:t>ExcelをUIとして使い、入力・設定と返る表の対応を確認します。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664208" cy="310896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900" b="1">
                <a:solidFill>
                  <a:srgbClr val="2F6690"/>
                </a:solidFill>
                <a:latin typeface="Yu Gothic"/>
              </a:rPr>
              <a:t>HOW TO READ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12280" y="6473952"/>
            <a:ext cx="4983480" cy="201168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r"/>
            <a:r>
              <a:rPr sz="850" b="0">
                <a:solidFill>
                  <a:srgbClr val="526279"/>
                </a:solidFill>
                <a:latin typeface="Yu Gothic"/>
              </a:rPr>
              <a:t>Excelで体験する言語モデルのしくみ | 第8回 |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881360" cy="566928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l"/>
            <a:r>
              <a:rPr sz="2300" b="1">
                <a:solidFill>
                  <a:srgbClr val="1F2A44"/>
                </a:solidFill>
                <a:latin typeface="Yu Gothic"/>
              </a:rPr>
              <a:t>表の読み方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53312"/>
            <a:ext cx="10515600" cy="320040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l"/>
            <a:r>
              <a:rPr sz="1400" b="0">
                <a:solidFill>
                  <a:srgbClr val="526279"/>
                </a:solidFill>
                <a:latin typeface="Yu Gothic"/>
              </a:rPr>
              <a:t>最初に見る表と列を確認します。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011680"/>
            <a:ext cx="4663440" cy="1143000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400" b="1">
                <a:solidFill>
                  <a:srgbClr val="2F6690"/>
                </a:solidFill>
                <a:latin typeface="Yu Gothic"/>
              </a:rPr>
              <a:t>見る表</a:t>
            </a:r>
          </a:p>
          <a:p>
            <a:pPr algn="l"/>
            <a:r>
              <a:rPr sz="1100">
                <a:solidFill>
                  <a:srgbClr val="526279"/>
                </a:solidFill>
                <a:latin typeface="Yu Gothic"/>
              </a:rPr>
              <a:t>probabilities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2011680"/>
            <a:ext cx="4663440" cy="1143000"/>
          </a:xfrm>
          <a:prstGeom prst="roundRect">
            <a:avLst/>
          </a:prstGeom>
          <a:solidFill>
            <a:srgbClr val="EBF8F1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400" b="1">
                <a:solidFill>
                  <a:srgbClr val="266E4F"/>
                </a:solidFill>
                <a:latin typeface="Yu Gothic"/>
              </a:rPr>
              <a:t>読み方</a:t>
            </a:r>
          </a:p>
          <a:p>
            <a:pPr algn="l"/>
            <a:r>
              <a:rPr sz="1100">
                <a:solidFill>
                  <a:srgbClr val="526279"/>
                </a:solidFill>
                <a:latin typeface="Yu Gothic"/>
              </a:rPr>
              <a:t>候補tokenごとの確率表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800600"/>
            <a:ext cx="9966960" cy="685800"/>
          </a:xfrm>
          <a:prstGeom prst="roundRect">
            <a:avLst/>
          </a:prstGeom>
          <a:solidFill>
            <a:srgbClr val="FFF6CC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400" b="1">
                <a:solidFill>
                  <a:srgbClr val="8E5B1C"/>
                </a:solidFill>
                <a:latin typeface="Yu Gothic"/>
              </a:rPr>
              <a:t>Excelで確認</a:t>
            </a:r>
          </a:p>
          <a:p>
            <a:pPr algn="l"/>
            <a:r>
              <a:rPr sz="1100">
                <a:solidFill>
                  <a:srgbClr val="526279"/>
                </a:solidFill>
                <a:latin typeface="Yu Gothic"/>
              </a:rPr>
              <a:t>入力値を変え、返る表の変化として確認します。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664208" cy="310896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900" b="1">
                <a:solidFill>
                  <a:srgbClr val="2F6690"/>
                </a:solidFill>
                <a:latin typeface="Yu Gothic"/>
              </a:rPr>
              <a:t>HOW TO READ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12280" y="6473952"/>
            <a:ext cx="4983480" cy="201168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r"/>
            <a:r>
              <a:rPr sz="850" b="0">
                <a:solidFill>
                  <a:srgbClr val="526279"/>
                </a:solidFill>
                <a:latin typeface="Yu Gothic"/>
              </a:rPr>
              <a:t>Excelで体験する言語モデルのしくみ | 第8回 |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881360" cy="566928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l"/>
            <a:r>
              <a:rPr sz="2300" b="1">
                <a:solidFill>
                  <a:srgbClr val="1F2A44"/>
                </a:solidFill>
                <a:latin typeface="Yu Gothic"/>
              </a:rPr>
              <a:t>表の読み方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53312"/>
            <a:ext cx="10515600" cy="320040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l"/>
            <a:r>
              <a:rPr sz="1400" b="0">
                <a:solidFill>
                  <a:srgbClr val="526279"/>
                </a:solidFill>
                <a:latin typeface="Yu Gothic"/>
              </a:rPr>
              <a:t>次に、変化した値を確認します。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011680"/>
            <a:ext cx="4663440" cy="1143000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400" b="1">
                <a:solidFill>
                  <a:srgbClr val="2F6690"/>
                </a:solidFill>
                <a:latin typeface="Yu Gothic"/>
              </a:rPr>
              <a:t>見る表</a:t>
            </a:r>
          </a:p>
          <a:p>
            <a:pPr algn="l"/>
            <a:r>
              <a:rPr sz="1100">
                <a:solidFill>
                  <a:srgbClr val="526279"/>
                </a:solidFill>
                <a:latin typeface="Yu Gothic"/>
              </a:rPr>
              <a:t>update_preview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2011680"/>
            <a:ext cx="4663440" cy="1143000"/>
          </a:xfrm>
          <a:prstGeom prst="roundRect">
            <a:avLst/>
          </a:prstGeom>
          <a:solidFill>
            <a:srgbClr val="EBF8F1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400" b="1">
                <a:solidFill>
                  <a:srgbClr val="266E4F"/>
                </a:solidFill>
                <a:latin typeface="Yu Gothic"/>
              </a:rPr>
              <a:t>読み方</a:t>
            </a:r>
          </a:p>
          <a:p>
            <a:pPr algn="l"/>
            <a:r>
              <a:rPr sz="1100">
                <a:solidFill>
                  <a:srgbClr val="526279"/>
                </a:solidFill>
                <a:latin typeface="Yu Gothic"/>
              </a:rPr>
              <a:t>1 step更新後の見え方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800600"/>
            <a:ext cx="9966960" cy="685800"/>
          </a:xfrm>
          <a:prstGeom prst="roundRect">
            <a:avLst/>
          </a:prstGeom>
          <a:solidFill>
            <a:srgbClr val="FFF6CC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400" b="1">
                <a:solidFill>
                  <a:srgbClr val="8E5B1C"/>
                </a:solidFill>
                <a:latin typeface="Yu Gothic"/>
              </a:rPr>
              <a:t>Excelで確認</a:t>
            </a:r>
          </a:p>
          <a:p>
            <a:pPr algn="l"/>
            <a:r>
              <a:rPr sz="1100">
                <a:solidFill>
                  <a:srgbClr val="526279"/>
                </a:solidFill>
                <a:latin typeface="Yu Gothic"/>
              </a:rPr>
              <a:t>入力値を変え、返る表の変化として確認します。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664208" cy="310896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900" b="1">
                <a:solidFill>
                  <a:srgbClr val="2F6690"/>
                </a:solidFill>
                <a:latin typeface="Yu Gothic"/>
              </a:rPr>
              <a:t>CONNECTION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12280" y="6473952"/>
            <a:ext cx="4983480" cy="201168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r"/>
            <a:r>
              <a:rPr sz="850" b="0">
                <a:solidFill>
                  <a:srgbClr val="526279"/>
                </a:solidFill>
                <a:latin typeface="Yu Gothic"/>
              </a:rPr>
              <a:t>Excelで体験する言語モデルのしくみ | 第8回 |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881360" cy="566928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l"/>
            <a:r>
              <a:rPr sz="2300" b="1">
                <a:solidFill>
                  <a:srgbClr val="1F2A44"/>
                </a:solidFill>
                <a:latin typeface="Yu Gothic"/>
              </a:rPr>
              <a:t>前後の回とのつながり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53312"/>
            <a:ext cx="10515600" cy="320040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l"/>
            <a:r>
              <a:rPr sz="1400" b="0">
                <a:solidFill>
                  <a:srgbClr val="526279"/>
                </a:solidFill>
                <a:latin typeface="Yu Gothic"/>
              </a:rPr>
              <a:t>第7回の確率表に正解tokenを重ねると、生成結果をLossとして評価できます。第9回では、このgradientを重みへ戻します。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011680"/>
            <a:ext cx="4663440" cy="1143000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400" b="1">
                <a:solidFill>
                  <a:srgbClr val="2F6690"/>
                </a:solidFill>
                <a:latin typeface="Yu Gothic"/>
              </a:rPr>
              <a:t>前の回から</a:t>
            </a:r>
          </a:p>
          <a:p>
            <a:pPr algn="l"/>
            <a:r>
              <a:rPr sz="1100">
                <a:solidFill>
                  <a:srgbClr val="526279"/>
                </a:solidFill>
                <a:latin typeface="Yu Gothic"/>
              </a:rPr>
              <a:t>前回までの表の読み方を受け取ります。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2011680"/>
            <a:ext cx="4663440" cy="1143000"/>
          </a:xfrm>
          <a:prstGeom prst="roundRect">
            <a:avLst/>
          </a:prstGeom>
          <a:solidFill>
            <a:srgbClr val="EBF8F1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400" b="1">
                <a:solidFill>
                  <a:srgbClr val="266E4F"/>
                </a:solidFill>
                <a:latin typeface="Yu Gothic"/>
              </a:rPr>
              <a:t>次に進むこと</a:t>
            </a:r>
          </a:p>
          <a:p>
            <a:pPr algn="l"/>
            <a:r>
              <a:rPr sz="1100">
                <a:solidFill>
                  <a:srgbClr val="526279"/>
                </a:solidFill>
                <a:latin typeface="Yu Gothic"/>
              </a:rPr>
              <a:t>第7回の確率表に正解tokenを重ねると、生成結果をLossとして評価できます。第9回では、このgradientを重みへ戻します。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800600"/>
            <a:ext cx="9966960" cy="685800"/>
          </a:xfrm>
          <a:prstGeom prst="roundRect">
            <a:avLst/>
          </a:prstGeom>
          <a:solidFill>
            <a:srgbClr val="FFF6CC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400" b="1">
                <a:solidFill>
                  <a:srgbClr val="8E5B1C"/>
                </a:solidFill>
                <a:latin typeface="Yu Gothic"/>
              </a:rPr>
              <a:t>Excelで確認</a:t>
            </a:r>
          </a:p>
          <a:p>
            <a:pPr algn="l"/>
            <a:r>
              <a:rPr sz="1100">
                <a:solidFill>
                  <a:srgbClr val="526279"/>
                </a:solidFill>
                <a:latin typeface="Yu Gothic"/>
              </a:rPr>
              <a:t>入力値を変え、返る表の変化として確認します。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664208" cy="310896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900" b="1">
                <a:solidFill>
                  <a:srgbClr val="2F6690"/>
                </a:solidFill>
                <a:latin typeface="Yu Gothic"/>
              </a:rPr>
              <a:t>LIMITATION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12280" y="6473952"/>
            <a:ext cx="4983480" cy="201168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r"/>
            <a:r>
              <a:rPr sz="850" b="0">
                <a:solidFill>
                  <a:srgbClr val="526279"/>
                </a:solidFill>
                <a:latin typeface="Yu Gothic"/>
              </a:rPr>
              <a:t>Excelで体験する言語モデルのしくみ | 第8回 |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881360" cy="566928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l"/>
            <a:r>
              <a:rPr sz="2300" b="1">
                <a:solidFill>
                  <a:srgbClr val="1F2A44"/>
                </a:solidFill>
                <a:latin typeface="Yu Gothic"/>
              </a:rPr>
              <a:t>今回の限界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53312"/>
            <a:ext cx="10515600" cy="320040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l"/>
            <a:r>
              <a:rPr sz="1400" b="0">
                <a:solidFill>
                  <a:srgbClr val="526279"/>
                </a:solidFill>
                <a:latin typeface="Yu Gothic"/>
              </a:rPr>
              <a:t>この教材では、1回分の小さな更新だけを扱います。実際のLLMの大規模学習、バッチ処理、最適化手法は扱いません。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011680"/>
            <a:ext cx="4663440" cy="1143000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400" b="1">
                <a:solidFill>
                  <a:srgbClr val="2F6690"/>
                </a:solidFill>
                <a:latin typeface="Yu Gothic"/>
              </a:rPr>
              <a:t>教材の範囲</a:t>
            </a:r>
          </a:p>
          <a:p>
            <a:pPr algn="l"/>
            <a:r>
              <a:rPr sz="1100">
                <a:solidFill>
                  <a:srgbClr val="526279"/>
                </a:solidFill>
                <a:latin typeface="Yu Gothic"/>
              </a:rPr>
              <a:t>この教材では、1回分の小さな更新だけを扱います。実際のLLMの大規模学習、バッチ処理、最適化手法は扱いません。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2011680"/>
            <a:ext cx="4663440" cy="1143000"/>
          </a:xfrm>
          <a:prstGeom prst="roundRect">
            <a:avLst/>
          </a:prstGeom>
          <a:solidFill>
            <a:srgbClr val="EBF8F1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400" b="1">
                <a:solidFill>
                  <a:srgbClr val="266E4F"/>
                </a:solidFill>
                <a:latin typeface="Yu Gothic"/>
              </a:rPr>
              <a:t>注意</a:t>
            </a:r>
          </a:p>
          <a:p>
            <a:pPr algn="l"/>
            <a:r>
              <a:rPr sz="1100">
                <a:solidFill>
                  <a:srgbClr val="526279"/>
                </a:solidFill>
                <a:latin typeface="Yu Gothic"/>
              </a:rPr>
              <a:t>説明用の小さなデモとして扱います。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800600"/>
            <a:ext cx="9966960" cy="685800"/>
          </a:xfrm>
          <a:prstGeom prst="roundRect">
            <a:avLst/>
          </a:prstGeom>
          <a:solidFill>
            <a:srgbClr val="FFF6CC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400" b="1">
                <a:solidFill>
                  <a:srgbClr val="8E5B1C"/>
                </a:solidFill>
                <a:latin typeface="Yu Gothic"/>
              </a:rPr>
              <a:t>Excelで確認</a:t>
            </a:r>
          </a:p>
          <a:p>
            <a:pPr algn="l"/>
            <a:r>
              <a:rPr sz="1100">
                <a:solidFill>
                  <a:srgbClr val="526279"/>
                </a:solidFill>
                <a:latin typeface="Yu Gothic"/>
              </a:rPr>
              <a:t>入力値を変え、返る表の変化として確認します。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664208" cy="310896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900" b="1">
                <a:solidFill>
                  <a:srgbClr val="2F6690"/>
                </a:solidFill>
                <a:latin typeface="Yu Gothic"/>
              </a:rPr>
              <a:t>WRAP-UP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12280" y="6473952"/>
            <a:ext cx="4983480" cy="201168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r"/>
            <a:r>
              <a:rPr sz="850" b="0">
                <a:solidFill>
                  <a:srgbClr val="526279"/>
                </a:solidFill>
                <a:latin typeface="Yu Gothic"/>
              </a:rPr>
              <a:t>Excelで体験する言語モデルのしくみ | 第8回 |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881360" cy="566928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l"/>
            <a:r>
              <a:rPr sz="2300" b="1">
                <a:solidFill>
                  <a:srgbClr val="1F2A44"/>
                </a:solidFill>
                <a:latin typeface="Yu Gothic"/>
              </a:rPr>
              <a:t>まとめ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53312"/>
            <a:ext cx="10515600" cy="320040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l"/>
            <a:r>
              <a:rPr sz="1400" b="0">
                <a:solidFill>
                  <a:srgbClr val="526279"/>
                </a:solidFill>
                <a:latin typeface="Yu Gothic"/>
              </a:rPr>
              <a:t>Lossは、予測がどれくらいズレているかを数値にしたものです。学習では、このズレを下げる方向へ重みを動かします。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011680"/>
            <a:ext cx="4663440" cy="1143000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400" b="1">
                <a:solidFill>
                  <a:srgbClr val="2F6690"/>
                </a:solidFill>
                <a:latin typeface="Yu Gothic"/>
              </a:rPr>
              <a:t>今回の要点</a:t>
            </a:r>
          </a:p>
          <a:p>
            <a:pPr algn="l"/>
            <a:r>
              <a:rPr sz="1100">
                <a:solidFill>
                  <a:srgbClr val="526279"/>
                </a:solidFill>
                <a:latin typeface="Yu Gothic"/>
              </a:rPr>
              <a:t>Lossは、予測がどれくらいズレているかを数値にしたものです。学習では、このズレを下げる方向へ重みを動かします。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2011680"/>
            <a:ext cx="4663440" cy="1143000"/>
          </a:xfrm>
          <a:prstGeom prst="roundRect">
            <a:avLst/>
          </a:prstGeom>
          <a:solidFill>
            <a:srgbClr val="EBF8F1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400" b="1">
                <a:solidFill>
                  <a:srgbClr val="266E4F"/>
                </a:solidFill>
                <a:latin typeface="Yu Gothic"/>
              </a:rPr>
              <a:t>次の確認</a:t>
            </a:r>
          </a:p>
          <a:p>
            <a:pPr algn="l"/>
            <a:r>
              <a:rPr sz="1100">
                <a:solidFill>
                  <a:srgbClr val="526279"/>
                </a:solidFill>
                <a:latin typeface="Yu Gothic"/>
              </a:rPr>
              <a:t>動画・字幕・GitHubの公開情報と合わせて確認します。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800600"/>
            <a:ext cx="9966960" cy="685800"/>
          </a:xfrm>
          <a:prstGeom prst="roundRect">
            <a:avLst/>
          </a:prstGeom>
          <a:solidFill>
            <a:srgbClr val="FFF6CC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400" b="1">
                <a:solidFill>
                  <a:srgbClr val="8E5B1C"/>
                </a:solidFill>
                <a:latin typeface="Yu Gothic"/>
              </a:rPr>
              <a:t>Excelで確認</a:t>
            </a:r>
          </a:p>
          <a:p>
            <a:pPr algn="l"/>
            <a:r>
              <a:rPr sz="1100">
                <a:solidFill>
                  <a:srgbClr val="526279"/>
                </a:solidFill>
                <a:latin typeface="Yu Gothic"/>
              </a:rPr>
              <a:t>入力値を変え、返る表の変化として確認します。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664208" cy="310896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900" b="1">
                <a:solidFill>
                  <a:srgbClr val="2F6690"/>
                </a:solidFill>
                <a:latin typeface="Yu Gothic"/>
              </a:rPr>
              <a:t>GLOSSARY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12280" y="6473952"/>
            <a:ext cx="4983480" cy="201168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r"/>
            <a:r>
              <a:rPr sz="850" b="0">
                <a:solidFill>
                  <a:srgbClr val="526279"/>
                </a:solidFill>
                <a:latin typeface="Yu Gothic"/>
              </a:rPr>
              <a:t>Excelで体験する言語モデルのしくみ | 第8回 |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881360" cy="566928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l"/>
            <a:r>
              <a:rPr sz="2300" b="1">
                <a:solidFill>
                  <a:srgbClr val="1F2A44"/>
                </a:solidFill>
                <a:latin typeface="Yu Gothic"/>
              </a:rPr>
              <a:t>今回の用語集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53312"/>
            <a:ext cx="10515600" cy="320040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l"/>
            <a:r>
              <a:rPr sz="1400" b="0">
                <a:solidFill>
                  <a:srgbClr val="526279"/>
                </a:solidFill>
                <a:latin typeface="Yu Gothic"/>
              </a:rPr>
              <a:t>この回で使う表・列・概念を整理します。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920240"/>
            <a:ext cx="4663440" cy="868680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400" b="1">
                <a:solidFill>
                  <a:srgbClr val="2F6690"/>
                </a:solidFill>
                <a:latin typeface="Yu Gothic"/>
              </a:rPr>
              <a:t>Loss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920240"/>
            <a:ext cx="4663440" cy="868680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400" b="1">
                <a:solidFill>
                  <a:srgbClr val="2F6690"/>
                </a:solidFill>
                <a:latin typeface="Yu Gothic"/>
              </a:rPr>
              <a:t>target token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090672"/>
            <a:ext cx="4663440" cy="868680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400" b="1">
                <a:solidFill>
                  <a:srgbClr val="2F6690"/>
                </a:solidFill>
                <a:latin typeface="Yu Gothic"/>
              </a:rPr>
              <a:t>target_probability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3090672"/>
            <a:ext cx="4663440" cy="868680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400" b="1">
                <a:solidFill>
                  <a:srgbClr val="2F6690"/>
                </a:solidFill>
                <a:latin typeface="Yu Gothic"/>
              </a:rPr>
              <a:t>gradient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261104"/>
            <a:ext cx="4663440" cy="868680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400" b="1">
                <a:solidFill>
                  <a:srgbClr val="2F6690"/>
                </a:solidFill>
                <a:latin typeface="Yu Gothic"/>
              </a:rPr>
              <a:t>learning_rate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4261104"/>
            <a:ext cx="4663440" cy="868680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400" b="1">
                <a:solidFill>
                  <a:srgbClr val="2F6690"/>
                </a:solidFill>
                <a:latin typeface="Yu Gothic"/>
              </a:rPr>
              <a:t>update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5349240"/>
            <a:ext cx="9966960" cy="502920"/>
          </a:xfrm>
          <a:prstGeom prst="roundRect">
            <a:avLst/>
          </a:prstGeom>
          <a:solidFill>
            <a:srgbClr val="EBF8F1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400" b="1">
                <a:solidFill>
                  <a:srgbClr val="266E4F"/>
                </a:solidFill>
                <a:latin typeface="Yu Gothic"/>
              </a:rPr>
              <a:t>確認</a:t>
            </a:r>
          </a:p>
          <a:p>
            <a:pPr algn="l"/>
            <a:r>
              <a:rPr sz="1100">
                <a:solidFill>
                  <a:srgbClr val="526279"/>
                </a:solidFill>
                <a:latin typeface="Yu Gothic"/>
              </a:rPr>
              <a:t>ExcelをUIとして使い、入力・設定と返る表の対応を確認します。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