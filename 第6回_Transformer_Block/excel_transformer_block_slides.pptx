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69494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500" b="1">
                <a:solidFill>
                  <a:srgbClr val="24324B"/>
                </a:solidFill>
                <a:latin typeface="Yu Gothic"/>
              </a:rPr>
              <a:t>Excelで体験する言語モデルのしくみ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36192"/>
            <a:ext cx="6035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300" b="1">
                <a:solidFill>
                  <a:srgbClr val="2F6690"/>
                </a:solidFill>
                <a:latin typeface="Yu Gothic"/>
              </a:rPr>
              <a:t>第6回 Transformer Block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48840"/>
            <a:ext cx="58064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500" b="0">
                <a:solidFill>
                  <a:srgbClr val="475569"/>
                </a:solidFill>
                <a:latin typeface="Yu Gothic"/>
              </a:rPr>
              <a:t>Attentionの結果を整え、FFNで変換し、次の層へ渡す流れをExcelで追います。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3182112"/>
            <a:ext cx="4937760" cy="10972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今回の狙い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Residual、LayerNorm、FFN、Block Outputを、同じtokenの値の変化として確認します。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Attention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Add &amp; Norm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784080" y="2377440"/>
            <a:ext cx="1417320" cy="713232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FFN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27264" y="2734056"/>
            <a:ext cx="164592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436608" y="2734056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315200" y="3730752"/>
            <a:ext cx="3520440" cy="804672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Block Output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次の層や第7回の確率計算へ渡す表現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SERIES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全10回の中の位置づけ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第6回は、Attentionの出力をTransformer Blockとして整える回です。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第1回 n-gram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直前の並びから次を考える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783080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第2回 Self-Attention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文全体のどこを見るかを重みで見る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8580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第3回 Embedding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tokenを数値ベクトルにする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2496312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第4回 Positional Encoding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tokenの順番を数値で足す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209544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複数の見方を同時に走らせる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3209544"/>
            <a:ext cx="5074920" cy="512064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AttentionとFFNをつなぐ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確率から次tokenを選ぶ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922776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第8回 Lossと学習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予測のズレを数値にする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第9回 Backpropagation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ズレを元に重みを更新する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4636008"/>
            <a:ext cx="5074920" cy="512064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第10回 RAG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外部資料を参照して答える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696712"/>
            <a:ext cx="987552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1">
                <a:solidFill>
                  <a:srgbClr val="276749"/>
                </a:solidFill>
                <a:latin typeface="Yu Gothic"/>
              </a:rPr>
              <a:t>第6回の到達点: Attention OutputからBlock Outputまでの表の変化を読める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GOAL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今日の到達点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Transformer Blockの中で値がどう変わるかを、Excelの表で確認します。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1. Residual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XにAttention Outputを足し戻す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82880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2. LayerNorm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tokenごとの値のスケールを整える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3. FFN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tokenごとのベクトルを非線形に変換する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3246120"/>
            <a:ext cx="4800600" cy="100584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4. Block Output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次の層へ渡す表現として読む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074920"/>
            <a:ext cx="10241280" cy="6858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最後に見る表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result_df。既定ではflow_dfを返し、stage列でInput XからBlock Outputまでを追います。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CONCEPT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Transformer Blockは値を足し、整え、変換する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Attentionの結果をそのまま使わず、ResidualとLayerNormで安定させてからFFNへ渡します。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Input X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元のtoken表現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350008" y="2679192"/>
            <a:ext cx="329183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88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Attention Output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第5回相当の出力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636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074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Add &amp; Norm 1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足して整える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922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360920" y="2240280"/>
            <a:ext cx="182880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F6690"/>
                </a:solidFill>
                <a:latin typeface="Yu Gothic"/>
              </a:rPr>
              <a:t>FFN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tokenごとに変換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208008" y="2679192"/>
            <a:ext cx="329184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646920" y="2240280"/>
            <a:ext cx="182880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00" b="1">
                <a:solidFill>
                  <a:srgbClr val="276749"/>
                </a:solidFill>
                <a:latin typeface="Yu Gothic"/>
              </a:rPr>
              <a:t>Add &amp; Norm 2</a:t>
            </a:r>
          </a:p>
          <a:p>
            <a:pPr>
              <a:spcBef>
                <a:spcPts val="300"/>
              </a:spcBef>
            </a:pPr>
            <a:r>
              <a:rPr sz="1050">
                <a:solidFill>
                  <a:srgbClr val="475569"/>
                </a:solidFill>
                <a:latin typeface="Yu Gothic"/>
              </a:rPr>
              <a:t>再度足して整える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389120"/>
            <a:ext cx="9966960" cy="8229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重要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今回の教材ではPost-LN風に、Attention Output -&gt; Add &amp; Norm -&gt; FFN -&gt; Add &amp; Normの順で固定します。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DEMO ASSET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Excelで作ったもの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 in Excelで動く、Transformer Block計算デモです。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01_INPUT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XとAttention Outputを確認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874519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02_BLOCK_FLOW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処理順とstage名を確認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03〜07の確認シート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Add/Norm/FFN/Block Outputを見る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3172968"/>
            <a:ext cx="4663440" cy="86868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result_df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Pythonセルが返すDataFrame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754880"/>
            <a:ext cx="9966960" cy="804672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教材の範囲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値は教材用の固定値です。入力表とコードを対応させながら、計算結果の変化を見るためのデモです。</a:t>
            </a:r>
          </a:p>
        </p:txBody>
      </p:sp>
      <p:sp>
        <p:nvSpPr>
          <p:cNvPr id="11" name="github_demo_asset_url"/>
          <p:cNvSpPr txBox="1"/>
          <p:nvPr/>
        </p:nvSpPr>
        <p:spPr>
          <a:xfrm>
            <a:off x="658368" y="5998464"/>
            <a:ext cx="10652760" cy="310896"/>
          </a:xfrm>
          <a:prstGeom prst="rect">
            <a:avLst/>
          </a:prstGeom>
          <a:noFill/>
        </p:spPr>
        <p:txBody>
          <a:bodyPr wrap="none" lIns="45720" rIns="45720" tIns="9144" bIns="9144">
            <a:spAutoFit/>
          </a:bodyPr>
          <a:lstStyle/>
          <a:p>
            <a:pPr algn="l"/>
            <a:r>
              <a:rPr sz="900">
                <a:solidFill>
                  <a:srgbClr val="4E5E6E"/>
                </a:solidFill>
                <a:latin typeface="Yu Gothic"/>
              </a:rPr>
              <a:t>デモ一式: https://github.com/KanameShiga-dev/excel-python-mini-llm-demo/tree/main/第6回_Transformer_Block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INPUT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Excel入力・確認シート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`01_INPUT`で、Blockに入るInput XとAttention Outputを確認します。</a:t>
            </a:r>
          </a:p>
        </p:txBody>
      </p:sp>
      <p:pic>
        <p:nvPicPr>
          <p:cNvPr id="6" name="Picture 5" descr="input_sheet_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19072"/>
            <a:ext cx="6903720" cy="22581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001000" y="1828800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見る表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Input X / Attention Output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3035808"/>
            <a:ext cx="32918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確認すること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同じtokenごとに4次元の値が並ぶ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1000" y="4242816"/>
            <a:ext cx="3291840" cy="96012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次に見ること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足し算後のAdd1とNorm1で値がどう変わるか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EXCEL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Excelで変更・確認する場所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Pythonの実行だけでなく、どの入力や表を見れば変化が分かるかを整理します。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737360"/>
          <a:ext cx="10881360" cy="4160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0280"/>
                <a:gridCol w="4206240"/>
                <a:gridCol w="4434840"/>
              </a:tblGrid>
              <a:tr h="52006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場所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変更・確認するもの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見える変化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01_INPUT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Input X / Attention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Block入口の値を確認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02_BLOCK_FLOW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stageの順番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処理が上からどう進むか分かる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04_ADD_NORM_1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Add1 / Norm1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足し戻しと正規化の変化が見える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05_FFN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FFN Hidden / FFN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tokenごとの変換結果が見える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06_ADD_NORM_2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Norm1にFFN Outputを足した結果が見える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07_BLOCK_OUTPUT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次の層へ渡す最終表現が見える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0065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コード末尾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result_dfの代入先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返す表をflow_df / trace_df / Block Outputへ切替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8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処理の流れ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表のstage名は、この順番に対応しています。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Input X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入力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655064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048256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Attention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出力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291840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3685032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Add1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928616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321808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Norm1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正規化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565392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958584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FFN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変換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02168" y="2761488"/>
            <a:ext cx="338328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595359" y="2331720"/>
            <a:ext cx="123444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F6690"/>
                </a:solidFill>
                <a:latin typeface="Yu Gothic"/>
              </a:rPr>
              <a:t>Add2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足し算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838943" y="2761488"/>
            <a:ext cx="338329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10232136" y="2331720"/>
            <a:ext cx="123444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120" b="1">
                <a:solidFill>
                  <a:srgbClr val="276749"/>
                </a:solidFill>
                <a:latin typeface="Yu Gothic"/>
              </a:rPr>
              <a:t>Block</a:t>
            </a:r>
          </a:p>
          <a:p>
            <a:pPr>
              <a:spcBef>
                <a:spcPts val="300"/>
              </a:spcBef>
            </a:pPr>
            <a:r>
              <a:rPr sz="950">
                <a:solidFill>
                  <a:srgbClr val="475569"/>
                </a:solidFill>
                <a:latin typeface="Yu Gothic"/>
              </a:rPr>
              <a:t>出力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25196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Residualの見方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Add1とAdd2は、前の値を捨てずに足し戻す場所です。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425196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LayerNormの見方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Norm1とBlock Outputでは、tokenごとに値のスケールが整います。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9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入力データと中間値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4 token x 4次元の小さな表で、Block内部の計算を追います。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47088"/>
            <a:ext cx="475488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入力token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今日 / 猫 / ごはん / 食べる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847088"/>
            <a:ext cx="480060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次元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d1:意味 / d2:主語 / d3:動作 / d4:時制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14400" y="3337560"/>
          <a:ext cx="996696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7223760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Yu Gothic"/>
                        </a:rPr>
                        <a:t>内容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Input X。元のtoken表現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attention_output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第5回のAttention Outputに相当する入力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W1 / W2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FFNの教材用固定重み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ctr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>
                          <a:solidFill>
                            <a:srgbClr val="475569"/>
                          </a:solidFill>
                          <a:latin typeface="Yu Gothic"/>
                        </a:rPr>
                        <a:t>すべてのstageを縦に連結した表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914400" y="5321808"/>
            <a:ext cx="9966960" cy="56692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注意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この回では学習や重み更新は扱わず、固定値の前向き計算だけを見ます。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10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RUNBOOK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Python in Excel 実行手順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ここでは実行手順だけに絞ります。入力の意味や結果の読み方は前後のページで確認します。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1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10_RUN_PYTHONシートを開く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35040" y="178308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2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Pythonセルを作る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3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excel_transformer_block_demo_code.pyのコードを貼り付ける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74320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4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Ctrl + Enterで実行する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5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Pythonオブジェクトではなく表として返ることを確認する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3703320"/>
            <a:ext cx="4800600" cy="658368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250" b="1">
                <a:solidFill>
                  <a:srgbClr val="2F6690"/>
                </a:solidFill>
                <a:latin typeface="Yu Gothic"/>
              </a:rPr>
              <a:t>6</a:t>
            </a:r>
          </a:p>
          <a:p>
            <a:pPr>
              <a:spcBef>
                <a:spcPts val="300"/>
              </a:spcBef>
            </a:pPr>
            <a:r>
              <a:rPr sz="1100">
                <a:solidFill>
                  <a:srgbClr val="475569"/>
                </a:solidFill>
                <a:latin typeface="Yu Gothic"/>
              </a:rPr>
              <a:t>必要に応じてresult_dfの代入先を変えて再実行する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5257800"/>
            <a:ext cx="9966960" cy="658368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実行時の要点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最後の行はresult_dfです。Pythonセルが返す表をExcel上で確認します。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11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DISPLAY MODES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返す表・列・変数の見方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コード末尾のresult_dfを切り替えると、確認するDataFrameを変えられます。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55648"/>
          <a:ext cx="1060704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54680"/>
                <a:gridCol w="3840480"/>
                <a:gridCol w="361188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返す表・変数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主な列・中身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Yu Gothic"/>
                        </a:rPr>
                        <a:t>使いどころ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 / stage / d1:意味〜d4:時制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既定表示。全stageを縦に確認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tokenが「食べる」の行だけ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1 tokenの変化をstage順に追う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df("Block Output", block_output)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token / stage / 4次元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最終出力だけを確認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X / attention_output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4 token x 4次元の配列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Block入口の固定値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add1 / norm1 / ffn_output / add2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中間配列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>
                          <a:solidFill>
                            <a:srgbClr val="475569"/>
                          </a:solidFill>
                          <a:latin typeface="Yu Gothic"/>
                        </a:rPr>
                        <a:t>Add、Norm、FFNの途中結果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77240" y="5504688"/>
            <a:ext cx="10607040" cy="530352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切り替え例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result_df = trace_df にすると、「食べる」だけをstage順に読めます。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1: flow_df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flow_dfは、同じ列構造でstageごとの値を縦に並べた表です。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6988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023360"/>
                <a:gridCol w="443484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読む列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40" b="1">
                          <a:solidFill>
                            <a:srgbClr val="FFFFFF"/>
                          </a:solidFill>
                          <a:latin typeface="Yu Gothic"/>
                        </a:rPr>
                        <a:t>読み方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token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どのtokenの行か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今日/猫/ごはん/食べるで比較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stage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どの処理段階か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Input XからBlock Outputへ上から追う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 wrap="square"/>
                    <a:lstStyle/>
                    <a:p>
                      <a:pPr algn="ctr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d1〜d4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各次元の値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40">
                          <a:solidFill>
                            <a:srgbClr val="475569"/>
                          </a:solidFill>
                          <a:latin typeface="Yu Gothic"/>
                        </a:rPr>
                        <a:t>同じtokenでstage間の変化を見る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68680" y="4434840"/>
            <a:ext cx="4800600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おすすめ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まずstage列を見て、同じtokenの行を上から追います。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4434840"/>
            <a:ext cx="4800600" cy="9144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観察ポイント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Norm1やBlock Outputでは、値のスケールが整うことを確認します。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13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HOW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表の読み方 2: trace_dfとBlock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trace_dfでは、1つのtokenに絞って変化を短く読めます。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828800"/>
          <a:ext cx="1069847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4389120"/>
                <a:gridCol w="3749039"/>
              </a:tblGrid>
              <a:tr h="411480"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見るところ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Yu Gothic"/>
                        </a:rPr>
                        <a:t>分かること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tokenが「食べる」のstage順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1 tokenの値の変化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04_ADD_NORM_1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Add1とNorm1の差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足した後に正規化されること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05_FFN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FFN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tokenごとの変換結果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pPr algn="ctr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07_BLOCK_OUTPUT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9">
                          <a:solidFill>
                            <a:srgbClr val="475569"/>
                          </a:solidFill>
                          <a:latin typeface="Yu Gothic"/>
                        </a:rPr>
                        <a:t>次へ渡す最終表現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914400" y="4480560"/>
            <a:ext cx="9966960" cy="8229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おすすめの確認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flow_dfで全体を見たあと、trace_dfで「食べる」だけに絞ると、処理順の意味が読みやすくなります。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CONNECTION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前回・次回との接続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第5回のAttention Outputを受け取り、第7回の確率計算へ渡す中間表現を作ります。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3063240" cy="1143000"/>
          </a:xfrm>
          <a:prstGeom prst="roundRect">
            <a:avLst/>
          </a:prstGeom>
          <a:solidFill>
            <a:srgbClr val="FFFF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第5回 Multi-Head Attention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複数Headの出力を作る。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77639" y="2423160"/>
            <a:ext cx="640081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617720" y="1828800"/>
            <a:ext cx="3063240" cy="114300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第6回 Transformer Block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Add &amp; NormとFFNで整える。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0" y="2423160"/>
            <a:ext cx="640080" cy="0"/>
          </a:xfrm>
          <a:prstGeom prst="line">
            <a:avLst/>
          </a:prstGeom>
          <a:ln w="17780">
            <a:solidFill>
              <a:srgbClr val="AEBEC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412480" y="1828800"/>
            <a:ext cx="2651760" cy="114300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第7回 Softmaxと生成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次tokenの確率へ進む。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4251960"/>
            <a:ext cx="9966960" cy="86868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つながり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Block Outputは、次のTransformer層や最終的な語彙スコア計算へ渡される表現として扱います。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15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LIMITATION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実LLMとの差分と未扱い範囲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今回はBlockの役割をつかむため、計算規模と実装差を小さくしています。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1783080"/>
          <a:ext cx="10424159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7955279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項目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Yu Gothic"/>
                        </a:rPr>
                        <a:t>この回での扱い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サイズ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4 token x 4次元だけ。実LLMより極端に小さい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重み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W1/W2は教材用の固定値。学習は扱わない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正規化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LayerNormを簡略化。RMSNormなどの差分は扱わない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順序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Post-LN風に固定。Pre-LN/Post-LNの実装差は扱わない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 wrap="square"/>
                    <a:lstStyle/>
                    <a:p>
                      <a:pPr algn="ctr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層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80">
                          <a:solidFill>
                            <a:srgbClr val="475569"/>
                          </a:solidFill>
                          <a:latin typeface="Yu Gothic"/>
                        </a:rPr>
                        <a:t>1 Blockだけ。多層化や残差経路の詳細設計は扱わない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22960" y="5212080"/>
            <a:ext cx="10424160" cy="54864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安全注記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コード自体は外部APIにアクセスしませんが、Python in Excelの実行環境はMicrosoft Cloud上です。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16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WRAP-UP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まとめと次回導線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第6回では、Transformer Blockの中で値がどう整えられるかを見ました。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分かったこと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Attention Outputは、ResidualとLayerNormで整えられます。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828800"/>
            <a:ext cx="2971800" cy="1051560"/>
          </a:xfrm>
          <a:prstGeom prst="roundRect">
            <a:avLst/>
          </a:prstGeom>
          <a:solidFill>
            <a:srgbClr val="EEF8F1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76749"/>
                </a:solidFill>
                <a:latin typeface="Yu Gothic"/>
              </a:rPr>
              <a:t>Excelで見る場所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flow_df、trace_df、07_BLOCK_OUTPUTでstageごとの変化を確認します。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1828800"/>
            <a:ext cx="2971800" cy="1051560"/>
          </a:xfrm>
          <a:prstGeom prst="roundRect">
            <a:avLst/>
          </a:prstGeom>
          <a:solidFill>
            <a:srgbClr val="FFF4CC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8A5A2B"/>
                </a:solidFill>
                <a:latin typeface="Yu Gothic"/>
              </a:rPr>
              <a:t>限界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固定値の前向き計算だけで、学習や実LLM規模は扱いません。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4251960"/>
            <a:ext cx="9784080" cy="868680"/>
          </a:xfrm>
          <a:prstGeom prst="roundRect">
            <a:avLst/>
          </a:prstGeom>
          <a:solidFill>
            <a:srgbClr val="EAF4FF"/>
          </a:solidFill>
          <a:ln>
            <a:solidFill>
              <a:srgbClr val="DAE2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46304" rIns="146304" tIns="73152" bIns="54864" wrap="square"/>
          <a:lstStyle/>
          <a:p>
            <a:pPr algn="ctr"/>
            <a:r>
              <a:rPr sz="1300" b="1">
                <a:solidFill>
                  <a:srgbClr val="2F6690"/>
                </a:solidFill>
                <a:latin typeface="Yu Gothic"/>
              </a:rPr>
              <a:t>次回</a:t>
            </a:r>
          </a:p>
          <a:p>
            <a:pPr>
              <a:spcBef>
                <a:spcPts val="300"/>
              </a:spcBef>
            </a:pPr>
            <a:r>
              <a:rPr sz="1200">
                <a:solidFill>
                  <a:srgbClr val="475569"/>
                </a:solidFill>
                <a:latin typeface="Yu Gothic"/>
              </a:rPr>
              <a:t>第7回 Softmaxと生成では、Block Outputのような表現から次tokenの確率と選び方を見ます。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C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12280" y="6473952"/>
            <a:ext cx="4983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850">
                <a:solidFill>
                  <a:srgbClr val="64748B"/>
                </a:solidFill>
                <a:latin typeface="Yu Gothic"/>
              </a:rPr>
              <a:t>Excelで体験する言語モデルのしくみ | 第6回 | 17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1664208" cy="310896"/>
          </a:xfrm>
          <a:prstGeom prst="roundRect">
            <a:avLst/>
          </a:prstGeom>
          <a:solidFill>
            <a:srgbClr val="EAF4FF"/>
          </a:solidFill>
          <a:ln>
            <a:solidFill>
              <a:srgbClr val="C6E0F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900" b="1">
                <a:solidFill>
                  <a:srgbClr val="2F6690"/>
                </a:solidFill>
                <a:latin typeface="Yu Gothic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86384"/>
            <a:ext cx="108813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2800" b="1">
                <a:solidFill>
                  <a:srgbClr val="24324B"/>
                </a:solidFill>
                <a:latin typeface="Yu Gothic"/>
              </a:rPr>
              <a:t>第6回 用語集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53312"/>
            <a:ext cx="10515600" cy="320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300" b="0">
                <a:solidFill>
                  <a:srgbClr val="475569"/>
                </a:solidFill>
                <a:latin typeface="Yu Gothic"/>
              </a:rPr>
              <a:t>Transformer Blockを読むための用語を、この回の表と対応づけます。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77240" y="1719072"/>
          <a:ext cx="10607040" cy="4315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7680960"/>
              </a:tblGrid>
              <a:tr h="47955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用語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Yu Gothic"/>
                        </a:rPr>
                        <a:t>この教材での意味</a:t>
                      </a:r>
                    </a:p>
                  </a:txBody>
                  <a:tcPr>
                    <a:solidFill>
                      <a:srgbClr val="2F6690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Transformer Block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Attention、Add &amp; Norm、FFNを組み合わせた処理単位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Residual connection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前の値を捨てずに、処理結果へ足し戻す接続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Layer Normalization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tokenごとに値の平均や分散を整える処理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FFN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各tokenのベクトルを同じ重みで変換する小さなネットワーク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Add &amp; Norm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Residualの足し算とLayerNormを続けて行う部分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flow_df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全stageを縦に並べた既定の確認表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trace_df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token「食べる」だけに絞った確認表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9552">
                <a:tc>
                  <a:txBody>
                    <a:bodyPr wrap="square"/>
                    <a:lstStyle/>
                    <a:p>
                      <a:pPr algn="ctr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Block Output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>
                          <a:solidFill>
                            <a:srgbClr val="475569"/>
                          </a:solidFill>
                          <a:latin typeface="Yu Gothic"/>
                        </a:rPr>
                        <a:t>Blockの最後に得られる、次へ渡す表現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